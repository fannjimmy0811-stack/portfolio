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77" r:id="rId3"/>
    <p:sldId id="257" r:id="rId4"/>
    <p:sldId id="258" r:id="rId5"/>
    <p:sldId id="260" r:id="rId6"/>
    <p:sldId id="259" r:id="rId7"/>
    <p:sldId id="263" r:id="rId8"/>
    <p:sldId id="264" r:id="rId9"/>
    <p:sldId id="308" r:id="rId10"/>
    <p:sldId id="309" r:id="rId11"/>
    <p:sldId id="310" r:id="rId12"/>
    <p:sldId id="314" r:id="rId13"/>
    <p:sldId id="315" r:id="rId14"/>
    <p:sldId id="299" r:id="rId15"/>
    <p:sldId id="300" r:id="rId16"/>
    <p:sldId id="301" r:id="rId17"/>
    <p:sldId id="307" r:id="rId18"/>
    <p:sldId id="305" r:id="rId19"/>
    <p:sldId id="306" r:id="rId20"/>
    <p:sldId id="302" r:id="rId21"/>
    <p:sldId id="311" r:id="rId22"/>
    <p:sldId id="312" r:id="rId23"/>
    <p:sldId id="313" r:id="rId24"/>
    <p:sldId id="304" r:id="rId25"/>
    <p:sldId id="271" r:id="rId26"/>
    <p:sldId id="265" r:id="rId27"/>
    <p:sldId id="266" r:id="rId28"/>
    <p:sldId id="267" r:id="rId29"/>
    <p:sldId id="268" r:id="rId30"/>
    <p:sldId id="269" r:id="rId31"/>
    <p:sldId id="298" r:id="rId3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4E50B3-7041-9104-73DE-D0F8DF0C019B}" v="180" dt="2026-01-09T03:30:23.497"/>
    <p1510:client id="{FFE9FBF1-52D0-FD61-9AEB-65A05A553A7E}" v="25" dt="2026-01-09T03:38:07.077"/>
  </p1510:revLst>
</p1510:revInfo>
</file>

<file path=ppt/tableStyles.xml><?xml version="1.0" encoding="utf-8"?>
<a:tblStyleLst xmlns:a="http://schemas.openxmlformats.org/drawingml/2006/main" def="{5C22544A-7EE6-4342-B048-85BDC9FD1C3A}"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61BA5-2A5A-4835-8D87-C615F6435760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6ECE3-B459-41F9-90C2-6DAA60F2AE9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65984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6ECE3-B459-41F9-90C2-6DAA60F2AE97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3801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6ECE3-B459-41F9-90C2-6DAA60F2AE97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4619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3AAD-360C-288B-FBFE-B9948ABF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7C302D4-D6E0-61D6-88CA-0DA98FD19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1C465E8-414E-5FF9-951F-F0F0D46A4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631905-ED13-A489-F625-A39E596A3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6ECE3-B459-41F9-90C2-6DAA60F2AE97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426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61A1-B7D7-72B4-7DFC-AD125115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03F23C-009F-AC2A-F3F3-27E3D3BF8A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7A6841-D71C-DD79-A800-0080C41E2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E89289-A73F-6BA8-29B2-37B006BCEB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6ECE3-B459-41F9-90C2-6DAA60F2AE97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576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F6ECE3-B459-41F9-90C2-6DAA60F2AE97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03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5D799E-7FA6-0420-0982-090CC109D3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35E401-6012-5C43-CCE8-8496E9FC6C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8A6511-5641-23E7-7E81-20F8DE58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BBF2F2-232B-1F81-9230-DB312FE6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6613736-64DA-C979-5820-F2E2BACF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61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81AED1-4160-BCEB-25BE-34B9596D0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8DB4FA-5BFC-5636-7100-7BC122D01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0F06D5-C4CD-2793-4187-75D256E7D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B6C2FD-8CA9-58F1-22CE-0BA3BA1FC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062CA1-B39B-D8DE-CB9F-730337558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844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0B8B9-7A0D-8A55-8348-CE471B1F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24B467A-BD78-A230-FCE3-4E58D7F52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F787DF-770A-57EE-3726-5FB1623A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2E179E-1134-FD4C-E14F-5DFD2DB6A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A1D61A-A405-CF28-3DC9-46B274CD6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49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85E170-4768-BFB0-E9DA-CC576B91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19697F-27C3-86FC-BF9F-E5D9C3B34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D99E9F8-5928-6B7F-2803-0E5765684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FD90DE-1842-44AC-A4BC-4A5A56D14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D11A73-DC00-552F-3124-0B2A7B8B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7DD3E36-ABF4-953E-0F55-33E7EA6A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186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088ECF-CF07-8B2F-402A-313CF8E64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9D933F5-F103-427B-1061-3F5E582DF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8EC6047-33EB-3BFB-0A60-B428DE917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840326D-3756-0AAB-0D7F-0FA94E3A82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C4A3F93-A0DB-8A2A-351B-50277B2787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C46FF89-284A-33DF-AE98-9DFBB12C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45F274E-2601-BBE6-4A77-AA763D64A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2D52D63-24F0-1F19-35CB-E37EC92F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351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FA9BD8-0348-F98A-502D-7D42775AD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2D80164-D119-78FB-B624-48ACCC0B9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F68CB68-CB25-6408-621A-DCE5D27D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DA8EEF-55AB-AD2D-F06B-44237F59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6523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78D0197-C698-FCB9-92D4-6DCF999EA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02FF97A-B064-EA3D-4CB2-D294D30A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1D67D6-6012-7B48-67C2-A4AF2701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768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59FC4D-0279-731F-E339-476DB440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E552E3-D7F2-D52A-5B72-65DBD48EF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2DD5936-CC82-A4C9-CB74-8E8A1FB96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12D342C-4B03-B616-1BC7-6CA80B59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C5E0C3-E723-4D8B-EA87-AAC03D910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7EDF15-A135-D54D-26DD-C13A8F65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782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F7C2D0-7667-7548-AFF9-48BD3E910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6D02A32-DA00-22C2-7370-26AB4665E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597A50D-268C-3D9B-E5F8-7D06622B8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F5A5CD-4C12-0904-FA70-845B895A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373C15-2965-0652-703D-00FB9C36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A628BA-B4DB-F82B-9FDC-194255973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4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4AA52-4ED6-A996-DCB4-2A9101C15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CE1CEA5-13F4-89C7-4524-2E404DF06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40301C-D96D-215C-7227-6F0A087C5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67A37B-9C44-DE97-7DCE-0EE3FF891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FE59A0-2A34-516B-B3E3-71B58CF42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596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16E5BC-6EF6-A3E3-F31F-2C00D0D769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B9FD9E-1260-5D6E-EAAA-132A20CDF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DA36B64-B682-F947-66A1-93C7F6C84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86E8D3-8943-F607-7D94-15DC55E2E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64FE89-EBFF-AFE3-A29E-6B218173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4808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99331C0-86AB-767A-6FBD-86630D9E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EEA3B0C-08B6-9895-22EA-5718308DB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08DC8C-AF20-7416-1A79-777B563217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0E07E-9E98-4CFB-AE9D-32E37688ABD2}" type="datetimeFigureOut">
              <a:rPr lang="zh-TW" altLang="en-US" smtClean="0"/>
              <a:t>2026/1/9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D8FC08-6A97-53EB-D974-0C9E9B7C7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A6926-C26F-A180-8906-8CCE46C1DC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1629A-1F6F-4E9B-9496-79DB6FD4DD6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662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812A3E-0A0B-8B98-639E-266269A65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2624" y="682059"/>
            <a:ext cx="9938484" cy="2971801"/>
          </a:xfrm>
        </p:spPr>
        <p:txBody>
          <a:bodyPr>
            <a:normAutofit/>
          </a:bodyPr>
          <a:lstStyle/>
          <a:p>
            <a:r>
              <a:rPr lang="zh-TW" altLang="en-US" sz="5400" b="1">
                <a:latin typeface="Times New Roman"/>
                <a:ea typeface="標楷體"/>
                <a:cs typeface="Times New Roman"/>
              </a:rPr>
              <a:t>通訊序列設計 期末 </a:t>
            </a:r>
            <a:r>
              <a:rPr lang="en-US" altLang="zh-TW" sz="5400" b="1">
                <a:latin typeface="Times New Roman"/>
                <a:ea typeface="標楷體"/>
                <a:cs typeface="Times New Roman"/>
              </a:rPr>
              <a:t>project</a:t>
            </a:r>
            <a:endParaRPr lang="zh-TW" altLang="en-US" sz="5400" b="1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B5DCF1-7D51-6656-B020-438241AE3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0983" y="4040232"/>
            <a:ext cx="8276490" cy="14422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zh-TW" altLang="en-US" sz="2800" b="1">
                <a:latin typeface="標楷體"/>
                <a:ea typeface="標楷體"/>
              </a:rPr>
              <a:t>核心問題 如何找到</a:t>
            </a:r>
            <a:r>
              <a:rPr lang="en-US" altLang="zh-TW" sz="2800" b="1">
                <a:latin typeface="標楷體"/>
                <a:ea typeface="標楷體"/>
              </a:rPr>
              <a:t>PACP &amp; PQCP  </a:t>
            </a:r>
            <a:r>
              <a:rPr lang="en-US" altLang="zh-TW" sz="2800" b="1">
                <a:latin typeface="標楷體" panose="03000509000000000000" pitchFamily="65" charset="-120"/>
                <a:ea typeface="標楷體"/>
              </a:rPr>
              <a:t>(</a:t>
            </a:r>
            <a:r>
              <a:rPr lang="en-US" altLang="zh-TW" sz="2800" b="1" err="1">
                <a:latin typeface="標楷體" panose="03000509000000000000" pitchFamily="65" charset="-120"/>
                <a:ea typeface="標楷體"/>
              </a:rPr>
              <a:t>第二組</a:t>
            </a:r>
            <a:r>
              <a:rPr lang="en-US" altLang="zh-TW" sz="2800" b="1">
                <a:latin typeface="標楷體" panose="03000509000000000000" pitchFamily="65" charset="-120"/>
                <a:ea typeface="標楷體"/>
              </a:rPr>
              <a:t>)</a:t>
            </a:r>
          </a:p>
          <a:p>
            <a:pPr algn="l"/>
            <a:endParaRPr lang="en-US" altLang="zh-TW" sz="2800" b="1">
              <a:latin typeface="標楷體" panose="03000509000000000000" pitchFamily="65" charset="-120"/>
              <a:ea typeface="標楷體"/>
            </a:endParaRP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6D2267ED-9135-59CD-83F7-CE0DBA3CCC31}"/>
              </a:ext>
            </a:extLst>
          </p:cNvPr>
          <p:cNvSpPr txBox="1">
            <a:spLocks/>
          </p:cNvSpPr>
          <p:nvPr/>
        </p:nvSpPr>
        <p:spPr>
          <a:xfrm>
            <a:off x="8285717" y="4690040"/>
            <a:ext cx="2950084" cy="20523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b="1">
                <a:solidFill>
                  <a:schemeClr val="tx1"/>
                </a:solidFill>
                <a:latin typeface="Times New Roman"/>
                <a:ea typeface="標楷體"/>
                <a:cs typeface="Times New Roman"/>
              </a:rPr>
              <a:t>Q36144103</a:t>
            </a:r>
            <a:r>
              <a:rPr lang="zh-TW" altLang="en-US" sz="2400" b="1">
                <a:solidFill>
                  <a:schemeClr val="tx1"/>
                </a:solidFill>
                <a:latin typeface="Times New Roman"/>
                <a:ea typeface="標楷體"/>
                <a:cs typeface="Times New Roman"/>
              </a:rPr>
              <a:t> 陳品維</a:t>
            </a:r>
            <a:endParaRPr lang="en-US" altLang="zh-TW" sz="2400" b="1">
              <a:solidFill>
                <a:schemeClr val="tx1"/>
              </a:solidFill>
              <a:latin typeface="Times New Roman"/>
              <a:ea typeface="標楷體"/>
              <a:cs typeface="Times New Roman"/>
            </a:endParaRPr>
          </a:p>
          <a:p>
            <a:r>
              <a:rPr lang="en-US" altLang="zh-TW" sz="2400" b="1">
                <a:solidFill>
                  <a:schemeClr val="tx1"/>
                </a:solidFill>
                <a:latin typeface="Times New Roman"/>
                <a:ea typeface="標楷體"/>
                <a:cs typeface="Times New Roman"/>
              </a:rPr>
              <a:t>Q36144268</a:t>
            </a:r>
            <a:r>
              <a:rPr lang="zh-TW" altLang="en-US" sz="2400" b="1">
                <a:solidFill>
                  <a:schemeClr val="tx1"/>
                </a:solidFill>
                <a:latin typeface="Times New Roman"/>
                <a:ea typeface="標楷體"/>
                <a:cs typeface="Times New Roman"/>
              </a:rPr>
              <a:t> 甘承翰</a:t>
            </a:r>
            <a:endParaRPr lang="en-US" altLang="zh-TW" sz="2400" b="1">
              <a:solidFill>
                <a:schemeClr val="tx1"/>
              </a:solidFill>
              <a:latin typeface="Times New Roman"/>
              <a:ea typeface="標楷體"/>
              <a:cs typeface="Times New Roman"/>
            </a:endParaRPr>
          </a:p>
          <a:p>
            <a:r>
              <a:rPr lang="en-US" altLang="zh-TW" sz="2400" b="1">
                <a:solidFill>
                  <a:schemeClr val="tx1"/>
                </a:solidFill>
                <a:latin typeface="Times New Roman"/>
                <a:ea typeface="標楷體"/>
                <a:cs typeface="Times New Roman"/>
              </a:rPr>
              <a:t>Q36144187</a:t>
            </a:r>
            <a:r>
              <a:rPr lang="zh-TW" altLang="en-US" sz="2400" b="1">
                <a:solidFill>
                  <a:schemeClr val="tx1"/>
                </a:solidFill>
                <a:latin typeface="Times New Roman"/>
                <a:ea typeface="標楷體"/>
                <a:cs typeface="Times New Roman"/>
              </a:rPr>
              <a:t> 范榆君</a:t>
            </a:r>
          </a:p>
        </p:txBody>
      </p:sp>
    </p:spTree>
    <p:extLst>
      <p:ext uri="{BB962C8B-B14F-4D97-AF65-F5344CB8AC3E}">
        <p14:creationId xmlns:p14="http://schemas.microsoft.com/office/powerpoint/2010/main" val="4256424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3918D-DFFB-C6B3-57EE-92485766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0355"/>
            <a:ext cx="8534400" cy="1507067"/>
          </a:xfrm>
        </p:spPr>
        <p:txBody>
          <a:bodyPr>
            <a:normAutofit/>
          </a:bodyPr>
          <a:lstStyle/>
          <a:p>
            <a:r>
              <a:rPr lang="zh-TW" sz="4000" b="1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lang="zh-TW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0E8095-79B7-832B-C261-BB332684F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715372"/>
            <a:ext cx="8534400" cy="361526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buFont typeface="Arial" panose="05040102010807070707" pitchFamily="18" charset="2"/>
              <a:buChar char="•"/>
            </a:pPr>
            <a:r>
              <a:rPr lang="zh-TW" altLang="en-US" sz="2400">
                <a:latin typeface="Times New Roman"/>
                <a:ea typeface="標楷體"/>
                <a:cs typeface="Times New Roman"/>
              </a:rPr>
              <a:t>ODD optimal PACP</a:t>
            </a:r>
          </a:p>
          <a:p>
            <a:pPr>
              <a:lnSpc>
                <a:spcPct val="150000"/>
              </a:lnSpc>
              <a:buFont typeface="Arial" panose="05040102010807070707" pitchFamily="18" charset="2"/>
              <a:buChar char="•"/>
            </a:pPr>
            <a:r>
              <a:rPr lang="en-US" altLang="zh-TW" sz="2400">
                <a:latin typeface="Times New Roman"/>
                <a:ea typeface="標楷體"/>
                <a:cs typeface="Times New Roman"/>
              </a:rPr>
              <a:t>EVEN optimal PACP</a:t>
            </a:r>
          </a:p>
          <a:p>
            <a:pPr>
              <a:lnSpc>
                <a:spcPct val="150000"/>
              </a:lnSpc>
              <a:buClrTx/>
              <a:buFont typeface="Arial" panose="05040102010807070707" pitchFamily="18" charset="2"/>
              <a:buChar char="•"/>
            </a:pPr>
            <a:r>
              <a:rPr lang="zh-TW" altLang="en-US" sz="2400">
                <a:latin typeface="Times New Roman"/>
                <a:ea typeface="標楷體"/>
                <a:cs typeface="Times New Roman"/>
              </a:rPr>
              <a:t>PQCP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8932C39E-4B7A-E54F-5F2F-99F706118E76}"/>
              </a:ext>
            </a:extLst>
          </p:cNvPr>
          <p:cNvCxnSpPr/>
          <p:nvPr/>
        </p:nvCxnSpPr>
        <p:spPr>
          <a:xfrm>
            <a:off x="686381" y="1419297"/>
            <a:ext cx="8620488" cy="11633"/>
          </a:xfrm>
          <a:prstGeom prst="straightConnector1">
            <a:avLst/>
          </a:prstGeom>
          <a:ln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16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99611A-8DA4-261A-A8F7-6C048866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 panose="02020603050405020304" pitchFamily="18" charset="0"/>
                <a:cs typeface="Times New Roman" panose="02020603050405020304" pitchFamily="18" charset="0"/>
              </a:rPr>
              <a:t>ODD optimal PACP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5C83E1-412C-97C8-C177-CD590650C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52" y="4643718"/>
            <a:ext cx="8951259" cy="104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876D9F93-7C1F-DE12-B8EE-DD20ED48771A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/>
            <p:txBody>
              <a:bodyPr vert="horz">
                <a:normAutofit lnSpcReduction="10000"/>
              </a:bodyPr>
              <a:lstStyle/>
              <a:p>
                <a:r>
                  <a:rPr lang="en-US" altLang="zh-TW" sz="2000" b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Condition: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For all shifts τ ≠ 0:  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𝑃𝐴𝐶</m:t>
                    </m:r>
                    <m:sSub>
                      <m:sSubPr>
                        <m:ctrlPr>
                          <a:rPr lang="zh-TW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(τ) 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𝑃𝐴𝐶</m:t>
                    </m:r>
                    <m:sSub>
                      <m:sSubPr>
                        <m:ctrlPr>
                          <a:rPr lang="zh-TW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(τ)=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latin typeface="Cambria Math" panose="02040503050406030204" pitchFamily="18" charset="0"/>
                      </a:rPr>
                      <m:t>±2</m:t>
                    </m:r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  <m:d>
                          <m:dPr>
                            <m:ctrlP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TW" altLang="en-US" sz="2000" i="0" dirty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d>
                      <m:dPr>
                        <m:ctrlPr>
                          <a:rPr lang="zh-TW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zh-TW" altLang="en-US" sz="2000" i="0" dirty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sz="2000" b="0" i="0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)^2</m:t>
                        </m:r>
                      </m:e>
                    </m:nary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b="0" i="0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^2</a:t>
                </a:r>
              </a:p>
              <a:p>
                <a:pPr marL="0" indent="0">
                  <a:buNone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設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g0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g1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為在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序列中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的個數；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  <m:d>
                          <m:dPr>
                            <m:ctrlP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TW" altLang="en-US" sz="2000" i="0" dirty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d>
                      <m:dPr>
                        <m:ctrlPr>
                          <a:rPr lang="zh-TW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zh-TW" altLang="en-US" sz="2000" i="0" dirty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+2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</a:t>
                </a: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                                            </a:t>
                </a:r>
                <a14:m>
                  <m:oMath xmlns:m="http://schemas.openxmlformats.org/officeDocument/2006/math"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zh-TW" altLang="en-US" sz="20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TW" altLang="en-US" sz="2000" i="1">
                        <a:latin typeface="Cambria Math" panose="02040503050406030204" pitchFamily="18" charset="0"/>
                      </a:rPr>
                      <m:t>為</m:t>
                    </m:r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  <m:d>
                          <m:dPr>
                            <m:ctrlP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TW" altLang="en-US" sz="2000" i="0" dirty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d>
                      <m:dPr>
                        <m:ctrlPr>
                          <a:rPr lang="zh-TW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zh-TW" altLang="en-US" sz="2000" i="0" dirty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(+2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-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(-2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左式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  <m:d>
                          <m:dPr>
                            <m:ctrlP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TW" altLang="en-US" sz="2000" i="0" dirty="0"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d>
                      <m:dPr>
                        <m:ctrlPr>
                          <a:rPr lang="zh-TW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000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zh-TW" altLang="en-US" sz="2000" i="0" dirty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=2L+2k-2(L-1-k)=</a:t>
                </a:r>
                <a:r>
                  <a:rPr lang="en-US" altLang="zh-TW" sz="2000">
                    <a:highlight>
                      <a:srgbClr val="FFFF00"/>
                    </a:highlight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4k+2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00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k </a:t>
                </a:r>
                <a14:m>
                  <m:oMath xmlns:m="http://schemas.openxmlformats.org/officeDocument/2006/math">
                    <m:r>
                      <a:rPr lang="en-US" altLang="zh-TW" sz="200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TW" sz="2000" b="0" i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>
                    <a:highlight>
                      <a:srgbClr val="FFFF00"/>
                    </a:highlight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2L+2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00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endParaRPr lang="en-US" altLang="zh-TW" sz="2000">
                  <a:highlight>
                    <a:srgbClr val="FFFF00"/>
                  </a:highlight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右式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sz="2000" b="0" i="0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)^2</m:t>
                        </m:r>
                      </m:e>
                    </m:nary>
                  </m:oMath>
                </a14:m>
                <a:r>
                  <a:rPr lang="en-US" altLang="zh-TW" sz="20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zh-TW" altLang="en-US" sz="2000" dirty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000" b="0" i="0" dirty="0" smtClean="0"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^2 = (L-2*g0)^2+ (L-2*g1)^2</a:t>
                </a:r>
              </a:p>
              <a:p>
                <a:pPr marL="0" indent="0">
                  <a:buNone/>
                </a:pP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可知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2L+2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0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dirty="0" smtClean="0"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2 (mod 4) </a:t>
                </a:r>
                <a14:m>
                  <m:oMath xmlns:m="http://schemas.openxmlformats.org/officeDocument/2006/math">
                    <m:r>
                      <a:rPr lang="en-US" altLang="zh-TW" sz="2000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0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TW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zh-TW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(1-L) (mod 4)</a:t>
                </a:r>
              </a:p>
              <a:p>
                <a:pPr marL="0" indent="0">
                  <a:buNone/>
                </a:pP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便用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(L-2*g0)^2+ (L-2*g1)^2=2L+2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00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反推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g0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g1    </a:t>
                </a:r>
              </a:p>
              <a:p>
                <a:pPr marL="0" indent="0">
                  <a:buNone/>
                </a:pP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                                                                             </a:t>
                </a:r>
              </a:p>
              <a:p>
                <a:pPr marL="0" indent="0">
                  <a:buNone/>
                </a:pPr>
                <a:endParaRPr lang="en-US" altLang="zh-TW" sz="24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876D9F93-7C1F-DE12-B8EE-DD20ED4877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blipFill>
                <a:blip r:embed="rId4"/>
                <a:stretch>
                  <a:fillRect l="-638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130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77E25A-41D9-5CFB-6830-612B1768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 panose="02020603050405020304" pitchFamily="18" charset="0"/>
                <a:cs typeface="Times New Roman" panose="02020603050405020304" pitchFamily="18" charset="0"/>
              </a:rPr>
              <a:t>Variable setting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1D79894D-1D89-CC7B-1228-A4FA24E1611E}"/>
                  </a:ext>
                </a:extLst>
              </p:cNvPr>
              <p:cNvSpPr>
                <a:spLocks noGrp="1"/>
              </p:cNvSpPr>
              <p:nvPr>
                <p:ph type="body" orient="vert" idx="1"/>
              </p:nvPr>
            </p:nvSpPr>
            <p:spPr/>
            <p:txBody>
              <a:bodyPr vert="horz">
                <a:norm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TW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TW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altLang="zh-TW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zh-TW" altLang="en-US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TW" altLang="en-US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  <m:d>
                          <m:dPr>
                            <m:ctrlPr>
                              <a:rPr lang="zh-TW" altLang="en-US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zh-TW" altLang="en-US" sz="2000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zh-TW" altLang="en-US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zh-TW" altLang="en-US" sz="20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TW" sz="2000" i="1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d>
                      <m:dPr>
                        <m:ctrlPr>
                          <a:rPr lang="zh-TW" alt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zh-TW" altLang="en-US" sz="20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zh-TW" alt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altLang="zh-TW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</a:t>
                </a:r>
                <a:r>
                  <a:rPr lang="zh-TW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中</a:t>
                </a:r>
                <a:r>
                  <a:rPr lang="en-US" altLang="zh-TW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(+2</a:t>
                </a:r>
                <a:r>
                  <a:rPr lang="zh-TW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</a:t>
                </a:r>
                <a:r>
                  <a:rPr lang="en-US" altLang="zh-TW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、 </a:t>
                </a:r>
                <a:r>
                  <a:rPr lang="en-US" altLang="zh-TW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(-2</a:t>
                </a:r>
                <a:r>
                  <a:rPr lang="zh-TW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</a:t>
                </a:r>
                <a:r>
                  <a:rPr lang="en-US" altLang="zh-TW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以越接近</a:t>
                </a:r>
                <a:r>
                  <a:rPr lang="en-US" altLang="zh-TW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(L-1)/2</a:t>
                </a:r>
                <a:r>
                  <a:rPr lang="zh-TW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為原則當基準</a:t>
                </a:r>
                <a:endParaRPr lang="en-US" altLang="zh-TW" sz="2000">
                  <a:solidFill>
                    <a:srgbClr val="FF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EX. L=27 </a:t>
                </a:r>
              </a:p>
              <a:p>
                <a:pPr marL="0" indent="0">
                  <a:buNone/>
                </a:pP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i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+2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個數、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-2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個數</a:t>
                </a:r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=26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</m:sub>
                            </m:sSub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TW" sz="200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sub>
                            </m:sSub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≡</m:t>
                            </m:r>
                            <m:d>
                              <m:d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1−27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𝑚𝑜𝑑</m:t>
                                </m:r>
                                <m:r>
                                  <a:rPr lang="en-US" altLang="zh-TW" sz="2000" b="0" i="1" smtClean="0">
                                    <a:latin typeface="Cambria Math" panose="02040503050406030204" pitchFamily="18" charset="0"/>
                                  </a:rPr>
                                  <m:t> 4</m:t>
                                </m:r>
                              </m:e>
                            </m:d>
                            <m:r>
                              <a:rPr lang="en-US" altLang="zh-TW" sz="2000" i="1" smtClean="0">
                                <a:latin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 (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 4)</m:t>
                            </m:r>
                          </m:e>
                        </m:eqArr>
                      </m:e>
                    </m:d>
                  </m:oMath>
                </a14:m>
                <a:endParaRPr lang="en-US" altLang="zh-TW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以上面原則可解出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zh-TW" altLang="en-US" sz="2000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</m:oMath>
                </a14:m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分別為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(14,12)</a:t>
                </a:r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、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(12,14)</a:t>
                </a:r>
              </a:p>
              <a:p>
                <a:pPr marL="0" indent="0">
                  <a:buNone/>
                </a:pPr>
                <a:r>
                  <a:rPr lang="zh-TW" altLang="en-US" sz="200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當</a:t>
                </a:r>
                <a:r>
                  <a:rPr lang="en-US" altLang="zh-TW" sz="200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altLang="zh-TW" sz="200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(14,12)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000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(L-2*g0)^2+ (L-2*g1)^2=2L+2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0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58  </a:t>
                </a:r>
                <a14:m>
                  <m:oMath xmlns:m="http://schemas.openxmlformats.org/officeDocument/2006/math">
                    <m:r>
                      <a:rPr lang="en-US" altLang="zh-TW" sz="2000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(g0,g1)= (10,12)</a:t>
                </a:r>
              </a:p>
              <a:p>
                <a:pPr marL="0" indent="0">
                  <a:buNone/>
                </a:pPr>
                <a:r>
                  <a:rPr lang="zh-TW" altLang="en-US" sz="200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當</a:t>
                </a:r>
                <a:r>
                  <a:rPr lang="en-US" altLang="zh-TW" sz="200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0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b>
                    </m:sSub>
                    <m:r>
                      <a:rPr lang="en-US" altLang="zh-TW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US" altLang="zh-TW" sz="2000">
                    <a:solidFill>
                      <a:schemeClr val="accent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(12,14)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sz="2000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(L-2*g0)^2+ (L-2*g1)^2=2L+2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20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50 </a:t>
                </a:r>
                <a14:m>
                  <m:oMath xmlns:m="http://schemas.openxmlformats.org/officeDocument/2006/math">
                    <m:r>
                      <a:rPr lang="en-US" altLang="zh-TW" sz="2000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(g0,g1)= (11,11) or (13,10)</a:t>
                </a:r>
              </a:p>
              <a:p>
                <a:pPr marL="0" indent="0">
                  <a:buNone/>
                </a:pPr>
                <a:endParaRPr lang="zh-TW" altLang="en-US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直排文字版面配置區 2">
                <a:extLst>
                  <a:ext uri="{FF2B5EF4-FFF2-40B4-BE49-F238E27FC236}">
                    <a16:creationId xmlns:a16="http://schemas.microsoft.com/office/drawing/2014/main" id="{1D79894D-1D89-CC7B-1228-A4FA24E161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28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7344F0AE-23EE-D7B0-A83D-14BF2162D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3931" y="2948437"/>
            <a:ext cx="3600450" cy="3778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3E2CF3A7-3355-47CC-9570-8A17D16D8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Legrendre</a:t>
            </a:r>
            <a:r>
              <a:rPr lang="en-US" altLang="zh-TW" sz="4000">
                <a:latin typeface="Times New Roman" panose="02020603050405020304" pitchFamily="18" charset="0"/>
                <a:cs typeface="Times New Roman" panose="02020603050405020304" pitchFamily="18" charset="0"/>
              </a:rPr>
              <a:t> sequence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7F64A924-DE13-12D5-28E5-A4C39A3378D7}"/>
                  </a:ext>
                </a:extLst>
              </p:cNvPr>
              <p:cNvSpPr>
                <a:spLocks noGrp="1" noChangeArrowheads="1"/>
              </p:cNvSpPr>
              <p:nvPr>
                <p:ph type="body" orient="vert" idx="1"/>
              </p:nvPr>
            </p:nvSpPr>
            <p:spPr bwMode="auto">
              <a:xfrm>
                <a:off x="838200" y="1511173"/>
                <a:ext cx="6861109" cy="66528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TW" altLang="en-US" sz="1600" b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定義</a:t>
                </a:r>
                <a:r>
                  <a:rPr lang="en-US" altLang="zh-TW" sz="1600" b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endParaRPr kumimoji="0" lang="en-US" altLang="zh-TW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kumimoji="0" lang="zh-TW" altLang="zh-TW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假設 L 是一個奇質數，對於整數 n，Legendre Symbol</a:t>
                </a:r>
                <a:r>
                  <a:rPr kumimoji="0" lang="zh-TW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zh-TW" altLang="zh-TW" sz="16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kumimoji="0" lang="zh-TW" altLang="zh-TW" sz="16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kumimoji="0" lang="zh-TW" altLang="zh-TW" sz="1600" b="0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kumimoji="0" lang="zh-TW" altLang="zh-TW" sz="1600" b="0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kumimoji="0" lang="zh-TW" altLang="zh-TW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定義如</a:t>
                </a:r>
                <a:r>
                  <a:rPr kumimoji="0" lang="zh-TW" altLang="en-US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下</a:t>
                </a:r>
                <a:r>
                  <a:rPr kumimoji="0" lang="zh-TW" altLang="zh-TW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</a:t>
                </a:r>
                <a:r>
                  <a:rPr kumimoji="0" lang="en-US" altLang="zh-TW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TW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zh-TW" sz="160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zh-TW" sz="160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16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6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+1 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，若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是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的二次剩餘</m:t>
                              </m:r>
                            </m:e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，若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是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的非二次剩餘</m:t>
                              </m:r>
                            </m:e>
                            <m:e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TW" altLang="en-US" sz="1600" i="1">
                                  <a:latin typeface="Cambria Math" panose="02040503050406030204" pitchFamily="18" charset="0"/>
                                </a:rPr>
                                <m:t>若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i="1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TW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 (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  <m:r>
                                <a:rPr lang="en-US" altLang="zh-TW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6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kumimoji="0" lang="en-US" altLang="zh-TW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lvl="1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r>
                  <a:rPr lang="zh-TW" altLang="en-US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二次剩餘</a:t>
                </a:r>
                <a:r>
                  <a:rPr lang="en-US" altLang="zh-TW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如果存在一個整數</a:t>
                </a:r>
                <a14:m>
                  <m:oMath xmlns:m="http://schemas.openxmlformats.org/officeDocument/2006/math">
                    <m:r>
                      <a:rPr lang="en-US" altLang="zh-TW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TW" altLang="en-US" sz="1600" i="1" dirty="0">
                        <a:latin typeface="Cambria Math" panose="02040503050406030204" pitchFamily="18" charset="0"/>
                      </a:rPr>
                      <m:t>使得</m:t>
                    </m:r>
                    <m:sSup>
                      <m:sSupPr>
                        <m:ctrlPr>
                          <a:rPr kumimoji="0" lang="en-US" altLang="zh-TW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TW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0" lang="en-US" altLang="zh-TW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zh-TW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zh-TW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𝑚𝑜𝑑𝐿</m:t>
                        </m:r>
                      </m:e>
                    </m:d>
                  </m:oMath>
                </a14:m>
                <a:endParaRPr lang="en-US" altLang="zh-TW" sz="1600" b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lvl="1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None/>
                </a:pPr>
                <a:endParaRPr lang="en-US" altLang="zh-TW" sz="1600" b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zh-TW" altLang="en-US" sz="16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序列生成</a:t>
                </a:r>
                <a:r>
                  <a:rPr kumimoji="0" lang="en-US" altLang="zh-TW" sz="16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TW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</a:t>
                </a:r>
                <a:r>
                  <a:rPr kumimoji="0" lang="en-US" altLang="zh-TW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[n]=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kumimoji="0" lang="en-US" altLang="zh-TW" sz="16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kumimoji="0" lang="en-US" altLang="zh-TW" sz="16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ctrlPr>
                                  <a:rPr lang="zh-TW" altLang="zh-TW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zh-TW" altLang="zh-TW" sz="160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zh-TW" altLang="zh-TW" sz="160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mr>
                                </m:m>
                              </m:e>
                            </m:d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TW" altLang="en-US" sz="1600" i="1">
                                <a:latin typeface="Cambria Math" panose="02040503050406030204" pitchFamily="18" charset="0"/>
                              </a:rPr>
                              <m:t>，若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TW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≢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 (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kumimoji="0" lang="en-US" altLang="zh-TW" sz="16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zh-TW" altLang="en-US" sz="1600" i="1">
                                <a:latin typeface="Cambria Math" panose="02040503050406030204" pitchFamily="18" charset="0"/>
                              </a:rPr>
                              <m:t>，若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≡0 (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mod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 (</m:t>
                            </m:r>
                            <m:r>
                              <a:rPr lang="zh-TW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或其他約定值，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ex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.−1)</m:t>
                            </m:r>
                          </m:e>
                        </m:eqArr>
                      </m:e>
                    </m:d>
                  </m:oMath>
                </a14:m>
                <a:endParaRPr kumimoji="0" lang="en-US" altLang="zh-TW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kumimoji="0" lang="en-US" altLang="zh-TW" sz="16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TW" altLang="en-US" sz="1600" b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理想特性</a:t>
                </a:r>
                <a:r>
                  <a:rPr lang="en-US" altLang="zh-TW" sz="1600" b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zh-TW" altLang="en-US" sz="16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當</a:t>
                </a:r>
                <a:r>
                  <a:rPr lang="en-US" altLang="zh-TW" sz="16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4) 時，其</m:t>
                    </m:r>
                    <m:r>
                      <m:rPr>
                        <m:sty m:val="p"/>
                      </m:rPr>
                      <a:rPr lang="en-US" altLang="zh-TW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PACF</m:t>
                    </m:r>
                    <m:r>
                      <a:rPr lang="zh-TW" alt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為</m:t>
                    </m:r>
                    <m:r>
                      <a:rPr lang="en-US" altLang="zh-TW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zh-TW" sz="16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TW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R(</a:t>
                </a:r>
                <a:r>
                  <a:rPr lang="en-US" altLang="zh-TW" sz="16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τ</a:t>
                </a:r>
                <a:r>
                  <a:rPr lang="en-US" altLang="zh-TW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16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]∗</m:t>
                        </m:r>
                        <m:r>
                          <m:rPr>
                            <m:sty m:val="p"/>
                          </m:rP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[(</m:t>
                        </m:r>
                        <m:r>
                          <m:rPr>
                            <m:sty m:val="p"/>
                          </m:rP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TW" sz="16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nary>
                  </m:oMath>
                </a14:m>
                <a:r>
                  <a:rPr lang="en-US" altLang="zh-TW" sz="16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τ</a:t>
                </a:r>
                <a:r>
                  <a:rPr lang="en-US" altLang="zh-TW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(mod L)]=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16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TW" altLang="en-US" sz="1600" i="1">
                                <a:latin typeface="Cambria Math" panose="02040503050406030204" pitchFamily="18" charset="0"/>
                              </a:rPr>
                              <m:t>，若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τ</m:t>
                            </m:r>
                            <m:r>
                              <a:rPr lang="en-US" altLang="zh-TW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(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mod</m:t>
                            </m:r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</m:t>
                            </m:r>
                            <m:r>
                              <a:rPr lang="en-US" altLang="zh-TW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TW" sz="1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en-US" altLang="zh-TW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zh-TW" altLang="en-US" sz="1600" i="1">
                                <a:latin typeface="Cambria Math" panose="02040503050406030204" pitchFamily="18" charset="0"/>
                              </a:rPr>
                              <m:t>，若</m:t>
                            </m:r>
                            <m:r>
                              <m:rPr>
                                <m:nor/>
                              </m:rPr>
                              <a:rPr lang="en-US" altLang="zh-TW" sz="1600" i="1" dirty="0">
                                <a:latin typeface="Times New Roman" panose="020206030504050203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τ</m:t>
                            </m:r>
                            <m:r>
                              <a:rPr lang="en-US" altLang="zh-TW" sz="1600" i="1" dirty="0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 (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mod</m:t>
                            </m:r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</m:t>
                            </m:r>
                            <m:r>
                              <a:rPr lang="en-US" altLang="zh-TW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endParaRPr kumimoji="0" lang="en-US" altLang="zh-TW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zh-TW" altLang="en-US" sz="16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當</a:t>
                </a:r>
                <a:r>
                  <a:rPr lang="en-US" altLang="zh-TW" sz="1600">
                    <a:solidFill>
                      <a:srgbClr val="FF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 </a:t>
                </a:r>
                <a14:m>
                  <m:oMath xmlns:m="http://schemas.openxmlformats.org/officeDocument/2006/math"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mod</m:t>
                    </m:r>
                    <m:r>
                      <a:rPr lang="en-US" altLang="zh-TW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4) 時，其</m:t>
                    </m:r>
                    <m:r>
                      <m:rPr>
                        <m:sty m:val="p"/>
                      </m:rPr>
                      <a:rPr lang="en-US" altLang="zh-TW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PACF</m:t>
                    </m:r>
                    <m:r>
                      <a:rPr lang="zh-TW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為</m:t>
                    </m:r>
                    <m:r>
                      <a:rPr lang="en-US" altLang="zh-TW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zh-TW" sz="16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zh-TW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R(</a:t>
                </a:r>
                <a:r>
                  <a:rPr lang="en-US" altLang="zh-TW" sz="16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τ</a:t>
                </a:r>
                <a:r>
                  <a:rPr lang="en-US" altLang="zh-TW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altLang="zh-TW" sz="16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]∗</m:t>
                        </m:r>
                        <m:r>
                          <m:rPr>
                            <m:sty m:val="p"/>
                          </m:rP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[(</m:t>
                        </m:r>
                        <m:r>
                          <m:rPr>
                            <m:sty m:val="p"/>
                          </m:rP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TW" sz="1600" i="1" dirty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nary>
                  </m:oMath>
                </a14:m>
                <a:r>
                  <a:rPr lang="en-US" altLang="zh-TW" sz="1600" i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τ</a:t>
                </a:r>
                <a:r>
                  <a:rPr lang="en-US" altLang="zh-TW" sz="16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 (mod L)]= 1 or -3</a:t>
                </a:r>
                <a:endParaRPr kumimoji="0" lang="en-US" altLang="zh-TW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zh-TW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zh-TW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altLang="zh-TW" sz="1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zh-TW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TW" altLang="zh-TW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7F64A924-DE13-12D5-28E5-A4C39A337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 bwMode="auto">
              <a:xfrm>
                <a:off x="838200" y="1511173"/>
                <a:ext cx="6861109" cy="6652847"/>
              </a:xfrm>
              <a:prstGeom prst="rect">
                <a:avLst/>
              </a:prstGeom>
              <a:blipFill>
                <a:blip r:embed="rId3"/>
                <a:stretch>
                  <a:fillRect l="-35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45B9B81-2900-0D9E-E5FA-81766926B932}"/>
                  </a:ext>
                </a:extLst>
              </p:cNvPr>
              <p:cNvSpPr txBox="1"/>
              <p:nvPr/>
            </p:nvSpPr>
            <p:spPr>
              <a:xfrm>
                <a:off x="8482287" y="3220329"/>
                <a:ext cx="3220279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>
                    <a:solidFill>
                      <a:srgbClr val="FF0000"/>
                    </a:solidFill>
                  </a:rPr>
                  <a:t>ex. L=7</a:t>
                </a:r>
              </a:p>
              <a:p>
                <a:r>
                  <a:rPr lang="en-US" altLang="zh-TW" sz="1600">
                    <a:solidFill>
                      <a:schemeClr val="bg1"/>
                    </a:solidFill>
                  </a:rPr>
                  <a:t>a[n]</a:t>
                </a:r>
                <a:r>
                  <a:rPr lang="zh-TW" altLang="en-US" sz="1600">
                    <a:solidFill>
                      <a:schemeClr val="bg1"/>
                    </a:solidFill>
                  </a:rPr>
                  <a:t>其中</a:t>
                </a:r>
                <a:r>
                  <a:rPr lang="en-US" altLang="zh-TW" sz="1600">
                    <a:solidFill>
                      <a:schemeClr val="bg1"/>
                    </a:solidFill>
                  </a:rPr>
                  <a:t>n=0,1,2,3,4,5,6</a:t>
                </a:r>
                <a:br>
                  <a:rPr lang="en-US" altLang="zh-TW" sz="1600">
                    <a:solidFill>
                      <a:schemeClr val="bg1"/>
                    </a:solidFill>
                  </a:rPr>
                </a:br>
                <a:r>
                  <a:rPr lang="zh-TW" altLang="en-US" sz="1600">
                    <a:solidFill>
                      <a:schemeClr val="bg1"/>
                    </a:solidFill>
                  </a:rPr>
                  <a:t>找出二次剩餘</a:t>
                </a:r>
                <a:br>
                  <a:rPr lang="en-US" altLang="zh-TW" sz="1600">
                    <a:solidFill>
                      <a:schemeClr val="bg1"/>
                    </a:solidFill>
                  </a:rPr>
                </a:br>
                <a:r>
                  <a:rPr lang="en-US" altLang="zh-TW" sz="1600">
                    <a:solidFill>
                      <a:schemeClr val="bg1"/>
                    </a:solidFill>
                  </a:rPr>
                  <a:t>1^2=1</a:t>
                </a:r>
                <a:r>
                  <a:rPr lang="en-US" altLang="zh-TW" sz="160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US" altLang="zh-TW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TW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altLang="zh-TW" sz="1600" b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r>
                  <a:rPr lang="en-US" altLang="zh-TW" sz="1600">
                    <a:solidFill>
                      <a:schemeClr val="bg1"/>
                    </a:solidFill>
                  </a:rPr>
                  <a:t>2^2=4</a:t>
                </a:r>
                <a:r>
                  <a:rPr lang="en-US" altLang="zh-TW" sz="160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altLang="zh-TW" sz="1600">
                  <a:solidFill>
                    <a:schemeClr val="bg1"/>
                  </a:solidFill>
                </a:endParaRPr>
              </a:p>
              <a:p>
                <a:r>
                  <a:rPr lang="en-US" altLang="zh-TW" sz="1600">
                    <a:solidFill>
                      <a:schemeClr val="bg1"/>
                    </a:solidFill>
                  </a:rPr>
                  <a:t>3^2=9</a:t>
                </a:r>
                <a:r>
                  <a:rPr lang="en-US" altLang="zh-TW" sz="160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altLang="zh-TW" sz="1600">
                  <a:solidFill>
                    <a:schemeClr val="bg1"/>
                  </a:solidFill>
                </a:endParaRPr>
              </a:p>
              <a:p>
                <a:r>
                  <a:rPr lang="en-US" altLang="zh-TW" sz="1600">
                    <a:solidFill>
                      <a:schemeClr val="bg1"/>
                    </a:solidFill>
                  </a:rPr>
                  <a:t>4^2=16</a:t>
                </a:r>
                <a:r>
                  <a:rPr lang="en-US" altLang="zh-TW" sz="160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altLang="zh-TW" sz="1600">
                  <a:solidFill>
                    <a:schemeClr val="bg1"/>
                  </a:solidFill>
                </a:endParaRPr>
              </a:p>
              <a:p>
                <a:r>
                  <a:rPr lang="en-US" altLang="zh-TW" sz="1600">
                    <a:solidFill>
                      <a:schemeClr val="bg1"/>
                    </a:solidFill>
                  </a:rPr>
                  <a:t>5^2=25</a:t>
                </a:r>
                <a:r>
                  <a:rPr lang="en-US" altLang="zh-TW" sz="160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altLang="zh-TW" sz="16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altLang="zh-TW" sz="1600">
                  <a:solidFill>
                    <a:schemeClr val="bg1"/>
                  </a:solidFill>
                </a:endParaRPr>
              </a:p>
              <a:p>
                <a:r>
                  <a:rPr lang="en-US" altLang="zh-TW" sz="1600">
                    <a:solidFill>
                      <a:schemeClr val="bg1"/>
                    </a:solidFill>
                  </a:rPr>
                  <a:t>6^2=36</a:t>
                </a:r>
                <a:r>
                  <a:rPr lang="en-US" altLang="zh-TW" sz="1600">
                    <a:solidFill>
                      <a:schemeClr val="bg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≡1</m:t>
                    </m:r>
                    <m:d>
                      <m:dPr>
                        <m:ctrlP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altLang="zh-TW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en-US" altLang="zh-TW" sz="160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16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altLang="zh-TW" sz="1600">
                    <a:solidFill>
                      <a:schemeClr val="bg1"/>
                    </a:solidFill>
                  </a:rPr>
                  <a:t>{1,2,4} -&gt; </a:t>
                </a:r>
                <a:r>
                  <a:rPr lang="zh-TW" altLang="en-US" sz="1600">
                    <a:solidFill>
                      <a:schemeClr val="bg1"/>
                    </a:solidFill>
                  </a:rPr>
                  <a:t>對應值</a:t>
                </a:r>
                <a:r>
                  <a:rPr lang="en-US" altLang="zh-TW" sz="1600">
                    <a:solidFill>
                      <a:schemeClr val="bg1"/>
                    </a:solidFill>
                  </a:rPr>
                  <a:t>+1</a:t>
                </a:r>
              </a:p>
              <a:p>
                <a:r>
                  <a:rPr lang="en-US" altLang="zh-TW" sz="1600">
                    <a:solidFill>
                      <a:schemeClr val="bg1"/>
                    </a:solidFill>
                  </a:rPr>
                  <a:t>    {3,5,6} -&gt; </a:t>
                </a:r>
                <a:r>
                  <a:rPr lang="zh-TW" altLang="en-US" sz="1600">
                    <a:solidFill>
                      <a:schemeClr val="bg1"/>
                    </a:solidFill>
                  </a:rPr>
                  <a:t>對應值</a:t>
                </a:r>
                <a:r>
                  <a:rPr lang="en-US" altLang="zh-TW" sz="1600">
                    <a:solidFill>
                      <a:schemeClr val="bg1"/>
                    </a:solidFill>
                  </a:rPr>
                  <a:t>-1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1600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TW" sz="1600" b="0" i="0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1600" b="0" i="0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TW" sz="1600" b="0" i="0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US" altLang="zh-TW" sz="1600" b="0" i="0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TW" sz="1600" b="0" i="0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]={+1,+1</m:t>
                    </m:r>
                  </m:oMath>
                </a14:m>
                <a:r>
                  <a:rPr lang="en-US" altLang="zh-TW" sz="1600">
                    <a:solidFill>
                      <a:srgbClr val="FFC000"/>
                    </a:solidFill>
                  </a:rPr>
                  <a:t>,+1,-1,+1,-1,-1}</a:t>
                </a:r>
                <a:endParaRPr lang="zh-TW" altLang="en-US" sz="160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645B9B81-2900-0D9E-E5FA-81766926B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287" y="3220329"/>
                <a:ext cx="3220279" cy="3046988"/>
              </a:xfrm>
              <a:prstGeom prst="rect">
                <a:avLst/>
              </a:prstGeom>
              <a:blipFill>
                <a:blip r:embed="rId4"/>
                <a:stretch>
                  <a:fillRect l="-945" t="-600" b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3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A06B78-D652-8A79-113B-AFDBC7124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Classification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3A08350-43A8-D29B-A779-04D87D428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667250"/>
          </a:xfrm>
        </p:spPr>
        <p:txBody>
          <a:bodyPr vert="horz"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TW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Case 1: </a:t>
            </a:r>
            <a:r>
              <a:rPr lang="zh-TW" altLang="en-US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質數</a:t>
            </a:r>
            <a:r>
              <a:rPr lang="en-US" altLang="zh-TW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 L ≡ 3 (mod 4)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 (e.g., 47, 67)</a:t>
            </a: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29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Legendre sequence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Perfect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 (PACF = -1).</a:t>
            </a: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Optimal Pair often exists with A = B = Legendre.</a:t>
            </a: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29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zh-TW" altLang="en-US" sz="29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必為</a:t>
            </a:r>
            <a:r>
              <a:rPr lang="en-US" altLang="zh-TW" sz="29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optimal odd PACP</a:t>
            </a:r>
          </a:p>
          <a:p>
            <a:pPr marL="0" indent="0">
              <a:buNone/>
            </a:pPr>
            <a:br>
              <a:rPr lang="en-US" altLang="zh-TW" sz="2900" b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Case 2: </a:t>
            </a:r>
            <a:r>
              <a:rPr lang="zh-TW" altLang="en-US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質數</a:t>
            </a:r>
            <a:r>
              <a:rPr lang="en-US" altLang="zh-TW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 L ≡ 1 (mod 4)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 (e.g., 43, 53)</a:t>
            </a: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29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Legendre sequence 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Not Flat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 ( PACF = 1 or -3).</a:t>
            </a: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A = Legendre works, but requires a complementary B with specific variable g1.</a:t>
            </a: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br>
              <a:rPr lang="en-US" altLang="zh-TW" sz="2900" b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Case 3: </a:t>
            </a:r>
            <a:r>
              <a:rPr lang="zh-TW" altLang="en-US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合數</a:t>
            </a:r>
            <a:r>
              <a:rPr lang="en-US" altLang="zh-TW" sz="2900" b="1">
                <a:latin typeface="Times New Roman" panose="02020603050405020304" pitchFamily="18" charset="0"/>
                <a:cs typeface="Times New Roman" panose="02020603050405020304" pitchFamily="18" charset="0"/>
              </a:rPr>
              <a:t> Odd</a:t>
            </a: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 (e.g., 45, 49)</a:t>
            </a: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No perfect mathematical structure.</a:t>
            </a:r>
            <a:endParaRPr lang="en-US" altLang="zh-TW" sz="2900" b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TW" sz="2900">
                <a:latin typeface="Times New Roman" panose="02020603050405020304" pitchFamily="18" charset="0"/>
                <a:cs typeface="Times New Roman" panose="02020603050405020304" pitchFamily="18" charset="0"/>
              </a:rPr>
              <a:t>Requires extensive search with specific variable (g0,g1).</a:t>
            </a:r>
            <a:b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94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圖片 37" descr="image.png">
            <a:extLst>
              <a:ext uri="{FF2B5EF4-FFF2-40B4-BE49-F238E27FC236}">
                <a16:creationId xmlns:a16="http://schemas.microsoft.com/office/drawing/2014/main" id="{C63B7CE9-7420-4BF3-7F64-CC8CAFDD2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668" y="1295929"/>
            <a:ext cx="4032249" cy="2297641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A9F55B97-AF9C-B5DE-7724-237BC44D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 panose="02020603050405020304" pitchFamily="18" charset="0"/>
                <a:cs typeface="Times New Roman" panose="02020603050405020304" pitchFamily="18" charset="0"/>
              </a:rPr>
              <a:t>Core algorithms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 descr="image.png">
            <a:extLst>
              <a:ext uri="{FF2B5EF4-FFF2-40B4-BE49-F238E27FC236}">
                <a16:creationId xmlns:a16="http://schemas.microsoft.com/office/drawing/2014/main" id="{85083373-3B1A-7491-F6EB-EA56F3E69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584" y="2709332"/>
            <a:ext cx="1905000" cy="952500"/>
          </a:xfrm>
          <a:prstGeom prst="rect">
            <a:avLst/>
          </a:prstGeom>
        </p:spPr>
      </p:pic>
      <p:pic>
        <p:nvPicPr>
          <p:cNvPr id="5" name="圖片 4" descr="image.png">
            <a:extLst>
              <a:ext uri="{FF2B5EF4-FFF2-40B4-BE49-F238E27FC236}">
                <a16:creationId xmlns:a16="http://schemas.microsoft.com/office/drawing/2014/main" id="{42E7B858-DFF1-93A8-D283-0719A7071D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79" t="234717" r="-8696" b="-232830"/>
          <a:stretch>
            <a:fillRect/>
          </a:stretch>
        </p:blipFill>
        <p:spPr>
          <a:xfrm>
            <a:off x="4063471" y="4422775"/>
            <a:ext cx="2170690" cy="54202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6C5F416-6015-EEC6-8787-48F797B8C212}"/>
              </a:ext>
            </a:extLst>
          </p:cNvPr>
          <p:cNvSpPr txBox="1"/>
          <p:nvPr/>
        </p:nvSpPr>
        <p:spPr>
          <a:xfrm>
            <a:off x="4751914" y="3081377"/>
            <a:ext cx="60960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92400E"/>
                </a:solidFill>
                <a:latin typeface="Noto Sans TC"/>
                <a:ea typeface="Noto Sans TC"/>
                <a:cs typeface="Noto Sans TC"/>
              </a:rPr>
              <a:t>L </a:t>
            </a:r>
            <a:r>
              <a:rPr lang="en-US" sz="1200" b="1" err="1">
                <a:solidFill>
                  <a:srgbClr val="92400E"/>
                </a:solidFill>
                <a:latin typeface="Noto Sans TC"/>
                <a:ea typeface="Noto Sans TC"/>
                <a:cs typeface="Noto Sans TC"/>
              </a:rPr>
              <a:t>的數學性質</a:t>
            </a:r>
            <a:r>
              <a:rPr lang="en-US" sz="1200" b="1">
                <a:solidFill>
                  <a:srgbClr val="92400E"/>
                </a:solidFill>
                <a:latin typeface="Noto Sans TC"/>
                <a:ea typeface="Noto Sans TC"/>
                <a:cs typeface="Noto Sans TC"/>
              </a:rPr>
              <a:t>?</a:t>
            </a:r>
            <a:endParaRPr lang="en-US" altLang="zh-TW" b="1"/>
          </a:p>
          <a:p>
            <a:pPr algn="ctr"/>
            <a:endParaRPr lang="zh-TW" altLang="en-US"/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77B1554F-F6C3-7654-5A37-E167ACB48411}"/>
              </a:ext>
            </a:extLst>
          </p:cNvPr>
          <p:cNvCxnSpPr/>
          <p:nvPr/>
        </p:nvCxnSpPr>
        <p:spPr>
          <a:xfrm>
            <a:off x="2952750" y="3714749"/>
            <a:ext cx="4847165" cy="31749"/>
          </a:xfrm>
          <a:prstGeom prst="straightConnector1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911F2CA-D75F-EE44-3FB0-33C94D44D6CF}"/>
              </a:ext>
            </a:extLst>
          </p:cNvPr>
          <p:cNvCxnSpPr/>
          <p:nvPr/>
        </p:nvCxnSpPr>
        <p:spPr>
          <a:xfrm>
            <a:off x="2942165" y="3661833"/>
            <a:ext cx="10583" cy="4974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33FA5D4E-7547-6B78-F9EB-831CDEEFA21F}"/>
              </a:ext>
            </a:extLst>
          </p:cNvPr>
          <p:cNvCxnSpPr>
            <a:cxnSpLocks/>
          </p:cNvCxnSpPr>
          <p:nvPr/>
        </p:nvCxnSpPr>
        <p:spPr>
          <a:xfrm>
            <a:off x="5281081" y="3661832"/>
            <a:ext cx="10583" cy="4974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D44C108-65C7-731E-00DA-3536B193344A}"/>
              </a:ext>
            </a:extLst>
          </p:cNvPr>
          <p:cNvCxnSpPr>
            <a:cxnSpLocks/>
          </p:cNvCxnSpPr>
          <p:nvPr/>
        </p:nvCxnSpPr>
        <p:spPr>
          <a:xfrm>
            <a:off x="7789331" y="3661833"/>
            <a:ext cx="10583" cy="4974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7" name="圖片 16" descr="image.png">
            <a:extLst>
              <a:ext uri="{FF2B5EF4-FFF2-40B4-BE49-F238E27FC236}">
                <a16:creationId xmlns:a16="http://schemas.microsoft.com/office/drawing/2014/main" id="{CCD28142-0A20-AABD-9632-48B1C3EA3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6720" y="4163483"/>
            <a:ext cx="1196975" cy="309033"/>
          </a:xfrm>
          <a:prstGeom prst="rect">
            <a:avLst/>
          </a:prstGeom>
        </p:spPr>
      </p:pic>
      <p:pic>
        <p:nvPicPr>
          <p:cNvPr id="18" name="圖片 17" descr="image.png">
            <a:extLst>
              <a:ext uri="{FF2B5EF4-FFF2-40B4-BE49-F238E27FC236}">
                <a16:creationId xmlns:a16="http://schemas.microsoft.com/office/drawing/2014/main" id="{ACA9738B-1EBF-BA67-47B0-E17B672FB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458" y="4163483"/>
            <a:ext cx="1375833" cy="309033"/>
          </a:xfrm>
          <a:prstGeom prst="rect">
            <a:avLst/>
          </a:prstGeom>
        </p:spPr>
      </p:pic>
      <p:pic>
        <p:nvPicPr>
          <p:cNvPr id="19" name="圖片 18" descr="image.png">
            <a:extLst>
              <a:ext uri="{FF2B5EF4-FFF2-40B4-BE49-F238E27FC236}">
                <a16:creationId xmlns:a16="http://schemas.microsoft.com/office/drawing/2014/main" id="{C12597B4-2589-4C3E-0639-E527E8D3C3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6625" y="4163483"/>
            <a:ext cx="1386416" cy="309033"/>
          </a:xfrm>
          <a:prstGeom prst="rect">
            <a:avLst/>
          </a:prstGeom>
        </p:spPr>
      </p:pic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25930B87-8CCF-05C2-F7F2-A66D17923E0D}"/>
              </a:ext>
            </a:extLst>
          </p:cNvPr>
          <p:cNvCxnSpPr/>
          <p:nvPr/>
        </p:nvCxnSpPr>
        <p:spPr>
          <a:xfrm>
            <a:off x="2942166" y="4445000"/>
            <a:ext cx="10583" cy="317500"/>
          </a:xfrm>
          <a:prstGeom prst="straightConnector1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60472EBA-6EF1-DA32-4BAC-86B35EA33A29}"/>
              </a:ext>
            </a:extLst>
          </p:cNvPr>
          <p:cNvCxnSpPr>
            <a:cxnSpLocks/>
          </p:cNvCxnSpPr>
          <p:nvPr/>
        </p:nvCxnSpPr>
        <p:spPr>
          <a:xfrm>
            <a:off x="5281082" y="4444999"/>
            <a:ext cx="10583" cy="317500"/>
          </a:xfrm>
          <a:prstGeom prst="straightConnector1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BA3A89CD-EE15-30CB-E35E-CECD1CF4BC36}"/>
              </a:ext>
            </a:extLst>
          </p:cNvPr>
          <p:cNvCxnSpPr>
            <a:cxnSpLocks/>
          </p:cNvCxnSpPr>
          <p:nvPr/>
        </p:nvCxnSpPr>
        <p:spPr>
          <a:xfrm>
            <a:off x="7799916" y="4423833"/>
            <a:ext cx="10583" cy="317500"/>
          </a:xfrm>
          <a:prstGeom prst="straightConnector1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A1E36C3-139C-FD3F-85E9-854AD27D3869}"/>
              </a:ext>
            </a:extLst>
          </p:cNvPr>
          <p:cNvSpPr/>
          <p:nvPr/>
        </p:nvSpPr>
        <p:spPr>
          <a:xfrm>
            <a:off x="6709833" y="4762500"/>
            <a:ext cx="2317747" cy="16298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6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 b="1">
                <a:solidFill>
                  <a:srgbClr val="FF0000"/>
                </a:solidFill>
                <a:ea typeface="Calibri"/>
                <a:cs typeface="Calibri"/>
              </a:rPr>
              <a:t>No perfect mathematical structure with (g0,g1)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213863-FC54-5F8E-82F0-5EC589D09F42}"/>
              </a:ext>
            </a:extLst>
          </p:cNvPr>
          <p:cNvSpPr/>
          <p:nvPr/>
        </p:nvSpPr>
        <p:spPr>
          <a:xfrm>
            <a:off x="4201583" y="4762499"/>
            <a:ext cx="2169581" cy="16298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ts val="1950"/>
              </a:lnSpc>
            </a:pPr>
            <a:r>
              <a:rPr lang="en-US" sz="1600" b="1">
                <a:solidFill>
                  <a:srgbClr val="00B0F0"/>
                </a:solidFill>
                <a:latin typeface="Calibri"/>
                <a:ea typeface="Segoe UI"/>
                <a:cs typeface="Segoe UI"/>
              </a:rPr>
              <a:t>Fixed A + Scan B</a:t>
            </a:r>
          </a:p>
          <a:p>
            <a:pPr marL="342900" indent="-342900">
              <a:lnSpc>
                <a:spcPts val="1950"/>
              </a:lnSpc>
              <a:buAutoNum type="arabicPeriod"/>
            </a:pPr>
            <a:r>
              <a:rPr lang="en-US" altLang="zh-TW" sz="1600" b="1" err="1">
                <a:solidFill>
                  <a:srgbClr val="00B0F0"/>
                </a:solidFill>
                <a:ea typeface="新細明體"/>
                <a:cs typeface="Segoe UI"/>
              </a:rPr>
              <a:t>固定A</a:t>
            </a:r>
            <a:r>
              <a:rPr lang="en-US" altLang="zh-TW" sz="1600" b="1">
                <a:solidFill>
                  <a:srgbClr val="00B0F0"/>
                </a:solidFill>
                <a:ea typeface="新細明體"/>
                <a:cs typeface="Segoe UI"/>
              </a:rPr>
              <a:t>= </a:t>
            </a:r>
            <a:r>
              <a:rPr lang="en-US" altLang="zh-TW" sz="1600" b="1" err="1">
                <a:solidFill>
                  <a:srgbClr val="00B0F0"/>
                </a:solidFill>
                <a:ea typeface="新細明體"/>
                <a:cs typeface="Segoe UI"/>
              </a:rPr>
              <a:t>Legrendre</a:t>
            </a:r>
            <a:endParaRPr lang="en-US" altLang="zh-TW" sz="1600" b="1">
              <a:solidFill>
                <a:srgbClr val="00B0F0"/>
              </a:solidFill>
              <a:ea typeface="新細明體"/>
              <a:cs typeface="Segoe UI"/>
            </a:endParaRPr>
          </a:p>
          <a:p>
            <a:pPr marL="342900" indent="-342900">
              <a:lnSpc>
                <a:spcPts val="1950"/>
              </a:lnSpc>
              <a:buAutoNum type="arabicPeriod"/>
            </a:pPr>
            <a:r>
              <a:rPr lang="en-US" altLang="zh-TW" sz="1600" b="1">
                <a:solidFill>
                  <a:srgbClr val="00B0F0"/>
                </a:solidFill>
                <a:ea typeface="新細明體"/>
                <a:cs typeface="Segoe UI"/>
              </a:rPr>
              <a:t>針對特定g1用Gosper搜B序列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40A8108-D540-A934-80FE-85214229B48F}"/>
              </a:ext>
            </a:extLst>
          </p:cNvPr>
          <p:cNvSpPr/>
          <p:nvPr/>
        </p:nvSpPr>
        <p:spPr>
          <a:xfrm>
            <a:off x="1862666" y="4741331"/>
            <a:ext cx="2169581" cy="16298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zh-TW" altLang="en-US" sz="1600" b="1">
                <a:solidFill>
                  <a:srgbClr val="00B050"/>
                </a:solidFill>
                <a:ea typeface="新細明體"/>
                <a:cs typeface="Calibri"/>
              </a:rPr>
              <a:t>Twin legrendre</a:t>
            </a:r>
            <a:endParaRPr lang="zh-TW" b="1">
              <a:solidFill>
                <a:srgbClr val="00B050"/>
              </a:solidFill>
              <a:ea typeface="新細明體"/>
              <a:cs typeface="Calibri" panose="020F0502020204030204"/>
            </a:endParaRPr>
          </a:p>
          <a:p>
            <a:pPr algn="ctr"/>
            <a:r>
              <a:rPr lang="zh-TW" altLang="en-US" sz="1600" b="1">
                <a:solidFill>
                  <a:srgbClr val="00B050"/>
                </a:solidFill>
                <a:ea typeface="新細明體"/>
                <a:cs typeface="Calibri"/>
              </a:rPr>
              <a:t>設A=B=Legrendre</a:t>
            </a:r>
          </a:p>
          <a:p>
            <a:pPr algn="ctr"/>
            <a:r>
              <a:rPr lang="zh-TW" altLang="en-US" sz="1600" b="1">
                <a:solidFill>
                  <a:srgbClr val="00B050"/>
                </a:solidFill>
                <a:ea typeface="新細明體"/>
                <a:cs typeface="Calibri"/>
              </a:rPr>
              <a:t>PACF恆為-1(perfect</a:t>
            </a:r>
            <a:r>
              <a:rPr lang="zh-TW" altLang="en-US" b="1">
                <a:solidFill>
                  <a:srgbClr val="00B050"/>
                </a:solidFill>
                <a:ea typeface="新細明體"/>
                <a:cs typeface="Calibri"/>
              </a:rPr>
              <a:t>)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A1F45107-01E3-6912-CC2F-D4D7E9B20EA3}"/>
              </a:ext>
            </a:extLst>
          </p:cNvPr>
          <p:cNvSpPr/>
          <p:nvPr/>
        </p:nvSpPr>
        <p:spPr>
          <a:xfrm>
            <a:off x="3989915" y="1672167"/>
            <a:ext cx="2592916" cy="55033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accent6">
                    <a:lumMod val="49000"/>
                  </a:schemeClr>
                </a:solidFill>
                <a:latin typeface="Calibri"/>
              </a:rPr>
              <a:t>START With L (g0,g1)</a:t>
            </a:r>
            <a:endParaRPr lang="en-US" altLang="zh-TW" sz="1600" b="1">
              <a:solidFill>
                <a:schemeClr val="accent6">
                  <a:lumMod val="49000"/>
                </a:schemeClr>
              </a:solidFill>
              <a:ea typeface="Calibri"/>
              <a:cs typeface="Calibri"/>
            </a:endParaRP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7869A5E8-CBC2-417A-1A69-E39A38CE1874}"/>
              </a:ext>
            </a:extLst>
          </p:cNvPr>
          <p:cNvCxnSpPr>
            <a:cxnSpLocks/>
          </p:cNvCxnSpPr>
          <p:nvPr/>
        </p:nvCxnSpPr>
        <p:spPr>
          <a:xfrm>
            <a:off x="5281080" y="2222498"/>
            <a:ext cx="10583" cy="4974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CE6D041-11BB-0B0E-0BE9-B5CABA1809D5}"/>
              </a:ext>
            </a:extLst>
          </p:cNvPr>
          <p:cNvSpPr txBox="1"/>
          <p:nvPr/>
        </p:nvSpPr>
        <p:spPr>
          <a:xfrm>
            <a:off x="8297333" y="1481666"/>
            <a:ext cx="3503084" cy="1354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1"/>
                </a:solidFill>
                <a:latin typeface="Noto Sans TC"/>
                <a:ea typeface="Noto Sans TC"/>
                <a:cs typeface="Noto Sans TC"/>
              </a:rPr>
              <a:t>Gosper's Hack (</a:t>
            </a:r>
            <a:r>
              <a:rPr lang="en-US" b="1" err="1">
                <a:solidFill>
                  <a:schemeClr val="accent1"/>
                </a:solidFill>
                <a:latin typeface="Noto Sans TC"/>
                <a:ea typeface="Noto Sans TC"/>
                <a:cs typeface="Noto Sans TC"/>
              </a:rPr>
              <a:t>生成器</a:t>
            </a:r>
            <a:r>
              <a:rPr lang="en-US" b="1">
                <a:solidFill>
                  <a:schemeClr val="accent1"/>
                </a:solidFill>
                <a:latin typeface="Noto Sans TC"/>
                <a:ea typeface="Noto Sans TC"/>
                <a:cs typeface="Noto Sans TC"/>
              </a:rPr>
              <a:t>)</a:t>
            </a:r>
            <a:endParaRPr lang="en-US" altLang="zh-TW">
              <a:solidFill>
                <a:schemeClr val="accent1"/>
              </a:solidFill>
            </a:endParaRPr>
          </a:p>
          <a:p>
            <a:endParaRPr lang="en-US" b="1">
              <a:solidFill>
                <a:schemeClr val="accent1"/>
              </a:solidFill>
              <a:latin typeface="Noto Sans TC"/>
            </a:endParaRPr>
          </a:p>
          <a:p>
            <a:r>
              <a:rPr lang="en-US" sz="1400">
                <a:latin typeface="Noto Sans TC"/>
              </a:rPr>
              <a:t>在 O(1) </a:t>
            </a:r>
            <a:r>
              <a:rPr lang="en-US" sz="1400" err="1">
                <a:latin typeface="Noto Sans TC"/>
              </a:rPr>
              <a:t>時間內生成下一個相同權重</a:t>
            </a:r>
            <a:r>
              <a:rPr lang="en-US" sz="1400">
                <a:latin typeface="Noto Sans TC"/>
              </a:rPr>
              <a:t> (Hamming Weight) </a:t>
            </a:r>
            <a:r>
              <a:rPr lang="en-US" sz="1400" err="1">
                <a:latin typeface="Noto Sans TC"/>
              </a:rPr>
              <a:t>的二進制排列</a:t>
            </a:r>
            <a:r>
              <a:rPr lang="en-US" sz="1400">
                <a:latin typeface="Noto Sans TC"/>
              </a:rPr>
              <a:t>。</a:t>
            </a:r>
          </a:p>
          <a:p>
            <a:pPr algn="ctr"/>
            <a:endParaRPr lang="zh-TW" altLang="en-US">
              <a:cs typeface="Calibri" panose="020F0502020204030204"/>
            </a:endParaRPr>
          </a:p>
        </p:txBody>
      </p:sp>
      <p:pic>
        <p:nvPicPr>
          <p:cNvPr id="35" name="圖片 34" descr="image.png">
            <a:extLst>
              <a:ext uri="{FF2B5EF4-FFF2-40B4-BE49-F238E27FC236}">
                <a16:creationId xmlns:a16="http://schemas.microsoft.com/office/drawing/2014/main" id="{1206E331-76C3-2D10-6C05-F609395DC8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1813" y="2622022"/>
            <a:ext cx="3899960" cy="80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17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39FD-F61F-5F9E-368C-3D10A25EE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62BDE-42E9-BAC0-BE61-3BBCF0BD1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Summary of results 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FA366BB-3C6A-F0D9-F541-3D6EA1FD72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8760"/>
              </p:ext>
            </p:extLst>
          </p:nvPr>
        </p:nvGraphicFramePr>
        <p:xfrm>
          <a:off x="87922" y="1797538"/>
          <a:ext cx="12022222" cy="328706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9036">
                  <a:extLst>
                    <a:ext uri="{9D8B030D-6E8A-4147-A177-3AD203B41FA5}">
                      <a16:colId xmlns:a16="http://schemas.microsoft.com/office/drawing/2014/main" val="1940900014"/>
                    </a:ext>
                  </a:extLst>
                </a:gridCol>
                <a:gridCol w="1806019">
                  <a:extLst>
                    <a:ext uri="{9D8B030D-6E8A-4147-A177-3AD203B41FA5}">
                      <a16:colId xmlns:a16="http://schemas.microsoft.com/office/drawing/2014/main" val="745645586"/>
                    </a:ext>
                  </a:extLst>
                </a:gridCol>
                <a:gridCol w="2310030">
                  <a:extLst>
                    <a:ext uri="{9D8B030D-6E8A-4147-A177-3AD203B41FA5}">
                      <a16:colId xmlns:a16="http://schemas.microsoft.com/office/drawing/2014/main" val="2471980163"/>
                    </a:ext>
                  </a:extLst>
                </a:gridCol>
                <a:gridCol w="5197137">
                  <a:extLst>
                    <a:ext uri="{9D8B030D-6E8A-4147-A177-3AD203B41FA5}">
                      <a16:colId xmlns:a16="http://schemas.microsoft.com/office/drawing/2014/main" val="494548083"/>
                    </a:ext>
                  </a:extLst>
                </a:gridCol>
              </a:tblGrid>
              <a:tr h="7634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1" i="0" u="none" strike="noStrike" err="1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Length</a:t>
                      </a:r>
                      <a:r>
                        <a:rPr lang="af-ZA" sz="18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 (L)</a:t>
                      </a:r>
                      <a:endParaRPr lang="af-ZA"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1" i="0" u="none" strike="noStrike" err="1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Type</a:t>
                      </a:r>
                      <a:endParaRPr lang="af-ZA" err="1"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1" i="0" u="none" strike="noStrike" err="1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Strategy</a:t>
                      </a:r>
                      <a:endParaRPr lang="af-ZA" err="1"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1" i="0" u="none" strike="noStrike" err="1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Result</a:t>
                      </a:r>
                      <a:r>
                        <a:rPr lang="af-ZA" sz="1800" b="1" i="0" u="none" strike="noStrike">
                          <a:solidFill>
                            <a:srgbClr val="FFFFFF"/>
                          </a:solidFill>
                          <a:effectLst/>
                          <a:latin typeface="Roboto"/>
                        </a:rPr>
                        <a:t> Status</a:t>
                      </a:r>
                      <a:endParaRPr lang="af-ZA"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23016"/>
                  </a:ext>
                </a:extLst>
              </a:tr>
              <a:tr h="76342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31、43、47、59、</a:t>
                      </a:r>
                      <a:endParaRPr lang="zh-TW" altLang="en-US">
                        <a:effectLst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67、71...</a:t>
                      </a:r>
                      <a:endParaRPr lang="zh-TW" altLang="en-US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Prime</a:t>
                      </a: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 (4k+3)</a:t>
                      </a:r>
                      <a:endParaRPr lang="af-ZA" sz="1800" b="0" i="0" u="none" strike="noStrike">
                        <a:solidFill>
                          <a:srgbClr val="000000"/>
                        </a:solidFill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Twin</a:t>
                      </a: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 </a:t>
                      </a:r>
                      <a:r>
                        <a:rPr lang="af-ZA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Legendre</a:t>
                      </a:r>
                      <a:endParaRPr lang="af-ZA" sz="1800" b="0" i="0" u="none" strike="noStrike" err="1">
                        <a:solidFill>
                          <a:srgbClr val="000000"/>
                        </a:solidFill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 </a:t>
                      </a:r>
                      <a:r>
                        <a:rPr lang="af-ZA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Definitely</a:t>
                      </a:r>
                      <a:r>
                        <a:rPr lang="af-ZA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 </a:t>
                      </a:r>
                      <a:r>
                        <a:rPr lang="af-ZA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Found</a:t>
                      </a:r>
                      <a:endParaRPr lang="af-ZA" err="1">
                        <a:effectLst/>
                      </a:endParaRPr>
                    </a:p>
                  </a:txBody>
                  <a:tcPr marL="31432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7887502"/>
                  </a:ext>
                </a:extLst>
              </a:tr>
              <a:tr h="8346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29、37、41、53</a:t>
                      </a:r>
                      <a:endParaRPr lang="zh-TW" altLang="en-US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Prime</a:t>
                      </a:r>
                      <a:r>
                        <a:rPr lang="af-ZA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 (4k+1)</a:t>
                      </a:r>
                      <a:endParaRPr lang="af-ZA"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Legendre</a:t>
                      </a:r>
                      <a:r>
                        <a:rPr lang="af-ZA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 A + </a:t>
                      </a:r>
                      <a:r>
                        <a:rPr lang="af-ZA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Scan</a:t>
                      </a:r>
                      <a:r>
                        <a:rPr lang="af-ZA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 B</a:t>
                      </a:r>
                      <a:endParaRPr lang="af-ZA"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200" b="1" i="0" u="none" strike="noStrike" noProof="0">
                          <a:effectLst/>
                          <a:latin typeface="Calibri"/>
                        </a:rPr>
                        <a:t>Ex. L=53                                                                                                                </a:t>
                      </a:r>
                      <a:endParaRPr lang="zh-TW" altLang="en-US" sz="12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200" b="1" i="0" u="none" strike="noStrike" noProof="0">
                          <a:effectLst/>
                          <a:latin typeface="Calibri"/>
                        </a:rPr>
                        <a:t>A: {10010110111010111000000110011000000111010111011010011}</a:t>
                      </a:r>
                      <a:endParaRPr lang="zh-TW" altLang="en-US" sz="12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200" b="1" i="0" u="none" strike="noStrike" noProof="0">
                          <a:effectLst/>
                          <a:latin typeface="Calibri"/>
                        </a:rPr>
                        <a:t>B: {00000000000100011100101000110110001010100110100101111}</a:t>
                      </a:r>
                      <a:endParaRPr lang="af-ZA" sz="1200" b="1"/>
                    </a:p>
                    <a:p>
                      <a:pPr lvl="0" algn="ctr">
                        <a:buNone/>
                      </a:pPr>
                      <a:endParaRPr lang="af-ZA">
                        <a:effectLst/>
                      </a:endParaRPr>
                    </a:p>
                  </a:txBody>
                  <a:tcPr marL="31432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81840"/>
                  </a:ext>
                </a:extLst>
              </a:tr>
              <a:tr h="84485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27、33、35、39、</a:t>
                      </a:r>
                      <a:endParaRPr lang="zh-TW" altLang="en-US"/>
                    </a:p>
                    <a:p>
                      <a:pPr lvl="0" algn="ctr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45、49、51、55、57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Composite</a:t>
                      </a:r>
                      <a:endParaRPr lang="af-ZA" err="1"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Pool A + </a:t>
                      </a:r>
                      <a:r>
                        <a:rPr lang="af-ZA" sz="1800" b="0" i="0" u="none" strike="noStrike" err="1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Batch</a:t>
                      </a:r>
                      <a:r>
                        <a:rPr lang="af-ZA" sz="1800" b="0" i="0" u="none" strike="noStrike">
                          <a:solidFill>
                            <a:srgbClr val="000000"/>
                          </a:solidFill>
                          <a:effectLst/>
                          <a:latin typeface="Roboto"/>
                        </a:rPr>
                        <a:t> B</a:t>
                      </a:r>
                      <a:endParaRPr lang="af-ZA">
                        <a:effectLst/>
                        <a:latin typeface="Roboto"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200" b="1" i="0" u="none" strike="noStrike" noProof="0">
                          <a:effectLst/>
                        </a:rPr>
                        <a:t>Ex. L=57                                                                                                                         </a:t>
                      </a:r>
                      <a:br>
                        <a:rPr lang="af-ZA" sz="1200" b="1" i="0" u="none" strike="noStrike" noProof="0">
                          <a:effectLst/>
                        </a:rPr>
                      </a:br>
                      <a:r>
                        <a:rPr lang="af-ZA" sz="1200" b="1" i="0" u="none" strike="noStrike" noProof="0">
                          <a:effectLst/>
                        </a:rPr>
                        <a:t>A: {000001100110110010100010101000110100000111011010000100011}</a:t>
                      </a:r>
                      <a:endParaRPr lang="zh-TW" altLang="en-US" sz="1200" b="1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200" b="1" i="0" u="none" strike="noStrike" noProof="0">
                          <a:effectLst/>
                        </a:rPr>
                        <a:t>B: {000000000000110110001111010010111010110011110010101101111}</a:t>
                      </a:r>
                      <a:endParaRPr lang="af-ZA" sz="1200" b="1"/>
                    </a:p>
                    <a:p>
                      <a:pPr lvl="0" algn="ctr">
                        <a:buNone/>
                      </a:pPr>
                      <a:endParaRPr lang="af-ZA">
                        <a:effectLst/>
                        <a:latin typeface="Roboto"/>
                      </a:endParaRPr>
                    </a:p>
                  </a:txBody>
                  <a:tcPr marL="342900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821264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5B785E4D-DB40-7149-6BD2-97EBDA3AB1E0}"/>
              </a:ext>
            </a:extLst>
          </p:cNvPr>
          <p:cNvSpPr txBox="1"/>
          <p:nvPr/>
        </p:nvSpPr>
        <p:spPr>
          <a:xfrm>
            <a:off x="83413" y="5294735"/>
            <a:ext cx="1004358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000">
                <a:solidFill>
                  <a:srgbClr val="FF0000"/>
                </a:solidFill>
                <a:ea typeface="新細明體"/>
                <a:cs typeface="Calibri"/>
              </a:rPr>
              <a:t>Found:  27~59奇數 、 所有質數</a:t>
            </a:r>
            <a:r>
              <a:rPr lang="en-US" altLang="zh-TW" sz="2000" b="1">
                <a:solidFill>
                  <a:srgbClr val="FF0000"/>
                </a:solidFill>
                <a:ea typeface="+mn-lt"/>
                <a:cs typeface="Calibri"/>
              </a:rPr>
              <a:t>≡</a:t>
            </a:r>
            <a:r>
              <a:rPr lang="en-US" altLang="zh-TW" sz="2000" b="1">
                <a:solidFill>
                  <a:srgbClr val="FF0000"/>
                </a:solidFill>
                <a:ea typeface="Calibri"/>
                <a:cs typeface="Calibri"/>
              </a:rPr>
              <a:t> 3</a:t>
            </a:r>
            <a:r>
              <a:rPr lang="zh-TW" altLang="en-US" sz="2000">
                <a:solidFill>
                  <a:srgbClr val="FF0000"/>
                </a:solidFill>
                <a:ea typeface="新細明體"/>
                <a:cs typeface="Calibri"/>
              </a:rPr>
              <a:t>(mod 4) (ex. L=999 …) for 60以上</a:t>
            </a:r>
            <a:endParaRPr lang="zh-TW" altLang="en-US"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134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2F8A6-2C44-B963-A586-58CA5C63E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25F6D2-A071-42AB-5B94-52CF20470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117" y="20637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0000"/>
                </a:solidFill>
                <a:latin typeface="Times New Roman"/>
                <a:ea typeface="新細明體"/>
                <a:cs typeface="Times New Roman"/>
              </a:rPr>
              <a:t>27~59</a:t>
            </a:r>
            <a:endParaRPr lang="zh-TW" altLang="en-US" sz="4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955884C-B5CB-C64E-36B5-FED4BD72C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834091"/>
              </p:ext>
            </p:extLst>
          </p:nvPr>
        </p:nvGraphicFramePr>
        <p:xfrm>
          <a:off x="636454" y="1370759"/>
          <a:ext cx="10533284" cy="497002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9916">
                  <a:extLst>
                    <a:ext uri="{9D8B030D-6E8A-4147-A177-3AD203B41FA5}">
                      <a16:colId xmlns:a16="http://schemas.microsoft.com/office/drawing/2014/main" val="1940900014"/>
                    </a:ext>
                  </a:extLst>
                </a:gridCol>
                <a:gridCol w="2010831">
                  <a:extLst>
                    <a:ext uri="{9D8B030D-6E8A-4147-A177-3AD203B41FA5}">
                      <a16:colId xmlns:a16="http://schemas.microsoft.com/office/drawing/2014/main" val="745645586"/>
                    </a:ext>
                  </a:extLst>
                </a:gridCol>
                <a:gridCol w="7072537">
                  <a:extLst>
                    <a:ext uri="{9D8B030D-6E8A-4147-A177-3AD203B41FA5}">
                      <a16:colId xmlns:a16="http://schemas.microsoft.com/office/drawing/2014/main" val="494548083"/>
                    </a:ext>
                  </a:extLst>
                </a:gridCol>
              </a:tblGrid>
              <a:tr h="6151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Length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(L)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(g0, g1)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Result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23016"/>
                  </a:ext>
                </a:extLst>
              </a:tr>
              <a:tr h="4334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27</a:t>
                      </a:r>
                      <a:endParaRPr lang="zh-TW" altLang="en-US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(13, 13)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111001101001010110000000000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111001001100101000101000000</a:t>
                      </a:r>
                      <a:endParaRPr lang="af-ZA" sz="1400"/>
                    </a:p>
                  </a:txBody>
                  <a:tcPr marL="31432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81840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29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(13, 13)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00001011000011001101000101011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00000000000110101011001101111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28172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31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(13, 13)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0000010001110101001011110011011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0010001110101001011110011011000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2696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(13, 14)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000011011000100101001110001010001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000000000001110010011011010101111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39834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35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(14, 15)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00000010111001101000100101001000111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00000000000110110100111001101010111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2032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37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(15, 16)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0000000101100110001010100111001010011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0000000000010111010010111001101001111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965751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(15, 19)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000000110001110101001001001100000101011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000000000011010110110011001111010101111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256244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(21, 16)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11011001110000010101101010000011100110111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00000000001010011010010100110011010001111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7659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43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(17, 20)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0000011010010010001101100010000111001010101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0000000000011001100111100101101101010101111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318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543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36A61-A6DF-52DE-895B-2DE6B6101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8E2BF0F-D221-8447-795B-CACC5E4B7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357993"/>
              </p:ext>
            </p:extLst>
          </p:nvPr>
        </p:nvGraphicFramePr>
        <p:xfrm>
          <a:off x="636454" y="1254343"/>
          <a:ext cx="10435161" cy="448615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02833">
                  <a:extLst>
                    <a:ext uri="{9D8B030D-6E8A-4147-A177-3AD203B41FA5}">
                      <a16:colId xmlns:a16="http://schemas.microsoft.com/office/drawing/2014/main" val="1940900014"/>
                    </a:ext>
                  </a:extLst>
                </a:gridCol>
                <a:gridCol w="1735662">
                  <a:extLst>
                    <a:ext uri="{9D8B030D-6E8A-4147-A177-3AD203B41FA5}">
                      <a16:colId xmlns:a16="http://schemas.microsoft.com/office/drawing/2014/main" val="745645586"/>
                    </a:ext>
                  </a:extLst>
                </a:gridCol>
                <a:gridCol w="7196666">
                  <a:extLst>
                    <a:ext uri="{9D8B030D-6E8A-4147-A177-3AD203B41FA5}">
                      <a16:colId xmlns:a16="http://schemas.microsoft.com/office/drawing/2014/main" val="494548083"/>
                    </a:ext>
                  </a:extLst>
                </a:gridCol>
              </a:tblGrid>
              <a:tr h="6151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Length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(L)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(g0, g1)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Result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23016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45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(18, 21)</a:t>
                      </a:r>
                    </a:p>
                  </a:txBody>
                  <a:tcPr marL="66674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000001101001000100001111010011000100100011101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000000000001101011001100110100111101010101111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28172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47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(24, 24)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00001000011010100011011001001110101001111011111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00001000011010100011011001001110101001111011111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2696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49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(21, 21)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0000010011101010011001011000111100100010100001101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0000000000000111001100110110100101101010100011111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39834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51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(21, 23)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000001011101100101001000101010010001100001100010111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000000000001010100111010011000111001101101001011111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2032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53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(27, 21)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10010110111010111000000110011000000111010111011010011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00000000000011010011100101001011001001110010001010111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965751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(22, 27)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0000100110110000101010001011000100001100001011000111101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0000000000100011110111000110111011001011101011010010111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256244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57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(23, 28)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000001100110110010100010101000110100000111011010000100011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000000000000110110001111010010111010110011110010101101111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7659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59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(30, 30)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01000101011011000100001100000111110011110111001001010111011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01000101011011000100001100000111110011110111001001010111011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318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8976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B8F2-D305-6CB7-774B-6ADBD3D8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1F5425-3923-1E0B-20B9-509C8D0C3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365125"/>
            <a:ext cx="11785600" cy="1346729"/>
          </a:xfrm>
        </p:spPr>
        <p:txBody>
          <a:bodyPr>
            <a:normAutofit/>
          </a:bodyPr>
          <a:lstStyle/>
          <a:p>
            <a:r>
              <a:rPr lang="en-US" altLang="zh-TW" sz="4000">
                <a:solidFill>
                  <a:srgbClr val="FF0000"/>
                </a:solidFill>
                <a:latin typeface="Times New Roman"/>
                <a:ea typeface="新細明體"/>
                <a:cs typeface="Times New Roman"/>
              </a:rPr>
              <a:t>all prime </a:t>
            </a:r>
            <a:r>
              <a:rPr lang="en-US" sz="32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≡ 3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(mod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4)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(ex.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L=999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…) above 60 </a:t>
            </a:r>
          </a:p>
          <a:p>
            <a:endParaRPr lang="en-US" altLang="zh-TW" sz="400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0237083-E372-83B7-1A3F-C5B3D6A546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020102"/>
              </p:ext>
            </p:extLst>
          </p:nvPr>
        </p:nvGraphicFramePr>
        <p:xfrm>
          <a:off x="541867" y="1335647"/>
          <a:ext cx="11408843" cy="53606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7486">
                  <a:extLst>
                    <a:ext uri="{9D8B030D-6E8A-4147-A177-3AD203B41FA5}">
                      <a16:colId xmlns:a16="http://schemas.microsoft.com/office/drawing/2014/main" val="1940900014"/>
                    </a:ext>
                  </a:extLst>
                </a:gridCol>
                <a:gridCol w="1683633">
                  <a:extLst>
                    <a:ext uri="{9D8B030D-6E8A-4147-A177-3AD203B41FA5}">
                      <a16:colId xmlns:a16="http://schemas.microsoft.com/office/drawing/2014/main" val="745645586"/>
                    </a:ext>
                  </a:extLst>
                </a:gridCol>
                <a:gridCol w="8207724">
                  <a:extLst>
                    <a:ext uri="{9D8B030D-6E8A-4147-A177-3AD203B41FA5}">
                      <a16:colId xmlns:a16="http://schemas.microsoft.com/office/drawing/2014/main" val="494548083"/>
                    </a:ext>
                  </a:extLst>
                </a:gridCol>
              </a:tblGrid>
              <a:tr h="6151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Length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(L)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(g0, g1)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Result example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23016"/>
                  </a:ext>
                </a:extLst>
              </a:tr>
              <a:tr h="4334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67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(34, 34)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0110101100111000010100000011011101000100111111010111100011001010011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0110101100111000010100000011011101000100111111010111100011001010011</a:t>
                      </a:r>
                      <a:endParaRPr lang="af-ZA" sz="1400"/>
                    </a:p>
                  </a:txBody>
                  <a:tcPr marL="31432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81840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71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(36, 36)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00000010001011001000111001010010111000101101011000111011001011101111111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effectLst/>
                        </a:rPr>
                        <a:t>00000010001011001000111001010010111000101101011000111011001011101111111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28172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79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(40, 40)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0010011000010110100000010011110011101010101000110000110111111010010111100110111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0010011000010110100000010011110011101010101000110000110111111010010111100110111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2696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83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(42, 42)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01001101000011100111010100000001011000100110111001011111110101000110001111010011011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</a:t>
                      </a: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01001101000011100111010100000001011000100110111001011111110101000110001111010011011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39834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103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(52, 52)</a:t>
                      </a:r>
                    </a:p>
                  </a:txBody>
                  <a:tcPr marL="66674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A: 0010110001110000000111010010001000101011011110110010110010000100101011101110110100011111110001110010111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B:</a:t>
                      </a:r>
                      <a:r>
                        <a:rPr lang="zh-TW" alt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0010110001110000000111010010001000101011011110110010110010000100101011101110110100011111110001110010111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06045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107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(54, 54)</a:t>
                      </a:r>
                    </a:p>
                  </a:txBody>
                  <a:tcPr marL="66674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A: 01001111000000101101110101010011000001000010110001100110011100101111011111001101010100010010111111000011011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B: 01001111000000101101110101010011000001000010110001100110011100101111011111001101010100010010111111000011011</a:t>
                      </a:r>
                      <a:endParaRPr lang="af-ZA" altLang="zh-TW" sz="10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377680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127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(64, 64)</a:t>
                      </a:r>
                    </a:p>
                  </a:txBody>
                  <a:tcPr marL="66674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A: 0010111001010100000100110011100010000011001011010010111111100010111000000010110100101100111110111000110011011111010101100010111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B: 0010111001010100000100110011100010000011001011010010111111100010111000000010110100101100111110111000110011011111010101100010111</a:t>
                      </a:r>
                      <a:endParaRPr lang="af-ZA" altLang="zh-TW" sz="10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623370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131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(66, 66)</a:t>
                      </a:r>
                    </a:p>
                  </a:txBody>
                  <a:tcPr marL="66674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A: 11011101010111011000110001011000011110110101111011001101001111111100000000110100110010000101001000011110010111001110010001010100010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11011101010111011000110001011000011110110101111011001101001111111100000000110100110010000101001000011110010111001110010001010100010</a:t>
                      </a:r>
                      <a:endParaRPr lang="af-ZA" altLang="zh-TW" sz="10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498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6387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40E6-C437-6A82-12C8-9AAF69F01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49D8BD-B1EB-89F3-77E5-FDB47F9A2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365125"/>
            <a:ext cx="11785600" cy="1346729"/>
          </a:xfrm>
        </p:spPr>
        <p:txBody>
          <a:bodyPr>
            <a:normAutofit/>
          </a:bodyPr>
          <a:lstStyle/>
          <a:p>
            <a:r>
              <a:rPr lang="en-US" altLang="zh-TW" sz="4000">
                <a:solidFill>
                  <a:srgbClr val="FF0000"/>
                </a:solidFill>
                <a:latin typeface="Times New Roman"/>
                <a:ea typeface="新細明體"/>
                <a:cs typeface="Times New Roman"/>
              </a:rPr>
              <a:t>all prime </a:t>
            </a:r>
            <a:r>
              <a:rPr lang="en-US" sz="32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≡ 3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(mod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4)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(ex.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L=999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…) above 60 </a:t>
            </a:r>
          </a:p>
          <a:p>
            <a:endParaRPr lang="en-US" altLang="zh-TW" sz="400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F644F63-563E-CEFF-07B2-A47988C58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5944"/>
              </p:ext>
            </p:extLst>
          </p:nvPr>
        </p:nvGraphicFramePr>
        <p:xfrm>
          <a:off x="541867" y="1335647"/>
          <a:ext cx="11408843" cy="547294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7486">
                  <a:extLst>
                    <a:ext uri="{9D8B030D-6E8A-4147-A177-3AD203B41FA5}">
                      <a16:colId xmlns:a16="http://schemas.microsoft.com/office/drawing/2014/main" val="1940900014"/>
                    </a:ext>
                  </a:extLst>
                </a:gridCol>
                <a:gridCol w="1683633">
                  <a:extLst>
                    <a:ext uri="{9D8B030D-6E8A-4147-A177-3AD203B41FA5}">
                      <a16:colId xmlns:a16="http://schemas.microsoft.com/office/drawing/2014/main" val="745645586"/>
                    </a:ext>
                  </a:extLst>
                </a:gridCol>
                <a:gridCol w="8207724">
                  <a:extLst>
                    <a:ext uri="{9D8B030D-6E8A-4147-A177-3AD203B41FA5}">
                      <a16:colId xmlns:a16="http://schemas.microsoft.com/office/drawing/2014/main" val="494548083"/>
                    </a:ext>
                  </a:extLst>
                </a:gridCol>
              </a:tblGrid>
              <a:tr h="6151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Length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(L)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(g0, g1)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Result example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23016"/>
                  </a:ext>
                </a:extLst>
              </a:tr>
              <a:tr h="4334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139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(70, 70)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000" b="0" i="0" u="none" strike="noStrike" noProof="0">
                          <a:effectLst/>
                          <a:latin typeface="+mn-lt"/>
                        </a:rPr>
                        <a:t> 1100111101010100100010001100111100111110011011110101101101000001111101010000011111010010010100001001100000110000110011101110110101010000110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Calibri"/>
                        </a:rPr>
                        <a:t>B: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+mn-lt"/>
                        </a:rPr>
                        <a:t>1100111101010100100010001100111100111110011011110101101101000001111101010000011111010010010100001001100000110000110011101110110101010000110</a:t>
                      </a:r>
                      <a:endParaRPr lang="af-ZA" sz="1000"/>
                    </a:p>
                  </a:txBody>
                  <a:tcPr marL="31432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81840"/>
                  </a:ext>
                </a:extLst>
              </a:tr>
              <a:tr h="4481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151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(76, 76)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000" b="0" i="0" u="none" strike="noStrike" noProof="0">
                          <a:effectLst/>
                          <a:latin typeface="+mn-lt"/>
                        </a:rPr>
                        <a:t>1110110011110000111111100100010110101111101111010110000100110010100011001010101011001110101100110111100101000010000010100101110110000000111100001100100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Calibri"/>
                        </a:rPr>
                        <a:t>B: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+mn-lt"/>
                        </a:rPr>
                        <a:t>1110110011110000111111100100010110101111101111010110000100110010100011001010101011001110101100110111100101000010000010100101110110000000111100001100100</a:t>
                      </a:r>
                      <a:endParaRPr lang="af-ZA" sz="10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28172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163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(82, 82)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1100101001100011100001101110000001111011110100110101011111101110110001010010010001011101101101011100100010000001010100110100001000011111100010011110001110011010110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</a:t>
                      </a:r>
                    </a:p>
                    <a:p>
                      <a:pPr lvl="0" algn="ctr"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1100101001100011100001101110000001111011110100110101011111101110110001010010010001011101101101011100100010000001010100110100001000011111100010011110001110011010110</a:t>
                      </a:r>
                      <a:endParaRPr lang="af-ZA" sz="10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2696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167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(84, 84)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11111011110110101011011011011101110010100010100111100010111001111110000010011100010011011100011011111000000110001011100001101011101011000100010010010010101001000010000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11111011110110101011011011011101110010100010100111100010111001111110000010011100010011011100011011111000000110001011100001101011101011000100010010010010101001000010000</a:t>
                      </a:r>
                      <a:endParaRPr lang="af-ZA" sz="1000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39834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179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(90, 90)</a:t>
                      </a:r>
                    </a:p>
                  </a:txBody>
                  <a:tcPr marL="66674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A: 11011100010011111101101001010101000010010011011111011000110111001111101000111100111101011100010100001100001110100000110001001110010000010011011011110101010110100100000011011100010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altLang="zh-TW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11011100010011111101101001010101000010010011011111011000110111001111101000111100111101011100010100001100001110100000110001001110010000010011011011110101010110100100000011011100010</a:t>
                      </a:r>
                      <a:endParaRPr lang="af-ZA"/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06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7710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27DE-1290-6B32-AE68-33138B1A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276EB-60CA-0C2C-FE1C-497C2223A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365125"/>
            <a:ext cx="11785600" cy="1346729"/>
          </a:xfrm>
        </p:spPr>
        <p:txBody>
          <a:bodyPr>
            <a:normAutofit/>
          </a:bodyPr>
          <a:lstStyle/>
          <a:p>
            <a:r>
              <a:rPr lang="en-US" altLang="zh-TW" sz="4000">
                <a:solidFill>
                  <a:srgbClr val="FF0000"/>
                </a:solidFill>
                <a:latin typeface="Times New Roman"/>
                <a:ea typeface="新細明體"/>
                <a:cs typeface="Times New Roman"/>
              </a:rPr>
              <a:t>all prime </a:t>
            </a:r>
            <a:r>
              <a:rPr lang="en-US" sz="32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≡ 3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(mod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4)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(ex.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L=999</a:t>
            </a:r>
            <a:r>
              <a:rPr lang="zh-TW" altLang="en-US" sz="3200">
                <a:solidFill>
                  <a:srgbClr val="FF0000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altLang="zh-TW" sz="32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…) above 60 </a:t>
            </a:r>
          </a:p>
          <a:p>
            <a:endParaRPr lang="en-US" altLang="zh-TW" sz="400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495CD45-9C68-9C4E-DC49-0F564E712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54726"/>
              </p:ext>
            </p:extLst>
          </p:nvPr>
        </p:nvGraphicFramePr>
        <p:xfrm>
          <a:off x="541867" y="1335647"/>
          <a:ext cx="11408843" cy="45013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17486">
                  <a:extLst>
                    <a:ext uri="{9D8B030D-6E8A-4147-A177-3AD203B41FA5}">
                      <a16:colId xmlns:a16="http://schemas.microsoft.com/office/drawing/2014/main" val="1940900014"/>
                    </a:ext>
                  </a:extLst>
                </a:gridCol>
                <a:gridCol w="1683633">
                  <a:extLst>
                    <a:ext uri="{9D8B030D-6E8A-4147-A177-3AD203B41FA5}">
                      <a16:colId xmlns:a16="http://schemas.microsoft.com/office/drawing/2014/main" val="745645586"/>
                    </a:ext>
                  </a:extLst>
                </a:gridCol>
                <a:gridCol w="8207724">
                  <a:extLst>
                    <a:ext uri="{9D8B030D-6E8A-4147-A177-3AD203B41FA5}">
                      <a16:colId xmlns:a16="http://schemas.microsoft.com/office/drawing/2014/main" val="494548083"/>
                    </a:ext>
                  </a:extLst>
                </a:gridCol>
              </a:tblGrid>
              <a:tr h="6151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Length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(L)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(g0, g1)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Result example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23016"/>
                  </a:ext>
                </a:extLst>
              </a:tr>
              <a:tr h="4334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191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(96, 96)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Calibri"/>
                        </a:rPr>
                        <a:t>A: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+mn-lt"/>
                        </a:rPr>
                        <a:t>11111110111011011110100111110010101010011001011011111010000110001101110010010111110001100010100011101011100111000001011011000100111001111010000010010110011010101011000001101000010010001000000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Calibri"/>
                        </a:rPr>
                        <a:t>B: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+mn-lt"/>
                        </a:rPr>
                        <a:t>11111110111011011110100111110010101010011001011011111010000110001101110010010111110001100010100011101011100111000001011011000100111001111010000010010110011010101011000001101000010010001000000</a:t>
                      </a:r>
                      <a:endParaRPr lang="af-ZA" sz="1000" b="0" i="0" u="none" strike="noStrike" noProof="0">
                        <a:effectLst/>
                        <a:latin typeface="Calibri"/>
                      </a:endParaRPr>
                    </a:p>
                  </a:txBody>
                  <a:tcPr marL="31432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81840"/>
                  </a:ext>
                </a:extLst>
              </a:tr>
              <a:tr h="44810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199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(100, 100)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Calibri"/>
                        </a:rPr>
                        <a:t>A: </a:t>
                      </a:r>
                      <a:r>
                        <a:rPr lang="af-ZA" sz="1000" b="0" i="0" u="none" strike="noStrike" noProof="0">
                          <a:effectLst/>
                          <a:latin typeface="+mn-lt"/>
                        </a:rPr>
                        <a:t>1110110111100110101010010110110111011000100101110111110011100111111000101000000111000010011110100010101110100001101111000111111010111000000110001100000100010110111001000100100101101010100110000100100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Calibri"/>
                        </a:rPr>
                        <a:t>B: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effectLst/>
                          <a:latin typeface="+mn-lt"/>
                        </a:rPr>
                        <a:t>1110110111100110101010010110110111011000100101110111110011100111111000101000000111000010011110100010101110100001101111000111111010111000000110001100000100010110111001000100100101101010100110000100100</a:t>
                      </a:r>
                      <a:endParaRPr lang="af-ZA" sz="1000" b="0" i="0" u="none" strike="noStrike" noProof="0">
                        <a:effectLst/>
                        <a:latin typeface="Calibri"/>
                      </a:endParaRPr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28172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211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(106, 106)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</a:t>
                      </a:r>
                    </a:p>
                    <a:p>
                      <a:pPr lvl="0" algn="ctr"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1100111001010110100111001100001000101100000111110101111110110010111001110100101111111001000001011001110101010100011001011111011000000010110100011000101100100000010100000111110010111011110011000110100101011000110</a:t>
                      </a:r>
                    </a:p>
                    <a:p>
                      <a:pPr lvl="0" algn="ctr"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</a:t>
                      </a:r>
                    </a:p>
                    <a:p>
                      <a:pPr lvl="0" algn="ctr"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1100111001010110100111001100001000101100000111110101111110110010111001110100101111111001000001011001110101010100011001011111011000000010110100011000101100100000010100000111110010111011110011000110100101011000110</a:t>
                      </a:r>
                      <a:endParaRPr lang="af-ZA" sz="10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2696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223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(112, 112)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</a:t>
                      </a: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1110100111000011111100000100111111101111010100010110010110101011111011001110101001110010010000100010110001100110100110011100101110111101101100011010100011001000001010100101100101110101000010000000110111110000001111000110100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1110100111000011111100000100111111101111010100010110010110101011111011001110101001110010010000100010110001100110100110011100101110111101101100011010100011001000001010100101100101110101000010000000110111110000001111000110100</a:t>
                      </a:r>
                      <a:endParaRPr lang="af-ZA" sz="10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314325" marR="66674" marT="28575" marB="28575" anchor="ctr">
                    <a:lnL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000000"/>
                      </a:solidFill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39834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C8B0A38D-02FF-8090-BAA8-F892238CFE36}"/>
              </a:ext>
            </a:extLst>
          </p:cNvPr>
          <p:cNvSpPr txBox="1"/>
          <p:nvPr/>
        </p:nvSpPr>
        <p:spPr>
          <a:xfrm>
            <a:off x="1910354" y="5751594"/>
            <a:ext cx="80433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000" b="1">
                <a:ea typeface="新細明體"/>
                <a:cs typeface="Calibri"/>
              </a:rPr>
              <a:t>.</a:t>
            </a:r>
            <a:br>
              <a:rPr lang="zh-TW" altLang="en-US" sz="2000" b="1">
                <a:ea typeface="新細明體"/>
                <a:cs typeface="Calibri"/>
              </a:rPr>
            </a:br>
            <a:r>
              <a:rPr lang="zh-TW" altLang="en-US" sz="2000" b="1">
                <a:ea typeface="新細明體"/>
                <a:cs typeface="Calibri"/>
              </a:rPr>
              <a:t>.</a:t>
            </a:r>
            <a:br>
              <a:rPr lang="zh-TW" altLang="en-US" sz="2000" b="1">
                <a:ea typeface="新細明體"/>
                <a:cs typeface="Calibri"/>
              </a:rPr>
            </a:br>
            <a:r>
              <a:rPr lang="zh-TW" altLang="en-US" sz="2000" b="1">
                <a:ea typeface="新細明體"/>
                <a:cs typeface="Calibri"/>
              </a:rPr>
              <a:t>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1393323-237D-D3A7-0D78-2B095B4A0929}"/>
              </a:ext>
            </a:extLst>
          </p:cNvPr>
          <p:cNvSpPr txBox="1"/>
          <p:nvPr/>
        </p:nvSpPr>
        <p:spPr>
          <a:xfrm>
            <a:off x="6059394" y="5751594"/>
            <a:ext cx="80433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000" b="1">
                <a:ea typeface="新細明體"/>
                <a:cs typeface="Calibri"/>
              </a:rPr>
              <a:t>.</a:t>
            </a:r>
            <a:br>
              <a:rPr lang="zh-TW" altLang="en-US" sz="2000" b="1">
                <a:ea typeface="新細明體"/>
                <a:cs typeface="Calibri"/>
              </a:rPr>
            </a:br>
            <a:r>
              <a:rPr lang="zh-TW" altLang="en-US" sz="2000" b="1">
                <a:ea typeface="新細明體"/>
                <a:cs typeface="Calibri"/>
              </a:rPr>
              <a:t>.</a:t>
            </a:r>
            <a:br>
              <a:rPr lang="zh-TW" altLang="en-US" sz="2000" b="1">
                <a:ea typeface="新細明體"/>
                <a:cs typeface="Calibri"/>
              </a:rPr>
            </a:br>
            <a:r>
              <a:rPr lang="zh-TW" altLang="en-US" sz="2000" b="1">
                <a:ea typeface="新細明體"/>
                <a:cs typeface="Calibri"/>
              </a:rPr>
              <a:t>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94A1C6-EC3F-7CF2-9F56-F0A46CB2F9E5}"/>
              </a:ext>
            </a:extLst>
          </p:cNvPr>
          <p:cNvSpPr txBox="1"/>
          <p:nvPr/>
        </p:nvSpPr>
        <p:spPr>
          <a:xfrm>
            <a:off x="9835900" y="5751594"/>
            <a:ext cx="80433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000" b="1">
                <a:ea typeface="新細明體"/>
                <a:cs typeface="Calibri"/>
              </a:rPr>
              <a:t>.</a:t>
            </a:r>
            <a:br>
              <a:rPr lang="zh-TW" altLang="en-US" sz="2000" b="1">
                <a:ea typeface="新細明體"/>
                <a:cs typeface="Calibri"/>
              </a:rPr>
            </a:br>
            <a:r>
              <a:rPr lang="zh-TW" altLang="en-US" sz="2000" b="1">
                <a:ea typeface="新細明體"/>
                <a:cs typeface="Calibri"/>
              </a:rPr>
              <a:t>.</a:t>
            </a:r>
            <a:br>
              <a:rPr lang="zh-TW" altLang="en-US" sz="2000" b="1">
                <a:ea typeface="新細明體"/>
                <a:cs typeface="Calibri"/>
              </a:rPr>
            </a:br>
            <a:r>
              <a:rPr lang="zh-TW" altLang="en-US" sz="2000" b="1">
                <a:ea typeface="新細明體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4137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30684-63B8-7CB9-EE0E-0D0BC63D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0E843-242E-589A-470C-E942B4065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EVEN optimal PACP</a:t>
            </a:r>
            <a:endParaRPr lang="zh-TW" altLang="en-US" sz="400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0BC51D-7CAB-DCF4-A90A-3A72D5A00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BA00D-EBA6-ABA0-C407-7E32D7059CDB}"/>
              </a:ext>
            </a:extLst>
          </p:cNvPr>
          <p:cNvSpPr txBox="1"/>
          <p:nvPr/>
        </p:nvSpPr>
        <p:spPr>
          <a:xfrm>
            <a:off x="837283" y="1703931"/>
            <a:ext cx="10485121" cy="2416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altLang="en-US" sz="2800">
                <a:latin typeface="Times New Roman"/>
                <a:ea typeface="游ゴシック"/>
                <a:cs typeface="Calibri"/>
              </a:rPr>
              <a:t>Condition：Let</a:t>
            </a:r>
            <a:r>
              <a:rPr lang="en-US" sz="2800">
                <a:latin typeface="Times New Roman"/>
                <a:ea typeface="Calibri"/>
                <a:cs typeface="Calibri"/>
              </a:rPr>
              <a:t> (a, b)</a:t>
            </a:r>
            <a:r>
              <a:rPr lang="en-US" altLang="ja-JP" sz="2800">
                <a:latin typeface="Times New Roman"/>
                <a:ea typeface="Calibri"/>
                <a:cs typeface="Calibri"/>
              </a:rPr>
              <a:t> be a binary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 </a:t>
            </a:r>
            <a:r>
              <a:rPr lang="en-US" sz="2800">
                <a:latin typeface="Times New Roman"/>
                <a:ea typeface="Calibri"/>
                <a:cs typeface="Calibri"/>
              </a:rPr>
              <a:t>PACP</a:t>
            </a:r>
            <a:r>
              <a:rPr lang="en-US" altLang="ja-JP" sz="2800">
                <a:latin typeface="Times New Roman"/>
                <a:ea typeface="Calibri"/>
                <a:cs typeface="Calibri"/>
              </a:rPr>
              <a:t> of length L</a:t>
            </a:r>
            <a:endParaRPr lang="ja-JP" altLang="en-US" sz="2800">
              <a:latin typeface="Times New Roman"/>
              <a:ea typeface="游ゴシック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latin typeface="Times New Roman"/>
                <a:ea typeface="Calibri"/>
                <a:cs typeface="Calibri"/>
              </a:rPr>
              <a:t> For Even Length </a:t>
            </a:r>
            <a:r>
              <a:rPr lang="en-US" sz="2800" b="1">
                <a:latin typeface="Times New Roman"/>
                <a:ea typeface="Calibri"/>
                <a:cs typeface="Calibri"/>
              </a:rPr>
              <a:t>L</a:t>
            </a:r>
            <a:r>
              <a:rPr lang="en-US" sz="2800">
                <a:latin typeface="Times New Roman"/>
                <a:ea typeface="Calibri"/>
                <a:cs typeface="Calibri"/>
              </a:rPr>
              <a:t>：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latin typeface="Times New Roman"/>
                <a:ea typeface="Calibri"/>
                <a:cs typeface="Calibri"/>
              </a:rPr>
              <a:t>1.</a:t>
            </a:r>
            <a:r>
              <a:rPr lang="en-US" altLang="ja-JP" sz="2800">
                <a:latin typeface="Times New Roman"/>
                <a:ea typeface="Calibri"/>
                <a:cs typeface="Calibri"/>
              </a:rPr>
              <a:t> Zero </a:t>
            </a:r>
            <a:r>
              <a:rPr lang="en-US" altLang="ja-JP" sz="2800" err="1">
                <a:latin typeface="Times New Roman"/>
                <a:ea typeface="Calibri"/>
                <a:cs typeface="Calibri"/>
              </a:rPr>
              <a:t>correaliotn</a:t>
            </a:r>
            <a:r>
              <a:rPr lang="en-US" altLang="ja-JP" sz="2800">
                <a:latin typeface="Times New Roman"/>
                <a:ea typeface="Calibri"/>
                <a:cs typeface="Calibri"/>
              </a:rPr>
              <a:t> zone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 </a:t>
            </a:r>
            <a:r>
              <a:rPr lang="en-US" sz="2800">
                <a:latin typeface="Times New Roman"/>
                <a:ea typeface="Calibri"/>
                <a:cs typeface="Calibri"/>
              </a:rPr>
              <a:t>(ZCZ)</a:t>
            </a:r>
            <a:r>
              <a:rPr lang="en-US" altLang="ja-JP" sz="2800">
                <a:latin typeface="Times New Roman"/>
                <a:ea typeface="Calibri"/>
                <a:cs typeface="Calibri"/>
              </a:rPr>
              <a:t> is </a:t>
            </a:r>
            <a:r>
              <a:rPr lang="en-US" sz="2800">
                <a:latin typeface="Times New Roman"/>
                <a:ea typeface="Calibri"/>
                <a:cs typeface="Calibri"/>
              </a:rPr>
              <a:t>L/2.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>
                <a:latin typeface="Times New Roman"/>
                <a:ea typeface="Calibri"/>
                <a:cs typeface="Calibri"/>
              </a:rPr>
              <a:t>2.</a:t>
            </a:r>
            <a:r>
              <a:rPr lang="en-US" altLang="ja-JP" sz="2800">
                <a:latin typeface="Times New Roman"/>
                <a:ea typeface="Calibri"/>
                <a:cs typeface="Calibri"/>
              </a:rPr>
              <a:t> At the time shift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 </a:t>
            </a:r>
            <a:r>
              <a:rPr lang="en-US" sz="2800">
                <a:latin typeface="Times New Roman"/>
                <a:ea typeface="Calibri"/>
                <a:cs typeface="Calibri"/>
              </a:rPr>
              <a:t>u = L/2</a:t>
            </a:r>
            <a:r>
              <a:rPr lang="en-US" altLang="ja-JP" sz="2800">
                <a:latin typeface="Times New Roman"/>
                <a:ea typeface="Calibri"/>
                <a:cs typeface="Calibri"/>
              </a:rPr>
              <a:t> , 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the magnitue of the periodic autocorrelation sum equals </a:t>
            </a:r>
            <a:r>
              <a:rPr lang="en-US" sz="2800">
                <a:latin typeface="Times New Roman"/>
                <a:ea typeface="Calibri"/>
                <a:cs typeface="Calibri"/>
              </a:rPr>
              <a:t>4.</a:t>
            </a:r>
            <a:endParaRPr lang="en-US">
              <a:latin typeface="Times New Roman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EFA6A9-DFC0-FF0A-4373-7711E0BB3C20}"/>
              </a:ext>
            </a:extLst>
          </p:cNvPr>
          <p:cNvGrpSpPr/>
          <p:nvPr/>
        </p:nvGrpSpPr>
        <p:grpSpPr>
          <a:xfrm>
            <a:off x="748552" y="4397643"/>
            <a:ext cx="8951259" cy="1231106"/>
            <a:chOff x="748552" y="4397643"/>
            <a:chExt cx="8951259" cy="1231106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DD7BAAD7-7024-1434-40CE-23E0B41FC5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552" y="4398328"/>
              <a:ext cx="8951259" cy="1045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9025DF5-0FC3-0B71-A16A-F909A0E54183}"/>
                </a:ext>
              </a:extLst>
            </p:cNvPr>
            <p:cNvSpPr txBox="1"/>
            <p:nvPr/>
          </p:nvSpPr>
          <p:spPr>
            <a:xfrm>
              <a:off x="1091338" y="4397643"/>
              <a:ext cx="8258012" cy="123110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latin typeface="Times New Roman"/>
                  <a:cs typeface="Times New Roman"/>
                </a:rPr>
                <a:t>Meeting both of the above conditions constitutes an "Optimal" PACP.</a:t>
              </a:r>
            </a:p>
            <a:p>
              <a:pPr algn="l"/>
              <a:endParaRPr lang="en-US"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7288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C2064-78CF-661B-34DF-B113BC9B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2E6DF1-ED9A-BA66-F0A5-9A5EC9354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EVEN optimal PACP</a:t>
            </a:r>
            <a:endParaRPr lang="zh-TW" altLang="en-US" sz="4000">
              <a:latin typeface="Times New Roman"/>
              <a:ea typeface="新細明體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21E9DF-CCBC-E54C-2377-ECE8D7758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52" y="4908480"/>
            <a:ext cx="9377462" cy="109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F2E673-5363-2E92-2664-E7E9ACD38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DD3F72-E527-1981-2AC9-FC301795CB4C}"/>
              </a:ext>
            </a:extLst>
          </p:cNvPr>
          <p:cNvSpPr txBox="1"/>
          <p:nvPr/>
        </p:nvSpPr>
        <p:spPr>
          <a:xfrm>
            <a:off x="837283" y="1536033"/>
            <a:ext cx="10233274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latin typeface="Times New Roman"/>
                <a:ea typeface="游ゴシック"/>
                <a:cs typeface="Calibri"/>
              </a:rPr>
              <a:t>Necessary condition：For an optimal binary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PACP </a:t>
            </a:r>
            <a:r>
              <a:rPr lang="en-US" altLang="ja-JP" sz="2800" i="1">
                <a:latin typeface="Times New Roman"/>
                <a:ea typeface="游ゴシック"/>
                <a:cs typeface="Calibri"/>
              </a:rPr>
              <a:t>(a, b)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of</a:t>
            </a:r>
            <a:r>
              <a:rPr lang="en-US" altLang="ja-JP" sz="2800" i="1">
                <a:latin typeface="Times New Roman"/>
                <a:ea typeface="游ゴシック"/>
                <a:cs typeface="Calibri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even length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, the following condition must hold：</a:t>
            </a:r>
            <a:endParaRPr lang="en-US" altLang="ja-JP" sz="2800">
              <a:latin typeface="Times New Roman"/>
              <a:ea typeface="游ゴシック"/>
              <a:cs typeface="Calibri"/>
            </a:endParaRPr>
          </a:p>
          <a:p>
            <a:r>
              <a:rPr lang="en-US" altLang="ja-JP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L ± 2 = (g₀ - g₁)² + (L</a:t>
            </a:r>
            <a:r>
              <a:rPr lang="ja-JP" altLang="en-US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 </a:t>
            </a:r>
            <a:r>
              <a:rPr lang="en-US" altLang="ja-JP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-</a:t>
            </a:r>
            <a:r>
              <a:rPr lang="ja-JP" altLang="en-US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 </a:t>
            </a:r>
            <a:r>
              <a:rPr lang="en-US" altLang="ja-JP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g</a:t>
            </a:r>
            <a:r>
              <a:rPr lang="ja-JP" altLang="en-US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₀ </a:t>
            </a:r>
            <a:r>
              <a:rPr lang="en-US" altLang="ja-JP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-</a:t>
            </a:r>
            <a:r>
              <a:rPr lang="ja-JP" altLang="en-US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 </a:t>
            </a:r>
            <a:r>
              <a:rPr lang="en-US" altLang="ja-JP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g</a:t>
            </a:r>
            <a:r>
              <a:rPr lang="ja-JP" altLang="en-US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₁</a:t>
            </a:r>
            <a:r>
              <a:rPr lang="en-US" altLang="ja-JP" sz="2800">
                <a:highlight>
                  <a:srgbClr val="FFFF00"/>
                </a:highlight>
                <a:latin typeface="Calibri"/>
                <a:ea typeface="游ゴシック"/>
                <a:cs typeface="Calibri"/>
              </a:rPr>
              <a:t>)²</a:t>
            </a:r>
            <a:endParaRPr lang="en-US" sz="2800">
              <a:highlight>
                <a:srgbClr val="FFFF00"/>
              </a:highlight>
              <a:latin typeface="Calibri"/>
              <a:ea typeface="游ゴシック"/>
              <a:cs typeface="Calibri"/>
            </a:endParaRPr>
          </a:p>
          <a:p>
            <a:r>
              <a:rPr lang="en-US" altLang="ja-JP" sz="2800">
                <a:latin typeface="Calibri"/>
                <a:ea typeface="游ゴシック"/>
                <a:cs typeface="Calibri"/>
              </a:rPr>
              <a:t>(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where 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g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₀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,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g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₁  denote the number of ones in </a:t>
            </a:r>
            <a:r>
              <a:rPr lang="ja-JP" altLang="en-US" sz="2800" i="1">
                <a:latin typeface="Times New Roman"/>
                <a:ea typeface="游ゴシック"/>
                <a:cs typeface="Calibri"/>
              </a:rPr>
              <a:t>a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 and </a:t>
            </a:r>
            <a:r>
              <a:rPr lang="ja-JP" altLang="en-US" sz="2800" i="1">
                <a:latin typeface="Times New Roman"/>
                <a:ea typeface="游ゴシック"/>
                <a:cs typeface="Calibri"/>
              </a:rPr>
              <a:t>b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)</a:t>
            </a:r>
            <a:endParaRPr lang="ja-JP" altLang="en-US" sz="2800">
              <a:latin typeface="Times New Roman"/>
              <a:ea typeface="游ゴシック"/>
              <a:cs typeface="Calibri"/>
            </a:endParaRPr>
          </a:p>
          <a:p>
            <a:r>
              <a:rPr lang="ja-JP" altLang="en-US" sz="2800">
                <a:latin typeface="Times New Roman"/>
                <a:ea typeface="游ゴシック"/>
                <a:cs typeface="Calibri"/>
              </a:rPr>
              <a:t>For L &lt; 100, no optimal binary 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PACP exists for the following lengths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：</a:t>
            </a:r>
          </a:p>
          <a:p>
            <a:r>
              <a:rPr lang="en-US" altLang="ja-JP" sz="2800">
                <a:latin typeface="Times New Roman"/>
                <a:ea typeface="游ゴシック"/>
                <a:cs typeface="Calibri"/>
              </a:rPr>
              <a:t>14,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22,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44,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46, 58, 68, 86, 90,</a:t>
            </a:r>
            <a:r>
              <a:rPr lang="ja-JP" altLang="en-US" sz="2800">
                <a:latin typeface="Times New Roman"/>
                <a:ea typeface="游ゴシック"/>
                <a:cs typeface="Calibri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Calibri"/>
              </a:rPr>
              <a:t>94</a:t>
            </a:r>
            <a:endParaRPr lang="ja-JP" altLang="en-US" sz="2800">
              <a:latin typeface="Times New Roman"/>
              <a:ea typeface="游ゴシック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63A1D5-15DE-E797-E93C-F620C5552C98}"/>
              </a:ext>
            </a:extLst>
          </p:cNvPr>
          <p:cNvSpPr txBox="1"/>
          <p:nvPr/>
        </p:nvSpPr>
        <p:spPr>
          <a:xfrm>
            <a:off x="916982" y="4907796"/>
            <a:ext cx="9032928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800">
                <a:latin typeface="Times New Roman"/>
                <a:ea typeface="游ゴシック"/>
                <a:cs typeface="Times New Roman"/>
              </a:rPr>
              <a:t>This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condition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can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be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used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to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quickly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filter out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and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exclude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inappropriate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sequence</a:t>
            </a:r>
            <a:r>
              <a:rPr lang="ja-JP" altLang="en-US" sz="28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800">
                <a:latin typeface="Times New Roman"/>
                <a:ea typeface="游ゴシック"/>
                <a:cs typeface="Times New Roman"/>
              </a:rPr>
              <a:t>lengths.</a:t>
            </a:r>
            <a:endParaRPr lang="en-US" sz="2800">
              <a:latin typeface="Times New Roman"/>
              <a:ea typeface="游ゴシック"/>
              <a:cs typeface="Times New Roman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72841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594A-D899-2C9E-E266-70592E94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B41FB3-E333-FCF3-54E4-AD87AB6B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319" y="386098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Permutation Pair(s) with necessary condition</a:t>
            </a:r>
            <a:endParaRPr lang="zh-TW" altLang="en-US" sz="400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F57D92-5581-791F-66E8-A2B68B4E2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5C5FAAB7-966A-A703-319C-11A4D94A5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570158"/>
              </p:ext>
            </p:extLst>
          </p:nvPr>
        </p:nvGraphicFramePr>
        <p:xfrm>
          <a:off x="749600" y="1596597"/>
          <a:ext cx="4387976" cy="451605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8509">
                  <a:extLst>
                    <a:ext uri="{9D8B030D-6E8A-4147-A177-3AD203B41FA5}">
                      <a16:colId xmlns:a16="http://schemas.microsoft.com/office/drawing/2014/main" val="1940900014"/>
                    </a:ext>
                  </a:extLst>
                </a:gridCol>
                <a:gridCol w="1929467">
                  <a:extLst>
                    <a:ext uri="{9D8B030D-6E8A-4147-A177-3AD203B41FA5}">
                      <a16:colId xmlns:a16="http://schemas.microsoft.com/office/drawing/2014/main" val="745645586"/>
                    </a:ext>
                  </a:extLst>
                </a:gridCol>
              </a:tblGrid>
              <a:tr h="6151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Length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(L)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(g0, g1)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23016"/>
                  </a:ext>
                </a:extLst>
              </a:tr>
              <a:tr h="4334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endParaRPr lang="zh-TW" altLang="en-US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(10, 9)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81840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(11, 12)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28172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(15, 11)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2696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(15, 12)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39834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(14, 14)、(17, 13)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2032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(17, 14)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965751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(16, 16)、(17, 15)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256244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42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(19, 17)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7659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48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(21, 20)、(24, 19)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318381"/>
                  </a:ext>
                </a:extLst>
              </a:tr>
            </a:tbl>
          </a:graphicData>
        </a:graphic>
      </p:graphicFrame>
      <p:pic>
        <p:nvPicPr>
          <p:cNvPr id="3" name="Picture 2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FBBEA4E2-6BC4-248C-38F9-16C0E30B9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923" y="3247270"/>
            <a:ext cx="5496821" cy="28774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C2AC09-67BC-FF24-BFD3-D820B1302E43}"/>
              </a:ext>
            </a:extLst>
          </p:cNvPr>
          <p:cNvSpPr txBox="1"/>
          <p:nvPr/>
        </p:nvSpPr>
        <p:spPr>
          <a:xfrm>
            <a:off x="5549504" y="1595757"/>
            <a:ext cx="4944532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b="1">
                <a:latin typeface="Times New Roman"/>
                <a:ea typeface="Calibri"/>
                <a:cs typeface="Calibri"/>
              </a:rPr>
              <a:t>濾除同構組合: </a:t>
            </a:r>
            <a:r>
              <a:rPr lang="ja-JP" altLang="en-US" sz="2000">
                <a:latin typeface="Times New Roman"/>
                <a:ea typeface="Calibri"/>
                <a:cs typeface="Calibri"/>
              </a:rPr>
              <a:t>ex. L = 28  (g0, g1) = (11, 12)</a:t>
            </a:r>
          </a:p>
          <a:p>
            <a:r>
              <a:rPr lang="ja-JP" altLang="en-US" b="1">
                <a:latin typeface="Times New Roman"/>
                <a:ea typeface="游ゴシック"/>
                <a:cs typeface="Times New Roman"/>
              </a:rPr>
              <a:t>等效</a:t>
            </a:r>
            <a:r>
              <a:rPr lang="ja-JP" b="1">
                <a:latin typeface="Times New Roman"/>
                <a:ea typeface="游ゴシック"/>
                <a:cs typeface="Times New Roman"/>
              </a:rPr>
              <a:t>組合:</a:t>
            </a:r>
          </a:p>
          <a:p>
            <a:r>
              <a:rPr lang="ja-JP" altLang="en-US" b="1">
                <a:latin typeface="Times New Roman"/>
                <a:ea typeface="游ゴシック"/>
                <a:cs typeface="Times New Roman"/>
              </a:rPr>
              <a:t>(1)序列變號: 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(11, 1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6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) (1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7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, 12) (1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7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, 1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6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)</a:t>
            </a:r>
          </a:p>
          <a:p>
            <a:r>
              <a:rPr lang="ja-JP" altLang="en-US" b="1">
                <a:latin typeface="Times New Roman"/>
                <a:ea typeface="游ゴシック"/>
                <a:cs typeface="Times New Roman"/>
              </a:rPr>
              <a:t>(2) A, B對調: 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(1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6,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11) (12,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17)</a:t>
            </a:r>
            <a:r>
              <a:rPr lang="ja-JP" altLang="en-US" sz="20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(16,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17)</a:t>
            </a:r>
            <a:r>
              <a:rPr lang="ja-JP" altLang="en-US" sz="2000">
                <a:latin typeface="Times New Roman"/>
                <a:ea typeface="游ゴシック"/>
                <a:cs typeface="Times New Roman"/>
              </a:rPr>
              <a:t> 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(12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, 1</a:t>
            </a:r>
            <a:r>
              <a:rPr lang="en-US" altLang="ja-JP" sz="2000">
                <a:latin typeface="Times New Roman"/>
                <a:ea typeface="游ゴシック"/>
                <a:cs typeface="Times New Roman"/>
              </a:rPr>
              <a:t>1</a:t>
            </a:r>
            <a:r>
              <a:rPr lang="ja-JP" sz="2000">
                <a:latin typeface="Times New Roman"/>
                <a:ea typeface="游ゴシック"/>
                <a:cs typeface="Times New Roman"/>
              </a:rPr>
              <a:t>)</a:t>
            </a:r>
            <a:endParaRPr lang="ja-JP" altLang="en-US" b="1">
              <a:latin typeface="Times New Roman"/>
              <a:ea typeface="游ゴシック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11840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94B80-DB0E-114F-FCA0-10E92670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0B7356-D668-8FD0-EBE3-EA2BC17BA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EVEN optimal PACP-Parameter Setup</a:t>
            </a:r>
            <a:endParaRPr lang="en-US" altLang="zh-TW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5507FFC-4F3E-2839-EAAF-55F59498E3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296" y="5520629"/>
            <a:ext cx="8951259" cy="104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24D9C-C8A3-0DAE-5FA6-0CBA97C9CE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58699-B626-27B1-0C39-15F4B0F4EADA}"/>
              </a:ext>
            </a:extLst>
          </p:cNvPr>
          <p:cNvSpPr txBox="1"/>
          <p:nvPr/>
        </p:nvSpPr>
        <p:spPr>
          <a:xfrm>
            <a:off x="1381932" y="1542103"/>
            <a:ext cx="589540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BATCH_SIZE_A = 30000</a:t>
            </a:r>
          </a:p>
          <a:p>
            <a:r>
              <a:rPr lang="en-US">
                <a:ea typeface="Calibri"/>
                <a:cs typeface="Calibri"/>
              </a:rPr>
              <a:t>FILTER_BOUND = 8</a:t>
            </a:r>
          </a:p>
          <a:p>
            <a:r>
              <a:rPr lang="en-US">
                <a:ea typeface="Calibri"/>
                <a:cs typeface="Calibri"/>
              </a:rPr>
              <a:t>B_SEARCH_LIMIT = 100000000</a:t>
            </a:r>
            <a:endParaRPr lang="en-US"/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       FILTER BOUND</a:t>
            </a:r>
            <a:r>
              <a:rPr lang="zh-TW" altLang="en-US">
                <a:ea typeface="Calibri"/>
                <a:cs typeface="Calibri"/>
              </a:rPr>
              <a:t>設定</a:t>
            </a:r>
            <a:endParaRPr lang="en-US">
              <a:ea typeface="Calibri"/>
              <a:cs typeface="Calibri"/>
            </a:endParaRPr>
          </a:p>
          <a:p>
            <a:r>
              <a:rPr lang="zh-TW" altLang="en-US">
                <a:ea typeface="Calibri"/>
                <a:cs typeface="Calibri"/>
              </a:rPr>
              <a:t>FILTER BOUND</a:t>
            </a:r>
            <a:r>
              <a:rPr lang="zh-TW" altLang="en-US">
                <a:ea typeface="DFKai-SB"/>
                <a:cs typeface="Calibri"/>
              </a:rPr>
              <a:t>愈大</a:t>
            </a:r>
            <a:r>
              <a:rPr lang="zh-TW" altLang="en-US">
                <a:ea typeface="Calibri"/>
                <a:cs typeface="Calibri"/>
              </a:rPr>
              <a:t> </a:t>
            </a:r>
          </a:p>
          <a:p>
            <a:r>
              <a:rPr lang="zh-TW" altLang="en-US">
                <a:ea typeface="Calibri"/>
                <a:cs typeface="Calibri"/>
              </a:rPr>
              <a:t>=&gt; high searching range</a:t>
            </a:r>
          </a:p>
          <a:p>
            <a:r>
              <a:rPr lang="zh-TW" altLang="en-US">
                <a:ea typeface="Calibri"/>
                <a:cs typeface="Calibri"/>
              </a:rPr>
              <a:t>=&gt; high searching complexity</a:t>
            </a:r>
            <a:endParaRPr lang="zh-TW"/>
          </a:p>
          <a:p>
            <a:endParaRPr lang="zh-TW" altLang="en-US">
              <a:ea typeface="新細明體"/>
              <a:cs typeface="Calibri"/>
            </a:endParaRPr>
          </a:p>
          <a:p>
            <a:r>
              <a:rPr lang="zh-TW">
                <a:ea typeface="新細明體"/>
                <a:cs typeface="Calibri"/>
              </a:rPr>
              <a:t>FILTER BOUND</a:t>
            </a:r>
            <a:r>
              <a:rPr lang="zh-TW">
                <a:latin typeface="Calibri Light"/>
                <a:ea typeface="DFKai-SB"/>
                <a:cs typeface="Calibri"/>
              </a:rPr>
              <a:t>愈</a:t>
            </a:r>
            <a:r>
              <a:rPr lang="zh-TW" altLang="en-US">
                <a:latin typeface="Calibri Light"/>
                <a:ea typeface="DFKai-SB"/>
                <a:cs typeface="Calibri"/>
              </a:rPr>
              <a:t>小</a:t>
            </a:r>
          </a:p>
          <a:p>
            <a:r>
              <a:rPr lang="zh-TW">
                <a:latin typeface="Calibri"/>
                <a:ea typeface="DFKai-SB"/>
                <a:cs typeface="Calibri"/>
              </a:rPr>
              <a:t>=&gt; </a:t>
            </a:r>
            <a:r>
              <a:rPr lang="en-US" altLang="zh-TW">
                <a:latin typeface="Calibri"/>
                <a:ea typeface="DFKai-SB"/>
                <a:cs typeface="Calibri"/>
              </a:rPr>
              <a:t>low</a:t>
            </a:r>
            <a:r>
              <a:rPr lang="zh-TW" altLang="en-US">
                <a:latin typeface="Calibri"/>
                <a:ea typeface="DFKai-SB"/>
                <a:cs typeface="Calibri"/>
              </a:rPr>
              <a:t> searching range</a:t>
            </a:r>
          </a:p>
          <a:p>
            <a:r>
              <a:rPr lang="zh-TW">
                <a:latin typeface="Calibri"/>
                <a:ea typeface="DFKai-SB"/>
                <a:cs typeface="Calibri"/>
              </a:rPr>
              <a:t>=&gt; </a:t>
            </a:r>
            <a:r>
              <a:rPr lang="en-US" altLang="zh-TW">
                <a:latin typeface="Calibri"/>
                <a:ea typeface="DFKai-SB"/>
                <a:cs typeface="Calibri"/>
              </a:rPr>
              <a:t>filter out many PACPs</a:t>
            </a:r>
            <a:endParaRPr lang="en-US" altLang="zh-TW">
              <a:ea typeface="DFKai-SB"/>
              <a:cs typeface="Calibri"/>
            </a:endParaRPr>
          </a:p>
          <a:p>
            <a:endParaRPr lang="en-US" altLang="zh-TW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Ex: L48  (g0,g1)</a:t>
            </a:r>
            <a:r>
              <a:rPr lang="en-US" altLang="ja-JP">
                <a:ea typeface="Calibri"/>
                <a:cs typeface="Calibri"/>
              </a:rPr>
              <a:t> </a:t>
            </a:r>
            <a:r>
              <a:rPr lang="ja-JP" altLang="en-US" b="1">
                <a:ea typeface="Calibri"/>
                <a:cs typeface="Calibri"/>
              </a:rPr>
              <a:t>運算結果</a:t>
            </a:r>
            <a:endParaRPr lang="en-US" b="1">
              <a:ea typeface="Calibri"/>
              <a:cs typeface="Calibri"/>
            </a:endParaRP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754CB77-9C68-4A3E-CA51-5C3251E29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708" y="3018530"/>
            <a:ext cx="5302739" cy="2325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5878E5-629F-A154-B56E-DB8CC184E614}"/>
              </a:ext>
            </a:extLst>
          </p:cNvPr>
          <p:cNvSpPr txBox="1"/>
          <p:nvPr/>
        </p:nvSpPr>
        <p:spPr>
          <a:xfrm>
            <a:off x="1701943" y="5856570"/>
            <a:ext cx="429325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b="1">
                <a:latin typeface="DFKai-SB"/>
                <a:ea typeface="游ゴシック"/>
                <a:cs typeface="Calibri"/>
              </a:rPr>
              <a:t>依序搜尋不同(g0, g1) 的組合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7773EDE-FE02-27D0-6E5B-E678723549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777" y="1279281"/>
            <a:ext cx="5549574" cy="1733388"/>
          </a:xfrm>
          <a:prstGeom prst="rect">
            <a:avLst/>
          </a:prstGeom>
        </p:spPr>
      </p:pic>
      <p:sp>
        <p:nvSpPr>
          <p:cNvPr id="9" name="星形: 五角 8">
            <a:extLst>
              <a:ext uri="{FF2B5EF4-FFF2-40B4-BE49-F238E27FC236}">
                <a16:creationId xmlns:a16="http://schemas.microsoft.com/office/drawing/2014/main" id="{A76F9436-3310-FC0C-FA06-E74ED83E60A2}"/>
              </a:ext>
            </a:extLst>
          </p:cNvPr>
          <p:cNvSpPr/>
          <p:nvPr/>
        </p:nvSpPr>
        <p:spPr>
          <a:xfrm>
            <a:off x="1522282" y="2723617"/>
            <a:ext cx="181337" cy="181339"/>
          </a:xfrm>
          <a:prstGeom prst="star5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630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A103E-37C8-080C-5EFE-51FFB06B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F99F3E-E149-7D9B-0860-35EA7090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EVEN optimal PACP - </a:t>
            </a:r>
            <a:r>
              <a:rPr lang="en-US" sz="4000">
                <a:latin typeface="Times New Roman"/>
                <a:cs typeface="Times New Roman"/>
              </a:rPr>
              <a:t>Gosper's Hack</a:t>
            </a:r>
            <a:endParaRPr lang="en-US" sz="4000">
              <a:latin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A32357B-C72B-20D6-A9B5-497FD4A52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54" y="1451993"/>
            <a:ext cx="7775971" cy="104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874AD-3B39-62B7-656A-D3D58749C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84DE6-0D10-2D5E-8ED4-269084A9D945}"/>
              </a:ext>
            </a:extLst>
          </p:cNvPr>
          <p:cNvSpPr txBox="1"/>
          <p:nvPr/>
        </p:nvSpPr>
        <p:spPr>
          <a:xfrm>
            <a:off x="335797" y="1452966"/>
            <a:ext cx="7503762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100" b="1" cap="all">
                <a:solidFill>
                  <a:srgbClr val="3498DB"/>
                </a:solidFill>
                <a:latin typeface="Times New Roman"/>
                <a:ea typeface="DFKai-SB"/>
                <a:cs typeface="Times New Roman"/>
              </a:rPr>
              <a:t>用於搜尋空間生成</a:t>
            </a:r>
            <a:r>
              <a:rPr lang="en-US" sz="2100" b="1" cap="all">
                <a:solidFill>
                  <a:srgbClr val="3498DB"/>
                </a:solidFill>
                <a:latin typeface="Times New Roman"/>
                <a:ea typeface="DFKai-SB"/>
                <a:cs typeface="Times New Roman"/>
              </a:rPr>
              <a:t> (Generation)</a:t>
            </a:r>
            <a:r>
              <a:rPr lang="en-US" sz="2100" cap="all">
                <a:solidFill>
                  <a:srgbClr val="333333"/>
                </a:solidFill>
                <a:latin typeface="Times New Roman"/>
                <a:ea typeface="DFKai-SB"/>
                <a:cs typeface="Times New Roman"/>
              </a:rPr>
              <a:t> </a:t>
            </a:r>
            <a:br>
              <a:rPr lang="en-US" sz="2100" cap="all">
                <a:latin typeface="Times New Roman"/>
                <a:cs typeface="Times New Roman"/>
              </a:rPr>
            </a:br>
            <a:r>
              <a:rPr lang="ja-JP" altLang="en-US" sz="2100" cap="all">
                <a:solidFill>
                  <a:srgbClr val="333333"/>
                </a:solidFill>
                <a:latin typeface="Times New Roman"/>
                <a:ea typeface="游ゴシック"/>
                <a:cs typeface="Times New Roman"/>
              </a:rPr>
              <a:t>用於高效生成下一個</a:t>
            </a:r>
            <a:r>
              <a:rPr lang="en-US" sz="2100" cap="all">
                <a:solidFill>
                  <a:srgbClr val="333333"/>
                </a:solidFill>
                <a:latin typeface="Times New Roman"/>
                <a:ea typeface="DFKai-SB"/>
                <a:cs typeface="Times New Roman"/>
              </a:rPr>
              <a:t>「</a:t>
            </a:r>
            <a:r>
              <a:rPr lang="ja-JP" altLang="en-US" sz="2100" cap="all">
                <a:solidFill>
                  <a:srgbClr val="333333"/>
                </a:solidFill>
                <a:latin typeface="Times New Roman"/>
                <a:ea typeface="游ゴシック"/>
                <a:cs typeface="Times New Roman"/>
              </a:rPr>
              <a:t>具有相同位元數</a:t>
            </a:r>
            <a:r>
              <a:rPr lang="en-US" sz="2100" cap="all">
                <a:solidFill>
                  <a:srgbClr val="333333"/>
                </a:solidFill>
                <a:latin typeface="Times New Roman"/>
                <a:ea typeface="DFKai-SB"/>
                <a:cs typeface="Times New Roman"/>
              </a:rPr>
              <a:t> (Same Bit Count)」</a:t>
            </a:r>
            <a:r>
              <a:rPr lang="ja-JP" altLang="en-US" sz="2100" cap="all">
                <a:solidFill>
                  <a:srgbClr val="333333"/>
                </a:solidFill>
                <a:latin typeface="Times New Roman"/>
                <a:ea typeface="游ゴシック"/>
                <a:cs typeface="Times New Roman"/>
              </a:rPr>
              <a:t>的組合</a:t>
            </a:r>
            <a:r>
              <a:rPr lang="en-US" sz="2100" cap="all">
                <a:solidFill>
                  <a:srgbClr val="333333"/>
                </a:solidFill>
                <a:latin typeface="Times New Roman"/>
                <a:ea typeface="DFKai-SB"/>
                <a:cs typeface="Times New Roman"/>
              </a:rPr>
              <a:t>。</a:t>
            </a:r>
            <a:endParaRPr lang="en-US" sz="3200">
              <a:latin typeface="Times"/>
              <a:ea typeface="DFKai-SB"/>
              <a:cs typeface="Times"/>
            </a:endParaRPr>
          </a:p>
        </p:txBody>
      </p:sp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96E98F4C-4248-C56F-9A4D-3823B3DB2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3719" y="1451191"/>
            <a:ext cx="4033273" cy="3367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C51BDD-DBC6-6D7E-27AF-1BF7BA25D3A2}"/>
              </a:ext>
            </a:extLst>
          </p:cNvPr>
          <p:cNvSpPr txBox="1"/>
          <p:nvPr/>
        </p:nvSpPr>
        <p:spPr>
          <a:xfrm>
            <a:off x="8163448" y="2006189"/>
            <a:ext cx="3871140" cy="25327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1800" b="1" i="0" u="none" strike="noStrike" baseline="0">
                <a:solidFill>
                  <a:srgbClr val="ECF0F1"/>
                </a:solidFill>
                <a:latin typeface="Times New Roman"/>
                <a:ea typeface="Segoe UI"/>
                <a:cs typeface="Segoe UI"/>
              </a:rPr>
              <a:t>// Gosper's Hack 核心邏輯</a:t>
            </a:r>
            <a:r>
              <a:rPr lang="en-US" sz="1800" b="1" i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​</a:t>
            </a:r>
            <a:endParaRPr lang="en-US" b="1">
              <a:ea typeface="Calibri"/>
              <a:cs typeface="Calibri"/>
            </a:endParaRPr>
          </a:p>
          <a:p>
            <a:pPr algn="l" rtl="0">
              <a:lnSpc>
                <a:spcPct val="150000"/>
              </a:lnSpc>
            </a:pPr>
            <a:r>
              <a:rPr lang="en-US" sz="1800" b="0" i="0" u="none" strike="noStrike" baseline="0">
                <a:solidFill>
                  <a:srgbClr val="ECF0F1"/>
                </a:solidFill>
                <a:latin typeface="Times New Roman"/>
                <a:ea typeface="Segoe UI"/>
                <a:cs typeface="Segoe UI"/>
              </a:rPr>
              <a:t> unsigned __int128 c = k_b &amp; -k_b; </a:t>
            </a:r>
            <a:r>
              <a:rPr lang="en-US" sz="1800" b="0" i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n-US" sz="1800" b="0" i="0" u="none" strike="noStrike" baseline="0">
                <a:solidFill>
                  <a:srgbClr val="ECF0F1"/>
                </a:solidFill>
                <a:latin typeface="Times New Roman"/>
                <a:ea typeface="Segoe UI"/>
                <a:cs typeface="Segoe UI"/>
              </a:rPr>
              <a:t>unsigned __int128 r = k_b + c; </a:t>
            </a:r>
            <a:r>
              <a:rPr lang="en-US" sz="1800" b="0" i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l" rtl="0">
              <a:lnSpc>
                <a:spcPct val="150000"/>
              </a:lnSpc>
            </a:pPr>
            <a:r>
              <a:rPr lang="en-US" sz="1800" b="0" i="0" u="none" strike="noStrike" baseline="0">
                <a:solidFill>
                  <a:srgbClr val="ECF0F1"/>
                </a:solidFill>
                <a:latin typeface="Times New Roman"/>
                <a:ea typeface="Segoe UI"/>
                <a:cs typeface="Segoe UI"/>
              </a:rPr>
              <a:t>k_b = (((k_b ^ r) &gt;&gt; 2) / c) | r;</a:t>
            </a:r>
            <a:r>
              <a:rPr lang="en-US" sz="1800" b="0" i="0">
                <a:solidFill>
                  <a:srgbClr val="FFFFFF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>
              <a:lnSpc>
                <a:spcPct val="150000"/>
              </a:lnSpc>
            </a:pPr>
            <a:r>
              <a:rPr lang="en-US">
                <a:solidFill>
                  <a:srgbClr val="FFFFFF"/>
                </a:solidFill>
                <a:latin typeface="Times New Roman"/>
                <a:ea typeface="Calibri" panose="020F0502020204030204"/>
                <a:cs typeface="Segoe UI"/>
              </a:rPr>
              <a:t>Gosper's Hack </a:t>
            </a:r>
            <a:r>
              <a:rPr lang="ja-JP" altLang="en-US" b="1">
                <a:solidFill>
                  <a:srgbClr val="FFFFFF"/>
                </a:solidFill>
                <a:latin typeface="Times New Roman"/>
                <a:ea typeface="Calibri" panose="020F0502020204030204"/>
                <a:cs typeface="Segoe UI"/>
              </a:rPr>
              <a:t>讓我們能直接跳躍生成所有"含有12個1的28-bits整數"</a:t>
            </a:r>
            <a:endParaRPr lang="en-US" altLang="ja-JP" b="1">
              <a:solidFill>
                <a:srgbClr val="FFFFFF"/>
              </a:solidFill>
              <a:latin typeface="Times New Roman"/>
              <a:ea typeface="Calibri" panose="020F0502020204030204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2B325-2212-DF7B-6F85-57A23CF82AE3}"/>
              </a:ext>
            </a:extLst>
          </p:cNvPr>
          <p:cNvSpPr txBox="1"/>
          <p:nvPr/>
        </p:nvSpPr>
        <p:spPr>
          <a:xfrm>
            <a:off x="8065576" y="1517542"/>
            <a:ext cx="237640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E74C3C"/>
                </a:solidFill>
                <a:latin typeface="DFKai-SB"/>
              </a:rPr>
              <a:t>程式碼實作</a:t>
            </a:r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46BEA1-1EB1-3114-EDD7-2D6EBED9C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157" y="2628550"/>
            <a:ext cx="5148053" cy="38519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1DD31-294F-1FD5-82AC-E101AEADA7FB}"/>
              </a:ext>
            </a:extLst>
          </p:cNvPr>
          <p:cNvSpPr txBox="1"/>
          <p:nvPr/>
        </p:nvSpPr>
        <p:spPr>
          <a:xfrm>
            <a:off x="5606642" y="2628550"/>
            <a:ext cx="247055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Times New Roman"/>
                <a:ea typeface="Calibri"/>
                <a:cs typeface="Calibri"/>
              </a:rPr>
              <a:t>Ex: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r>
              <a:rPr lang="en-US" sz="2400">
                <a:latin typeface="Times New Roman"/>
                <a:ea typeface="Calibri"/>
                <a:cs typeface="Calibri"/>
              </a:rPr>
              <a:t>L=28</a:t>
            </a:r>
          </a:p>
          <a:p>
            <a:r>
              <a:rPr lang="en-US" sz="2400">
                <a:latin typeface="Times New Roman"/>
                <a:ea typeface="Calibri"/>
                <a:cs typeface="Calibri"/>
              </a:rPr>
              <a:t>(g0, g1)=(11,</a:t>
            </a:r>
            <a:r>
              <a:rPr lang="en-US" sz="2400">
                <a:highlight>
                  <a:srgbClr val="FFFF00"/>
                </a:highlight>
                <a:latin typeface="Times New Roman"/>
                <a:ea typeface="Calibri"/>
                <a:cs typeface="Calibri"/>
              </a:rPr>
              <a:t>12</a:t>
            </a:r>
            <a:r>
              <a:rPr lang="en-US" sz="2400">
                <a:latin typeface="Times New Roman"/>
                <a:ea typeface="Calibri"/>
                <a:cs typeface="Calibri"/>
              </a:rPr>
              <a:t>)</a:t>
            </a:r>
          </a:p>
          <a:p>
            <a:r>
              <a:rPr lang="en-US" sz="2400">
                <a:latin typeface="Times New Roman"/>
                <a:ea typeface="Calibri"/>
                <a:cs typeface="Calibri"/>
              </a:rPr>
              <a:t>B seq has 12 "+1"</a:t>
            </a:r>
            <a:endParaRPr lang="ja-JP" altLang="en-US" sz="2400">
              <a:latin typeface="Times New Roman"/>
              <a:ea typeface="DFKai-SB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16824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7AAF0-BDD5-90FB-EE54-02906DEB8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9852B7-45EF-6EA0-11D0-F66C529A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78" y="23984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EVEN optimal PACP-Algorithm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D2B5B1-6E5D-AF13-944E-A0CFB6ACC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7731B81E-ACF7-B3D6-2EE1-16667F162067}"/>
              </a:ext>
            </a:extLst>
          </p:cNvPr>
          <p:cNvGrpSpPr/>
          <p:nvPr/>
        </p:nvGrpSpPr>
        <p:grpSpPr>
          <a:xfrm>
            <a:off x="1704513" y="1440485"/>
            <a:ext cx="4364165" cy="818783"/>
            <a:chOff x="7114664" y="1690687"/>
            <a:chExt cx="3818978" cy="818783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1E58A37-35BE-4710-1319-5C04D0885707}"/>
                </a:ext>
              </a:extLst>
            </p:cNvPr>
            <p:cNvSpPr/>
            <p:nvPr/>
          </p:nvSpPr>
          <p:spPr>
            <a:xfrm>
              <a:off x="8060923" y="1690687"/>
              <a:ext cx="1988597" cy="81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E87EC5A2-7005-E34B-5EB5-DC17D199BA8A}"/>
                </a:ext>
              </a:extLst>
            </p:cNvPr>
            <p:cNvSpPr txBox="1"/>
            <p:nvPr/>
          </p:nvSpPr>
          <p:spPr>
            <a:xfrm>
              <a:off x="7114664" y="1838468"/>
              <a:ext cx="38189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得到長度L </a:t>
              </a:r>
              <a:endParaRPr lang="en-US" altLang="ja-JP" sz="1400">
                <a:solidFill>
                  <a:schemeClr val="bg1"/>
                </a:solidFill>
                <a:ea typeface="游ゴシック"/>
                <a:cs typeface="Calibri"/>
              </a:endParaRPr>
            </a:p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設定filter bound</a:t>
              </a:r>
            </a:p>
          </p:txBody>
        </p:sp>
      </p:grpSp>
      <p:sp>
        <p:nvSpPr>
          <p:cNvPr id="22" name="箭號: 向下 21">
            <a:extLst>
              <a:ext uri="{FF2B5EF4-FFF2-40B4-BE49-F238E27FC236}">
                <a16:creationId xmlns:a16="http://schemas.microsoft.com/office/drawing/2014/main" id="{AC15A42B-AB12-49C1-EF77-E56402244D32}"/>
              </a:ext>
            </a:extLst>
          </p:cNvPr>
          <p:cNvSpPr/>
          <p:nvPr/>
        </p:nvSpPr>
        <p:spPr>
          <a:xfrm>
            <a:off x="3735673" y="2438193"/>
            <a:ext cx="301841" cy="3425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6309DB87-DD7C-7A15-605B-87E3DFF600F5}"/>
              </a:ext>
            </a:extLst>
          </p:cNvPr>
          <p:cNvGrpSpPr/>
          <p:nvPr/>
        </p:nvGrpSpPr>
        <p:grpSpPr>
          <a:xfrm>
            <a:off x="1704511" y="2851952"/>
            <a:ext cx="4364165" cy="818783"/>
            <a:chOff x="7114664" y="1690687"/>
            <a:chExt cx="3818978" cy="818783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3CF13A68-8503-6C42-BADA-D91347993037}"/>
                </a:ext>
              </a:extLst>
            </p:cNvPr>
            <p:cNvSpPr/>
            <p:nvPr/>
          </p:nvSpPr>
          <p:spPr>
            <a:xfrm>
              <a:off x="8060924" y="1690687"/>
              <a:ext cx="1988598" cy="81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743A91F9-E196-8684-37D9-07C4C5CDC56A}"/>
                </a:ext>
              </a:extLst>
            </p:cNvPr>
            <p:cNvSpPr txBox="1"/>
            <p:nvPr/>
          </p:nvSpPr>
          <p:spPr>
            <a:xfrm>
              <a:off x="7114664" y="1946189"/>
              <a:ext cx="38189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計算(g0, g1) pair</a:t>
              </a:r>
            </a:p>
          </p:txBody>
        </p:sp>
      </p:grpSp>
      <p:sp>
        <p:nvSpPr>
          <p:cNvPr id="26" name="箭號: 向下 25">
            <a:extLst>
              <a:ext uri="{FF2B5EF4-FFF2-40B4-BE49-F238E27FC236}">
                <a16:creationId xmlns:a16="http://schemas.microsoft.com/office/drawing/2014/main" id="{B5DD98D4-5499-3211-0932-A6615E6159B4}"/>
              </a:ext>
            </a:extLst>
          </p:cNvPr>
          <p:cNvSpPr/>
          <p:nvPr/>
        </p:nvSpPr>
        <p:spPr>
          <a:xfrm>
            <a:off x="3735674" y="3806733"/>
            <a:ext cx="301841" cy="3425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2F8691F7-1645-DC96-EE42-3D9E509D32F9}"/>
              </a:ext>
            </a:extLst>
          </p:cNvPr>
          <p:cNvGrpSpPr/>
          <p:nvPr/>
        </p:nvGrpSpPr>
        <p:grpSpPr>
          <a:xfrm>
            <a:off x="1704510" y="4285284"/>
            <a:ext cx="4364165" cy="846386"/>
            <a:chOff x="7114663" y="1690687"/>
            <a:chExt cx="3818978" cy="84638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49038A3-12A7-D832-E6C5-65FA3B12AF9D}"/>
                </a:ext>
              </a:extLst>
            </p:cNvPr>
            <p:cNvSpPr/>
            <p:nvPr/>
          </p:nvSpPr>
          <p:spPr>
            <a:xfrm>
              <a:off x="8060924" y="1690687"/>
              <a:ext cx="1988598" cy="81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B295BBA6-703E-B3D5-1C73-946669F8BEAF}"/>
                </a:ext>
              </a:extLst>
            </p:cNvPr>
            <p:cNvSpPr txBox="1"/>
            <p:nvPr/>
          </p:nvSpPr>
          <p:spPr>
            <a:xfrm>
              <a:off x="7114663" y="1798409"/>
              <a:ext cx="381897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Gosper's hack algorithm</a:t>
              </a:r>
              <a:endParaRPr lang="en-US" altLang="ja-JP" sz="1400">
                <a:solidFill>
                  <a:schemeClr val="bg1"/>
                </a:solidFill>
                <a:ea typeface="游ゴシック"/>
                <a:cs typeface="Calibri"/>
              </a:endParaRPr>
            </a:p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生成固定+1, -1的</a:t>
              </a:r>
              <a:endParaRPr lang="en-US" altLang="ja-JP" sz="1400">
                <a:solidFill>
                  <a:schemeClr val="bg1"/>
                </a:solidFill>
                <a:ea typeface="游ゴシック"/>
                <a:cs typeface="Calibri"/>
              </a:endParaRPr>
            </a:p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序列A</a:t>
              </a:r>
            </a:p>
          </p:txBody>
        </p:sp>
      </p:grp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EF19D8F4-E394-753D-999F-4141687910CD}"/>
              </a:ext>
            </a:extLst>
          </p:cNvPr>
          <p:cNvSpPr/>
          <p:nvPr/>
        </p:nvSpPr>
        <p:spPr>
          <a:xfrm>
            <a:off x="3733847" y="5411698"/>
            <a:ext cx="301841" cy="3425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15E3F0A3-F7C2-8B07-6B94-4800396C2746}"/>
              </a:ext>
            </a:extLst>
          </p:cNvPr>
          <p:cNvGrpSpPr/>
          <p:nvPr/>
        </p:nvGrpSpPr>
        <p:grpSpPr>
          <a:xfrm>
            <a:off x="1740014" y="5872134"/>
            <a:ext cx="4364165" cy="818783"/>
            <a:chOff x="7145732" y="1690687"/>
            <a:chExt cx="3818978" cy="818783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BBA5CB75-B304-18CA-EE06-1E896B46E083}"/>
                </a:ext>
              </a:extLst>
            </p:cNvPr>
            <p:cNvSpPr/>
            <p:nvPr/>
          </p:nvSpPr>
          <p:spPr>
            <a:xfrm>
              <a:off x="8060924" y="1690687"/>
              <a:ext cx="1988598" cy="81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6601C885-8593-360B-9D74-F9B76BE5E134}"/>
                    </a:ext>
                  </a:extLst>
                </p:cNvPr>
                <p:cNvSpPr txBox="1"/>
                <p:nvPr/>
              </p:nvSpPr>
              <p:spPr>
                <a:xfrm>
                  <a:off x="7145732" y="1823007"/>
                  <a:ext cx="3818978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zh-TW" altLang="en-US" sz="1400">
                      <a:solidFill>
                        <a:schemeClr val="bg1"/>
                      </a:solidFill>
                      <a:ea typeface="游ゴシック"/>
                      <a:cs typeface="Calibri"/>
                    </a:rPr>
                    <a:t>若</a:t>
                  </a:r>
                  <a:r>
                    <a:rPr lang="ja-JP" altLang="zh-TW" sz="1400">
                      <a:solidFill>
                        <a:schemeClr val="bg1"/>
                      </a:solidFill>
                      <a:ea typeface="游ゴシック"/>
                      <a:cs typeface="Calibri"/>
                    </a:rPr>
                    <a:t>|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ja-JP" sz="1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游ゴシック"/>
                              <a:cs typeface="Calibri"/>
                            </a:rPr>
                          </m:ctrlPr>
                        </m:sSubPr>
                        <m:e>
                          <m:r>
                            <a:rPr lang="ja-JP" altLang="zh-TW" sz="1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游ゴシック"/>
                              <a:cs typeface="Calibri"/>
                            </a:rPr>
                            <m:t>𝑃𝐴𝐶𝐹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游ゴシック"/>
                              <a:cs typeface="Calibri"/>
                            </a:rPr>
                            <m:t>A</m:t>
                          </m:r>
                        </m:sub>
                      </m:sSub>
                    </m:oMath>
                  </a14:m>
                  <a:r>
                    <a:rPr lang="ja-JP" altLang="zh-TW" sz="1400">
                      <a:solidFill>
                        <a:schemeClr val="bg1"/>
                      </a:solidFill>
                      <a:ea typeface="游ゴシック"/>
                      <a:cs typeface="Calibri"/>
                    </a:rPr>
                    <a:t>| &gt; </a:t>
                  </a:r>
                  <a:r>
                    <a:rPr lang="en-US" altLang="ja-JP" sz="1400">
                      <a:solidFill>
                        <a:schemeClr val="bg1"/>
                      </a:solidFill>
                      <a:ea typeface="游ゴシック"/>
                      <a:cs typeface="Calibri"/>
                    </a:rPr>
                    <a:t>filter bound(4)</a:t>
                  </a:r>
                </a:p>
                <a:p>
                  <a:pPr algn="ctr"/>
                  <a:r>
                    <a:rPr lang="ja-JP" altLang="zh-TW" sz="1400">
                      <a:solidFill>
                        <a:schemeClr val="bg1"/>
                      </a:solidFill>
                      <a:ea typeface="游ゴシック"/>
                      <a:cs typeface="Calibri"/>
                    </a:rPr>
                    <a:t>則濾除。否則放入BATCH A中</a:t>
                  </a: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6601C885-8593-360B-9D74-F9B76BE5E1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5732" y="1823007"/>
                  <a:ext cx="3818978" cy="523220"/>
                </a:xfrm>
                <a:prstGeom prst="rect">
                  <a:avLst/>
                </a:prstGeom>
                <a:blipFill>
                  <a:blip r:embed="rId2"/>
                  <a:stretch>
                    <a:fillRect t="-2326" b="-1046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AD91AAB6-7438-2FBA-7E38-98F0D1907B04}"/>
              </a:ext>
            </a:extLst>
          </p:cNvPr>
          <p:cNvGrpSpPr/>
          <p:nvPr/>
        </p:nvGrpSpPr>
        <p:grpSpPr>
          <a:xfrm>
            <a:off x="6196169" y="1440485"/>
            <a:ext cx="4364165" cy="818783"/>
            <a:chOff x="7114664" y="1690687"/>
            <a:chExt cx="3818978" cy="818783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4B0E8AA-C248-CED5-0C79-6D297729B04C}"/>
                </a:ext>
              </a:extLst>
            </p:cNvPr>
            <p:cNvSpPr/>
            <p:nvPr/>
          </p:nvSpPr>
          <p:spPr>
            <a:xfrm>
              <a:off x="8060923" y="1690687"/>
              <a:ext cx="1988597" cy="81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47838926-829E-9695-3BE8-BA7263CC5CB3}"/>
                </a:ext>
              </a:extLst>
            </p:cNvPr>
            <p:cNvSpPr txBox="1"/>
            <p:nvPr/>
          </p:nvSpPr>
          <p:spPr>
            <a:xfrm>
              <a:off x="7114664" y="1838468"/>
              <a:ext cx="38189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zh-TW" sz="1400">
                  <a:solidFill>
                    <a:schemeClr val="bg1"/>
                  </a:solidFill>
                  <a:ea typeface="游ゴシック"/>
                  <a:cs typeface="Calibri"/>
                </a:rPr>
                <a:t>搜索全部B序列</a:t>
              </a:r>
              <a:endParaRPr lang="en-US" altLang="ja-JP" sz="1400">
                <a:solidFill>
                  <a:schemeClr val="bg1"/>
                </a:solidFill>
                <a:ea typeface="游ゴシック"/>
                <a:cs typeface="Calibri"/>
              </a:endParaRPr>
            </a:p>
            <a:p>
              <a:pPr algn="ctr"/>
              <a:r>
                <a:rPr lang="en-US" altLang="ja-JP" sz="1400">
                  <a:solidFill>
                    <a:schemeClr val="bg1"/>
                  </a:solidFill>
                  <a:ea typeface="游ゴシック"/>
                  <a:cs typeface="Calibri"/>
                </a:rPr>
                <a:t>(Gosper's hack)</a:t>
              </a:r>
              <a:endParaRPr lang="en-US" altLang="zh-TW" sz="1400">
                <a:solidFill>
                  <a:schemeClr val="bg1"/>
                </a:solidFill>
              </a:endParaRPr>
            </a:p>
          </p:txBody>
        </p:sp>
      </p:grpSp>
      <p:sp>
        <p:nvSpPr>
          <p:cNvPr id="37" name="箭號: 向下 36">
            <a:extLst>
              <a:ext uri="{FF2B5EF4-FFF2-40B4-BE49-F238E27FC236}">
                <a16:creationId xmlns:a16="http://schemas.microsoft.com/office/drawing/2014/main" id="{C3AEDF1D-EA02-15FF-CF22-478BEA635FE9}"/>
              </a:ext>
            </a:extLst>
          </p:cNvPr>
          <p:cNvSpPr/>
          <p:nvPr/>
        </p:nvSpPr>
        <p:spPr>
          <a:xfrm>
            <a:off x="8227329" y="2438193"/>
            <a:ext cx="301841" cy="3425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5A521AD4-407A-EC83-F6E2-11F61EA8E8C3}"/>
              </a:ext>
            </a:extLst>
          </p:cNvPr>
          <p:cNvGrpSpPr/>
          <p:nvPr/>
        </p:nvGrpSpPr>
        <p:grpSpPr>
          <a:xfrm>
            <a:off x="6231670" y="2851952"/>
            <a:ext cx="4364165" cy="818783"/>
            <a:chOff x="7145732" y="1690687"/>
            <a:chExt cx="3818978" cy="818783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66CB307-A622-7C84-7CB5-A450056E3363}"/>
                </a:ext>
              </a:extLst>
            </p:cNvPr>
            <p:cNvSpPr/>
            <p:nvPr/>
          </p:nvSpPr>
          <p:spPr>
            <a:xfrm>
              <a:off x="8060924" y="1690687"/>
              <a:ext cx="1988598" cy="81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4C93BDC8-88BC-DA57-4AD6-BC2CBD4AB240}"/>
                </a:ext>
              </a:extLst>
            </p:cNvPr>
            <p:cNvSpPr txBox="1"/>
            <p:nvPr/>
          </p:nvSpPr>
          <p:spPr>
            <a:xfrm>
              <a:off x="7145732" y="1849401"/>
              <a:ext cx="38189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先計算u=L/2</a:t>
              </a:r>
              <a:endParaRPr lang="en-US" altLang="ja-JP" sz="1400">
                <a:solidFill>
                  <a:schemeClr val="bg1"/>
                </a:solidFill>
                <a:ea typeface="游ゴシック"/>
                <a:cs typeface="Calibri"/>
              </a:endParaRPr>
            </a:p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PACF sum = 4</a:t>
              </a:r>
              <a:endParaRPr lang="ja-JP" altLang="zh-TW" sz="1400">
                <a:solidFill>
                  <a:schemeClr val="bg1"/>
                </a:solidFill>
              </a:endParaRPr>
            </a:p>
          </p:txBody>
        </p:sp>
      </p:grpSp>
      <p:sp>
        <p:nvSpPr>
          <p:cNvPr id="41" name="箭號: 向下 40">
            <a:extLst>
              <a:ext uri="{FF2B5EF4-FFF2-40B4-BE49-F238E27FC236}">
                <a16:creationId xmlns:a16="http://schemas.microsoft.com/office/drawing/2014/main" id="{1C718EF6-AEC8-EEB9-A4B2-145EAF06367B}"/>
              </a:ext>
            </a:extLst>
          </p:cNvPr>
          <p:cNvSpPr/>
          <p:nvPr/>
        </p:nvSpPr>
        <p:spPr>
          <a:xfrm>
            <a:off x="8227330" y="3806733"/>
            <a:ext cx="301841" cy="3425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4A9F76D5-B56A-08CD-E06B-EE7F6D0CD4FA}"/>
              </a:ext>
            </a:extLst>
          </p:cNvPr>
          <p:cNvGrpSpPr/>
          <p:nvPr/>
        </p:nvGrpSpPr>
        <p:grpSpPr>
          <a:xfrm>
            <a:off x="6205036" y="4285284"/>
            <a:ext cx="4364165" cy="818783"/>
            <a:chOff x="7122425" y="1690687"/>
            <a:chExt cx="3818978" cy="81878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A592EE64-586E-964E-2803-52F622DEE2A8}"/>
                </a:ext>
              </a:extLst>
            </p:cNvPr>
            <p:cNvSpPr/>
            <p:nvPr/>
          </p:nvSpPr>
          <p:spPr>
            <a:xfrm>
              <a:off x="8060924" y="1690687"/>
              <a:ext cx="1988598" cy="81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6C5B6B9C-6FF4-8B49-290D-6EF2930164C1}"/>
                </a:ext>
              </a:extLst>
            </p:cNvPr>
            <p:cNvSpPr txBox="1"/>
            <p:nvPr/>
          </p:nvSpPr>
          <p:spPr>
            <a:xfrm>
              <a:off x="7122425" y="1964118"/>
              <a:ext cx="38189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驗證u=1~(L/2 -1)</a:t>
              </a:r>
            </a:p>
          </p:txBody>
        </p:sp>
      </p:grpSp>
      <p:sp>
        <p:nvSpPr>
          <p:cNvPr id="45" name="箭號: 向下 44">
            <a:extLst>
              <a:ext uri="{FF2B5EF4-FFF2-40B4-BE49-F238E27FC236}">
                <a16:creationId xmlns:a16="http://schemas.microsoft.com/office/drawing/2014/main" id="{8977354E-1401-19D4-2D94-8D9C56F385FE}"/>
              </a:ext>
            </a:extLst>
          </p:cNvPr>
          <p:cNvSpPr/>
          <p:nvPr/>
        </p:nvSpPr>
        <p:spPr>
          <a:xfrm>
            <a:off x="8225503" y="5411698"/>
            <a:ext cx="301841" cy="3425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6" name="群組 45">
            <a:extLst>
              <a:ext uri="{FF2B5EF4-FFF2-40B4-BE49-F238E27FC236}">
                <a16:creationId xmlns:a16="http://schemas.microsoft.com/office/drawing/2014/main" id="{6FA8088C-71A8-1D21-F74D-F4FD240C395C}"/>
              </a:ext>
            </a:extLst>
          </p:cNvPr>
          <p:cNvGrpSpPr/>
          <p:nvPr/>
        </p:nvGrpSpPr>
        <p:grpSpPr>
          <a:xfrm>
            <a:off x="6231670" y="5872134"/>
            <a:ext cx="4364165" cy="818783"/>
            <a:chOff x="7145732" y="1690687"/>
            <a:chExt cx="3818978" cy="818783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8BB57EA7-4116-7F47-94F9-D8EFB1681317}"/>
                </a:ext>
              </a:extLst>
            </p:cNvPr>
            <p:cNvSpPr/>
            <p:nvPr/>
          </p:nvSpPr>
          <p:spPr>
            <a:xfrm>
              <a:off x="8060924" y="1690687"/>
              <a:ext cx="1988598" cy="81878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737ABFA4-15DD-5C8D-C24C-404F0A3104DD}"/>
                </a:ext>
              </a:extLst>
            </p:cNvPr>
            <p:cNvSpPr txBox="1"/>
            <p:nvPr/>
          </p:nvSpPr>
          <p:spPr>
            <a:xfrm>
              <a:off x="7145732" y="1952362"/>
              <a:ext cx="381897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ja-JP" altLang="en-US" sz="1400">
                  <a:solidFill>
                    <a:schemeClr val="bg1"/>
                  </a:solidFill>
                  <a:ea typeface="游ゴシック"/>
                  <a:cs typeface="Calibri"/>
                </a:rPr>
                <a:t>EVEN Optimal PACP</a:t>
              </a:r>
              <a:endParaRPr lang="ja-JP" altLang="zh-TW" sz="1400">
                <a:solidFill>
                  <a:schemeClr val="bg1"/>
                </a:solidFill>
                <a:ea typeface="游ゴシック"/>
                <a:cs typeface="Calibri"/>
              </a:endParaRPr>
            </a:p>
          </p:txBody>
        </p:sp>
      </p:grpSp>
      <p:sp>
        <p:nvSpPr>
          <p:cNvPr id="49" name="箭號: 向下 48">
            <a:extLst>
              <a:ext uri="{FF2B5EF4-FFF2-40B4-BE49-F238E27FC236}">
                <a16:creationId xmlns:a16="http://schemas.microsoft.com/office/drawing/2014/main" id="{7F2231BA-06BE-FD31-8DF2-307BB38F269C}"/>
              </a:ext>
            </a:extLst>
          </p:cNvPr>
          <p:cNvSpPr/>
          <p:nvPr/>
        </p:nvSpPr>
        <p:spPr>
          <a:xfrm>
            <a:off x="8225503" y="825936"/>
            <a:ext cx="301841" cy="3425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3904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86DBC-B3AA-86AF-E755-D119C0BBB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861834-473B-8BCD-F8DD-F8CDF3296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VERIFY EVEN Optimal (L, Z)-SZCP</a:t>
            </a:r>
            <a:endParaRPr lang="zh-TW" altLang="en-US" sz="4000">
              <a:latin typeface="Times New Roman"/>
              <a:ea typeface="新細明體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78020DF-DE98-B407-11FF-A1364DAED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552" y="4942977"/>
            <a:ext cx="8951259" cy="104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ACB495-FA3B-A2CE-94E2-A28498952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56D44-5B37-47A7-73B5-5C6DABFDC89E}"/>
              </a:ext>
            </a:extLst>
          </p:cNvPr>
          <p:cNvSpPr txBox="1"/>
          <p:nvPr/>
        </p:nvSpPr>
        <p:spPr>
          <a:xfrm>
            <a:off x="837283" y="1691016"/>
            <a:ext cx="10037558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游ゴシック"/>
              </a:rPr>
              <a:t>A pair of sequence </a:t>
            </a:r>
            <a:r>
              <a:rPr lang="ja-JP" altLang="en-US" sz="2800" b="1" i="1">
                <a:ea typeface="游ゴシック"/>
              </a:rPr>
              <a:t>a</a:t>
            </a:r>
            <a:r>
              <a:rPr lang="ja-JP" altLang="en-US" sz="2800">
                <a:ea typeface="游ゴシック"/>
              </a:rPr>
              <a:t> and </a:t>
            </a:r>
            <a:r>
              <a:rPr lang="ja-JP" altLang="en-US" sz="2800" b="1" i="1">
                <a:ea typeface="游ゴシック"/>
              </a:rPr>
              <a:t>b</a:t>
            </a:r>
            <a:r>
              <a:rPr lang="ja-JP" altLang="en-US" sz="2800">
                <a:ea typeface="游ゴシック"/>
              </a:rPr>
              <a:t> of even length </a:t>
            </a:r>
            <a:r>
              <a:rPr lang="en-US" altLang="ja-JP" sz="2800">
                <a:ea typeface="游ゴシック"/>
              </a:rPr>
              <a:t>L is called a </a:t>
            </a:r>
            <a:r>
              <a:rPr lang="ja-JP" altLang="en-US" sz="2800">
                <a:ea typeface="游ゴシック"/>
              </a:rPr>
              <a:t> </a:t>
            </a:r>
            <a:r>
              <a:rPr lang="en-US" altLang="ja-JP" sz="2800">
                <a:ea typeface="游ゴシック"/>
              </a:rPr>
              <a:t>(L,</a:t>
            </a:r>
            <a:r>
              <a:rPr lang="ja-JP" altLang="en-US" sz="2800">
                <a:ea typeface="游ゴシック"/>
              </a:rPr>
              <a:t> </a:t>
            </a:r>
            <a:r>
              <a:rPr lang="en-US" altLang="ja-JP" sz="2800">
                <a:ea typeface="游ゴシック"/>
              </a:rPr>
              <a:t>Z)-SZCP</a:t>
            </a:r>
            <a:r>
              <a:rPr lang="ja-JP" altLang="en-US" sz="2800">
                <a:ea typeface="游ゴシック"/>
              </a:rPr>
              <a:t>，</a:t>
            </a:r>
            <a:r>
              <a:rPr lang="ja-JP" sz="2800">
                <a:ea typeface="+mn-lt"/>
                <a:cs typeface="+mn-lt"/>
              </a:rPr>
              <a:t>The optimal condition</a:t>
            </a:r>
            <a:r>
              <a:rPr lang="ja-JP" altLang="en-US" sz="2800">
                <a:ea typeface="+mn-lt"/>
                <a:cs typeface="+mn-lt"/>
              </a:rPr>
              <a:t> </a:t>
            </a:r>
            <a:r>
              <a:rPr lang="ja-JP" sz="2800">
                <a:ea typeface="+mn-lt"/>
                <a:cs typeface="+mn-lt"/>
              </a:rPr>
              <a:t>meets the following criteria:</a:t>
            </a:r>
            <a:endParaRPr lang="en-US" sz="2800">
              <a:ea typeface="Calibri"/>
              <a:cs typeface="Calibri"/>
            </a:endParaRPr>
          </a:p>
          <a:p>
            <a:r>
              <a:rPr lang="en-US" altLang="ja-JP" sz="2800">
                <a:ea typeface="游ゴシック"/>
              </a:rPr>
              <a:t>1.</a:t>
            </a:r>
            <a:r>
              <a:rPr lang="ja-JP" altLang="en-US" sz="2800">
                <a:ea typeface="游ゴシック"/>
              </a:rPr>
              <a:t> maximum </a:t>
            </a:r>
            <a:r>
              <a:rPr lang="en-US" altLang="ja-JP" sz="2800">
                <a:ea typeface="游ゴシック"/>
              </a:rPr>
              <a:t>ZCZ</a:t>
            </a:r>
            <a:r>
              <a:rPr lang="ja-JP" altLang="en-US" sz="2800">
                <a:ea typeface="游ゴシック"/>
              </a:rPr>
              <a:t> width：</a:t>
            </a:r>
            <a:r>
              <a:rPr lang="en-US" altLang="ja-JP" sz="2800">
                <a:ea typeface="游ゴシック"/>
              </a:rPr>
              <a:t>Z = L/2</a:t>
            </a:r>
            <a:endParaRPr lang="ja-JP" altLang="en-US" sz="2800">
              <a:ea typeface="游ゴシック"/>
              <a:cs typeface="Calibri"/>
            </a:endParaRPr>
          </a:p>
          <a:p>
            <a:r>
              <a:rPr lang="en-US" altLang="ja-JP" sz="2800">
                <a:ea typeface="游ゴシック"/>
              </a:rPr>
              <a:t>2. the minimum out-of-zone magnitude</a:t>
            </a:r>
            <a:r>
              <a:rPr lang="ja-JP" altLang="en-US" sz="2800">
                <a:ea typeface="游ゴシック"/>
              </a:rPr>
              <a:t>：</a:t>
            </a:r>
            <a:r>
              <a:rPr lang="en-US" altLang="ja-JP" sz="2800">
                <a:ea typeface="游ゴシック"/>
              </a:rPr>
              <a:t>2</a:t>
            </a:r>
            <a:endParaRPr lang="ja-JP" altLang="en-US" sz="2800">
              <a:ea typeface="游ゴシック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359C49-C61B-3B0D-1507-FC446DA2F331}"/>
              </a:ext>
            </a:extLst>
          </p:cNvPr>
          <p:cNvSpPr txBox="1"/>
          <p:nvPr/>
        </p:nvSpPr>
        <p:spPr>
          <a:xfrm>
            <a:off x="836180" y="5048871"/>
            <a:ext cx="889130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400" b="1">
                <a:ea typeface="Calibri"/>
                <a:cs typeface="Calibri"/>
              </a:rPr>
              <a:t>Conclusion: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In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cases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where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sz="2400">
                <a:ea typeface="Calibri"/>
                <a:cs typeface="Calibri"/>
              </a:rPr>
              <a:t>GCP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cannot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be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achieved,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the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optimal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SZCP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provides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the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best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performance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boundary in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sequence</a:t>
            </a:r>
            <a:r>
              <a:rPr lang="ja-JP" altLang="en-US" sz="2400">
                <a:ea typeface="游ゴシック"/>
                <a:cs typeface="Calibri"/>
              </a:rPr>
              <a:t> </a:t>
            </a:r>
            <a:r>
              <a:rPr lang="en-US" altLang="ja-JP" sz="2400">
                <a:ea typeface="Calibri"/>
                <a:cs typeface="Calibri"/>
              </a:rPr>
              <a:t>design.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3100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F877B-AC6F-3A66-2668-280E4EFC7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AD7537-DEA2-9CEE-60EF-3FAB7B1C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61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VERIFY EVEN Optimal (L, Z)-SZCP</a:t>
            </a:r>
            <a:endParaRPr lang="zh-TW" altLang="en-US" sz="400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03011-6D0D-1F96-C90A-8D0791E9D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19B284-8A39-D567-CE9B-7EB9B65A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46" y="1382975"/>
            <a:ext cx="5131430" cy="53340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98774F-8C5F-5F5A-813F-BEAE0C2C208B}"/>
              </a:ext>
            </a:extLst>
          </p:cNvPr>
          <p:cNvSpPr txBox="1"/>
          <p:nvPr/>
        </p:nvSpPr>
        <p:spPr>
          <a:xfrm>
            <a:off x="3048000" y="1013847"/>
            <a:ext cx="9996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 = 24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EFFE7D-A2C3-9958-6EF3-73617A7EDA39}"/>
              </a:ext>
            </a:extLst>
          </p:cNvPr>
          <p:cNvSpPr txBox="1"/>
          <p:nvPr/>
        </p:nvSpPr>
        <p:spPr>
          <a:xfrm>
            <a:off x="8304508" y="1013847"/>
            <a:ext cx="21404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Calibri"/>
              </a:rPr>
              <a:t>L = </a:t>
            </a:r>
            <a:r>
              <a:rPr lang="en-US">
                <a:latin typeface="Calibri"/>
              </a:rPr>
              <a:t>28 (SZCP)</a:t>
            </a:r>
            <a:endParaRPr lang="en-US"/>
          </a:p>
        </p:txBody>
      </p:sp>
      <p:pic>
        <p:nvPicPr>
          <p:cNvPr id="3" name="圖片 2" descr="一張含有 文字, 螢幕擷取畫面, 陳列, 繪圖 的圖片&#10;&#10;AI 產生的內容可能不正確。">
            <a:extLst>
              <a:ext uri="{FF2B5EF4-FFF2-40B4-BE49-F238E27FC236}">
                <a16:creationId xmlns:a16="http://schemas.microsoft.com/office/drawing/2014/main" id="{210C8731-8A17-0D47-FBB0-FB4A4CEEE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843" y="1466127"/>
            <a:ext cx="5462595" cy="360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76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0D9A9-C41B-3144-BC8E-8EF8C45E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A79955-9F1C-ADFF-CD9B-723F85344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61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VERIFY EVEN Optimal (L, Z)-SZCP</a:t>
            </a:r>
            <a:endParaRPr lang="zh-TW" altLang="en-US" sz="400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24E15-2347-782D-5194-5CDF03380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9AD7E-50AA-650B-23D3-E6B1073A1D9F}"/>
              </a:ext>
            </a:extLst>
          </p:cNvPr>
          <p:cNvSpPr txBox="1"/>
          <p:nvPr/>
        </p:nvSpPr>
        <p:spPr>
          <a:xfrm>
            <a:off x="3048000" y="1013847"/>
            <a:ext cx="9996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 = 32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92CCB-F52B-3A6D-09EE-1A48F0257E5C}"/>
              </a:ext>
            </a:extLst>
          </p:cNvPr>
          <p:cNvSpPr txBox="1"/>
          <p:nvPr/>
        </p:nvSpPr>
        <p:spPr>
          <a:xfrm>
            <a:off x="8304508" y="1013847"/>
            <a:ext cx="1330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Calibri"/>
              </a:rPr>
              <a:t>L = </a:t>
            </a:r>
            <a:r>
              <a:rPr lang="en-US">
                <a:latin typeface="Calibri"/>
              </a:rPr>
              <a:t>34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5B50A-3FA3-D78E-A895-BA21EC948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68" y="1388390"/>
            <a:ext cx="5007508" cy="53146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A03B54-E408-2547-3AEA-5F3B4B436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816" y="1388390"/>
            <a:ext cx="5040506" cy="530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89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CE96A-1BD5-996B-2933-31EBB272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285655-EABD-885E-8BD6-70AE5BFBF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61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VERIFY EVEN Optimal (L, Z)-SZCP</a:t>
            </a:r>
            <a:endParaRPr lang="zh-TW" altLang="en-US" sz="4000">
              <a:latin typeface="Times New Roman"/>
              <a:ea typeface="新細明體"/>
              <a:cs typeface="Times New Roman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9ED785-7F10-7CAA-5027-FBE1AE513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7021" y="2509471"/>
            <a:ext cx="10515600" cy="4351338"/>
          </a:xfrm>
        </p:spPr>
        <p:txBody>
          <a:bodyPr vert="eaVert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ja-JP" altLang="en-US">
              <a:ea typeface="游ゴシック"/>
              <a:cs typeface="Calibri" panose="020F0502020204030204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FE4900-9178-977F-C266-9AD346B2B8AF}"/>
              </a:ext>
            </a:extLst>
          </p:cNvPr>
          <p:cNvSpPr txBox="1"/>
          <p:nvPr/>
        </p:nvSpPr>
        <p:spPr>
          <a:xfrm>
            <a:off x="3048000" y="1013847"/>
            <a:ext cx="9996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 = 36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58B19-2CAD-C93E-5E5D-547C60FA0FB9}"/>
              </a:ext>
            </a:extLst>
          </p:cNvPr>
          <p:cNvSpPr txBox="1"/>
          <p:nvPr/>
        </p:nvSpPr>
        <p:spPr>
          <a:xfrm>
            <a:off x="8304508" y="1013847"/>
            <a:ext cx="133027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Calibri"/>
              </a:rPr>
              <a:t>L = </a:t>
            </a:r>
            <a:r>
              <a:rPr lang="en-US">
                <a:latin typeface="Calibri"/>
              </a:rPr>
              <a:t>38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23687D-9A8D-3860-5C99-DA8AD7128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04" y="1381932"/>
            <a:ext cx="5067958" cy="5308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D190E8-F21D-7FA7-BE83-8DCA67E75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997" y="1388390"/>
            <a:ext cx="5087346" cy="530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28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93C59-C642-F208-BD09-4EE093F08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FDC75F-F339-FB7E-1FE9-B04FB842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>
                <a:latin typeface="Times New Roman"/>
                <a:ea typeface="新細明體"/>
                <a:cs typeface="Times New Roman"/>
              </a:rPr>
              <a:t>Summary of results 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9B2EB1E-51DE-2F23-0C02-DFCFA15A2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180869"/>
              </p:ext>
            </p:extLst>
          </p:nvPr>
        </p:nvGraphicFramePr>
        <p:xfrm>
          <a:off x="636454" y="1550676"/>
          <a:ext cx="10910430" cy="48187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8509">
                  <a:extLst>
                    <a:ext uri="{9D8B030D-6E8A-4147-A177-3AD203B41FA5}">
                      <a16:colId xmlns:a16="http://schemas.microsoft.com/office/drawing/2014/main" val="1940900014"/>
                    </a:ext>
                  </a:extLst>
                </a:gridCol>
                <a:gridCol w="1929467">
                  <a:extLst>
                    <a:ext uri="{9D8B030D-6E8A-4147-A177-3AD203B41FA5}">
                      <a16:colId xmlns:a16="http://schemas.microsoft.com/office/drawing/2014/main" val="745645586"/>
                    </a:ext>
                  </a:extLst>
                </a:gridCol>
                <a:gridCol w="1805937">
                  <a:extLst>
                    <a:ext uri="{9D8B030D-6E8A-4147-A177-3AD203B41FA5}">
                      <a16:colId xmlns:a16="http://schemas.microsoft.com/office/drawing/2014/main" val="2471980163"/>
                    </a:ext>
                  </a:extLst>
                </a:gridCol>
                <a:gridCol w="4716517">
                  <a:extLst>
                    <a:ext uri="{9D8B030D-6E8A-4147-A177-3AD203B41FA5}">
                      <a16:colId xmlns:a16="http://schemas.microsoft.com/office/drawing/2014/main" val="494548083"/>
                    </a:ext>
                  </a:extLst>
                </a:gridCol>
              </a:tblGrid>
              <a:tr h="61519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Length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(L)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(g0, g1)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Found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/</a:t>
                      </a: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Not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found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Result</a:t>
                      </a:r>
                      <a:r>
                        <a:rPr lang="af-ZA" sz="1800" u="none" strike="noStrike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af-ZA" sz="1800" u="none" strike="noStrike" err="1">
                          <a:solidFill>
                            <a:srgbClr val="FFFFFF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823016"/>
                  </a:ext>
                </a:extLst>
              </a:tr>
              <a:tr h="43343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endParaRPr lang="zh-TW" altLang="en-US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(10, 9)</a:t>
                      </a:r>
                      <a:endParaRPr lang="af-ZA">
                        <a:effectLst/>
                      </a:endParaRP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000000"/>
                          </a:solidFill>
                          <a:effectLst/>
                        </a:rPr>
                        <a:t>Found</a:t>
                      </a:r>
                    </a:p>
                  </a:txBody>
                  <a:tcPr marL="6667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000110010100111110000001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110000100100100010101001</a:t>
                      </a:r>
                      <a:endParaRPr lang="af-ZA" sz="1400"/>
                    </a:p>
                  </a:txBody>
                  <a:tcPr marL="314325" marR="66675" marT="28575" marB="28575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81840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28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(11, 12)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</a:rPr>
                        <a:t>Found(SZCP)</a:t>
                      </a:r>
                      <a:endParaRPr lang="en-US">
                        <a:highlight>
                          <a:srgbClr val="FFFF00"/>
                        </a:highlight>
                      </a:endParaRP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0100100110001110000001101010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0101011000000000111001101101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28172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(15, 11)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 err="1">
                          <a:solidFill>
                            <a:srgbClr val="000000"/>
                          </a:solidFill>
                          <a:effectLst/>
                        </a:rPr>
                        <a:t>Not</a:t>
                      </a: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af-ZA" sz="1800" u="none" strike="noStrike" err="1">
                          <a:solidFill>
                            <a:srgbClr val="000000"/>
                          </a:solidFill>
                          <a:effectLst/>
                        </a:rPr>
                        <a:t>found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314325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12696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32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(15, 12)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Found</a:t>
                      </a:r>
                      <a:endParaRPr lang="en-US"/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A: 10111000111000000101100100011101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B: 11111110010110011101101001010101</a:t>
                      </a:r>
                      <a:endParaRPr lang="af-ZA"/>
                    </a:p>
                  </a:txBody>
                  <a:tcPr marL="314325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>
                      <a:solidFill>
                        <a:srgbClr val="000000"/>
                      </a:solidFill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639834"/>
                  </a:ext>
                </a:extLst>
              </a:tr>
              <a:tr h="43343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34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(14, 14)、(17, 13)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Found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0100100001111110101010111100011000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1011000000011010011001001000110010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82032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(17, 14)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Found</a:t>
                      </a:r>
                      <a:endParaRPr lang="en-US"/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100111110101100011011101110100100111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101001000010111110010111011101110000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965751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(16, 16)、(17, 15)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Found</a:t>
                      </a:r>
                      <a:endParaRPr lang="en-US"/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A: 00101011001111011011111000011011101101</a:t>
                      </a:r>
                      <a:endParaRPr lang="en-US" sz="1400"/>
                    </a:p>
                    <a:p>
                      <a:pPr lvl="0" algn="ctr">
                        <a:buNone/>
                      </a:pPr>
                      <a:r>
                        <a:rPr lang="af-ZA" sz="1400" b="0" i="0" u="none" strike="noStrike" noProof="0">
                          <a:effectLst/>
                          <a:latin typeface="Calibri"/>
                        </a:rPr>
                        <a:t>B: 10011001111100111101010100010000101111</a:t>
                      </a:r>
                      <a:endParaRPr lang="af-ZA" sz="1400"/>
                    </a:p>
                  </a:txBody>
                  <a:tcPr marL="314325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256244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42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(19, 17)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found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>
                          <a:effectLst/>
                        </a:rPr>
                        <a:t>X</a:t>
                      </a:r>
                    </a:p>
                  </a:txBody>
                  <a:tcPr marL="314325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7659"/>
                  </a:ext>
                </a:extLst>
              </a:tr>
              <a:tr h="43342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zh-TW" sz="1800" u="none" strike="noStrike">
                          <a:solidFill>
                            <a:srgbClr val="000000"/>
                          </a:solidFill>
                          <a:effectLst/>
                        </a:rPr>
                        <a:t>48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u="none" strike="noStrike">
                          <a:solidFill>
                            <a:srgbClr val="000000"/>
                          </a:solidFill>
                          <a:effectLst/>
                        </a:rPr>
                        <a:t>(21, 20)、(24, 19)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found</a:t>
                      </a:r>
                    </a:p>
                  </a:txBody>
                  <a:tcPr marL="66674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>
                          <a:effectLst/>
                        </a:rPr>
                        <a:t>X</a:t>
                      </a:r>
                    </a:p>
                  </a:txBody>
                  <a:tcPr marL="314325" marR="66674" marT="28575" marB="28575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4">
                      <a:solidFill>
                        <a:srgbClr val="000000"/>
                      </a:solidFill>
                    </a:lnT>
                    <a:lnB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318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36809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74005-02E7-BFA0-8E14-FEFBB890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400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PQCP</a:t>
            </a:r>
            <a:endParaRPr lang="zh-TW" alt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5DC66DB5-F17D-5204-923C-6A98FAD02AFA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611989" cy="38091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TW" altLang="en-US" sz="200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Target : Find (L,4)-PQCPs for L=44,46,58,68,86,90 and 94.</a:t>
            </a:r>
            <a:endParaRPr lang="zh-TW" altLang="en-US" sz="200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            </a:t>
            </a:r>
            <a:r>
              <a:rPr lang="zh-TW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There are two nonzero periodic autocorrelation sums, each with a magnitude of 4.</a:t>
            </a:r>
          </a:p>
          <a:p>
            <a:pPr>
              <a:lnSpc>
                <a:spcPct val="150000"/>
              </a:lnSpc>
            </a:pPr>
            <a:r>
              <a:rPr lang="en-US" altLang="zh-TW" sz="2000">
                <a:latin typeface="Times New Roman" panose="02020603050405020304" pitchFamily="18" charset="0"/>
                <a:ea typeface="新細明體"/>
                <a:cs typeface="Times New Roman" panose="02020603050405020304" pitchFamily="18" charset="0"/>
              </a:rPr>
              <a:t>Strategy : </a:t>
            </a:r>
            <a:r>
              <a:rPr lang="en-US" sz="200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Simulated Annealing</a:t>
            </a:r>
            <a:endParaRPr lang="zh-TW" sz="2000">
              <a:latin typeface="Times New Roman" panose="02020603050405020304" pitchFamily="18" charset="0"/>
              <a:ea typeface="新細明體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TW" sz="2000">
              <a:latin typeface="Times New Roman"/>
              <a:ea typeface="新細明體"/>
              <a:cs typeface="Calibri"/>
            </a:endParaRPr>
          </a:p>
          <a:p>
            <a:pPr>
              <a:lnSpc>
                <a:spcPct val="150000"/>
              </a:lnSpc>
            </a:pPr>
            <a:endParaRPr lang="zh-TW" sz="2000">
              <a:latin typeface="Times New Roman"/>
              <a:ea typeface="新細明體"/>
              <a:cs typeface="Calibri"/>
            </a:endParaRPr>
          </a:p>
          <a:p>
            <a:pPr>
              <a:lnSpc>
                <a:spcPct val="150000"/>
              </a:lnSpc>
            </a:pPr>
            <a:endParaRPr lang="zh-TW" sz="2000">
              <a:latin typeface="Times New Roman"/>
              <a:ea typeface="新細明體"/>
              <a:cs typeface="Calibri"/>
            </a:endParaRPr>
          </a:p>
          <a:p>
            <a:pPr>
              <a:lnSpc>
                <a:spcPct val="150000"/>
              </a:lnSpc>
            </a:pPr>
            <a:endParaRPr lang="zh-TW" sz="2000">
              <a:latin typeface="Times New Roman"/>
              <a:ea typeface="新細明體"/>
              <a:cs typeface="Calibri"/>
            </a:endParaRPr>
          </a:p>
          <a:p>
            <a:pPr>
              <a:lnSpc>
                <a:spcPct val="150000"/>
              </a:lnSpc>
            </a:pPr>
            <a:endParaRPr lang="zh-TW" altLang="en-US" sz="2000">
              <a:latin typeface="Times New Roman"/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9856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678FC-9DB7-AD55-2F35-BAD96C41E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Times New Roman"/>
                <a:ea typeface="+mj-lt"/>
                <a:cs typeface="Times New Roman"/>
              </a:rPr>
              <a:t>Simulated Annealing</a:t>
            </a:r>
            <a:endParaRPr lang="zh-TW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6D052A0-A441-AD43-754F-4C8072F7BA39}"/>
                  </a:ext>
                </a:extLst>
              </p:cNvPr>
              <p:cNvSpPr txBox="1"/>
              <p:nvPr/>
            </p:nvSpPr>
            <p:spPr>
              <a:xfrm>
                <a:off x="838200" y="1690688"/>
                <a:ext cx="7449552" cy="46054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初始溫度</a:t>
                </a:r>
                <a:r>
                  <a:rPr 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(T) : 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設定一個高溫</a:t>
                </a:r>
                <a:r>
                  <a:rPr 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代表允許很大的隨機性</a:t>
                </a:r>
                <a:endParaRPr lang="zh-TW" sz="19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擾動(Mutation) : 隨機改變當前的序列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評估(Cost) : 計算新的解好不好</a:t>
                </a: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接受準則(Metropolis Criterion) :</a:t>
                </a:r>
                <a:endParaRPr lang="en-US" altLang="zh-TW" sz="19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如果新解比較好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90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Δ</m:t>
                    </m:r>
                    <m:r>
                      <a:rPr lang="en-US" altLang="zh-TW" sz="1900" i="1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𝐸</m:t>
                    </m:r>
                    <m:r>
                      <a:rPr lang="en-US" altLang="zh-TW" sz="190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&lt;0</m:t>
                    </m:r>
                  </m:oMath>
                </a14:m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無條件接受</a:t>
                </a:r>
                <a:endParaRPr lang="en-US" altLang="zh-TW" sz="19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914400" lvl="1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如果新解比較差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190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Δ</m:t>
                    </m:r>
                    <m:r>
                      <a:rPr lang="en-US" altLang="zh-TW" sz="1900" i="1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𝐸</m:t>
                    </m:r>
                    <m:r>
                      <a:rPr lang="en-US" altLang="zh-TW" sz="190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&gt;0</m:t>
                    </m:r>
                  </m:oMath>
                </a14:m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看機率接受</a:t>
                </a:r>
                <a:endParaRPr lang="en-US" altLang="zh-TW" sz="19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機率公式 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19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𝑃</m:t>
                    </m:r>
                    <m:r>
                      <a:rPr lang="en-US" altLang="zh-TW" sz="1900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=</m:t>
                    </m:r>
                    <m:sSup>
                      <m:sSupPr>
                        <m:ctrlPr>
                          <a:rPr lang="en-US" altLang="zh-TW" sz="1900" i="1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pPr>
                      <m:e>
                        <m:r>
                          <a:rPr lang="en-US" altLang="zh-TW" sz="1900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ⅇ</m:t>
                        </m:r>
                      </m:e>
                      <m:sup>
                        <m:r>
                          <a:rPr lang="en-US" altLang="zh-TW" sz="1900" dirty="0"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sz="1900" i="1" dirty="0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altLang="zh-TW" sz="1900" dirty="0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Δ</m:t>
                            </m:r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𝐸</m:t>
                            </m:r>
                          </m:num>
                          <m:den>
                            <m:r>
                              <a:rPr lang="en-US" altLang="zh-TW" sz="1900" i="1" dirty="0"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endParaRPr lang="en-US" altLang="zh-TW" sz="19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當溫度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很高時 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機率</a:t>
                </a:r>
                <a14:m>
                  <m:oMath xmlns:m="http://schemas.openxmlformats.org/officeDocument/2006/math">
                    <m:r>
                      <a:rPr lang="en-US" altLang="zh-TW" sz="19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𝑃</m:t>
                    </m:r>
                    <m:r>
                      <a:rPr lang="zh-TW" altLang="en-US" sz="19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接近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，容易接受爛解</a:t>
                </a:r>
                <a:endParaRPr lang="en-US" altLang="zh-TW" sz="19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1371600" lvl="2" indent="-4572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當溫度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T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很低時 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機率</a:t>
                </a:r>
                <a14:m>
                  <m:oMath xmlns:m="http://schemas.openxmlformats.org/officeDocument/2006/math">
                    <m:r>
                      <a:rPr lang="en-US" altLang="zh-TW" sz="19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𝑃</m:t>
                    </m:r>
                    <m:r>
                      <a:rPr lang="zh-TW" altLang="en-US" sz="1900" i="1" dirty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 </m:t>
                    </m:r>
                  </m:oMath>
                </a14:m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接近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，幾乎不接受爛解 </a:t>
                </a:r>
                <a:endParaRPr lang="en-US" altLang="zh-TW" sz="19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降溫</a:t>
                </a:r>
                <a:r>
                  <a:rPr lang="en-US" altLang="zh-TW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(Cooling) : </a:t>
                </a:r>
                <a:r>
                  <a:rPr lang="zh-TW" altLang="en-US" sz="19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每一輪結束後，把溫度將低一點</a:t>
                </a:r>
                <a:endParaRPr lang="en-US" altLang="zh-TW" sz="19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36D052A0-A441-AD43-754F-4C8072F7B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7449552" cy="4605428"/>
              </a:xfrm>
              <a:prstGeom prst="rect">
                <a:avLst/>
              </a:prstGeom>
              <a:blipFill>
                <a:blip r:embed="rId2"/>
                <a:stretch>
                  <a:fillRect l="-655" b="-13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543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CBF4FAB7-369E-4197-0A50-718FCFC9F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07" y="704718"/>
            <a:ext cx="6706536" cy="18862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5FBA363-3A10-0E28-1F8B-016E22BDC094}"/>
                  </a:ext>
                </a:extLst>
              </p:cNvPr>
              <p:cNvSpPr txBox="1"/>
              <p:nvPr/>
            </p:nvSpPr>
            <p:spPr>
              <a:xfrm>
                <a:off x="619125" y="2762250"/>
                <a:ext cx="10544176" cy="2536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原理 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Xorshift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 它利用位元運算的「互斥或 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(XOR)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」與「位移 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(Shift)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」來攪亂數字的位元。</a:t>
                </a:r>
                <a:endParaRPr lang="en-US" altLang="zh-TW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13 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把數字左移</a:t>
                </a:r>
                <a:r>
                  <a:rPr lang="en-US" altLang="zh-TW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13</a:t>
                </a:r>
                <a:r>
                  <a:rPr lang="zh-TW" altLang="en-US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位</a:t>
                </a:r>
                <a:endParaRPr lang="en-US" altLang="zh-TW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ea typeface="標楷體" panose="03000509000000000000" pitchFamily="65" charset="-120"/>
                      </a:rPr>
                      <m:t>𝑥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≫17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把數字</m:t>
                    </m:r>
                    <m:r>
                      <a:rPr lang="zh-TW" altLang="en-US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右</m:t>
                    </m:r>
                    <m:r>
                      <m:rPr>
                        <m:nor/>
                      </m:rPr>
                      <a: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移</m:t>
                    </m:r>
                    <m:r>
                      <m:rPr>
                        <m:nor/>
                      </m:rPr>
                      <a:rPr lang="en-US" altLang="zh-TW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7</m:t>
                    </m:r>
                    <m:r>
                      <m:rPr>
                        <m:nor/>
                      </m:rPr>
                      <a: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位</m:t>
                    </m:r>
                  </m:oMath>
                </a14:m>
                <a:endParaRPr lang="en-US" altLang="zh-TW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b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a:rPr lang="en-US" altLang="zh-TW" b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再</m:t>
                    </m:r>
                    <m:r>
                      <a:rPr lang="zh-TW" altLang="en-US" i="1" dirty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左</m:t>
                    </m:r>
                    <m:r>
                      <m:rPr>
                        <m:nor/>
                      </m:rPr>
                      <a: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移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位</m:t>
                    </m:r>
                  </m:oMath>
                </a14:m>
                <a:endParaRPr lang="en-US" altLang="zh-TW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(13, 17, 5)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： 這是一組經過數學驗證的參數，能保證產生的數字在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altLang="zh-TW" b="0" i="0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次呼叫內幾乎不會重複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Xorshift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Random Number Generators)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  <a:endParaRPr lang="en-US" altLang="zh-TW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5FBA363-3A10-0E28-1F8B-016E22BDC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5" y="2762250"/>
                <a:ext cx="10544176" cy="2536400"/>
              </a:xfrm>
              <a:prstGeom prst="rect">
                <a:avLst/>
              </a:prstGeom>
              <a:blipFill>
                <a:blip r:embed="rId3"/>
                <a:stretch>
                  <a:fillRect l="-521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8663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1364A-0437-6B3D-AF71-13DB59A6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20E7175-5973-928B-788D-7A2599729848}"/>
                  </a:ext>
                </a:extLst>
              </p:cNvPr>
              <p:cNvSpPr txBox="1"/>
              <p:nvPr/>
            </p:nvSpPr>
            <p:spPr>
              <a:xfrm>
                <a:off x="5362575" y="637850"/>
                <a:ext cx="5162549" cy="1705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算出相關值和做互補性檢查</a:t>
                </a:r>
                <a:endParaRPr lang="en-US" altLang="zh-TW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Penalty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若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𝑜𝑟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4 ⇒ </m:t>
                    </m:r>
                  </m:oMath>
                </a14:m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累積罰分</a:t>
                </a:r>
                <a:endParaRPr lang="en-US" altLang="zh-TW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       若 非零值的數量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zh-TW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累積罰分</a:t>
                </a:r>
                <a:endParaRPr lang="en-US" altLang="zh-TW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分數越低越好，分數為 </a:t>
                </a:r>
                <a:r>
                  <a:rPr lang="en-US" altLang="zh-TW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zh-TW" altLang="en-US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則代表找到解答</a:t>
                </a:r>
                <a:endParaRPr lang="en-US" altLang="zh-TW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20E7175-5973-928B-788D-7A2599729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575" y="637850"/>
                <a:ext cx="5162549" cy="1705403"/>
              </a:xfrm>
              <a:prstGeom prst="rect">
                <a:avLst/>
              </a:prstGeom>
              <a:blipFill>
                <a:blip r:embed="rId2"/>
                <a:stretch>
                  <a:fillRect l="-1063" b="-50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圖片 2">
            <a:extLst>
              <a:ext uri="{FF2B5EF4-FFF2-40B4-BE49-F238E27FC236}">
                <a16:creationId xmlns:a16="http://schemas.microsoft.com/office/drawing/2014/main" id="{1684E2E7-7215-EED9-134E-8F13F1CEB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89" y="637850"/>
            <a:ext cx="4277322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074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DAEA2ECE-AED2-898D-A12B-3C582B016A9E}"/>
              </a:ext>
            </a:extLst>
          </p:cNvPr>
          <p:cNvSpPr txBox="1"/>
          <p:nvPr/>
        </p:nvSpPr>
        <p:spPr>
          <a:xfrm>
            <a:off x="0" y="1166842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/>
              <a:t>=== PQCP Search Result: SUCCESS ===</a:t>
            </a:r>
          </a:p>
          <a:p>
            <a:pPr algn="ctr"/>
            <a:r>
              <a:rPr lang="zh-TW" altLang="en-US" sz="2400"/>
              <a:t>Length (L): 44</a:t>
            </a:r>
          </a:p>
          <a:p>
            <a:pPr algn="ctr"/>
            <a:r>
              <a:rPr lang="zh-TW" altLang="en-US" sz="2400"/>
              <a:t>Target: Exactly 2 nonzero sums with magnitude 4</a:t>
            </a:r>
          </a:p>
          <a:p>
            <a:pPr algn="ctr"/>
            <a:r>
              <a:rPr lang="zh-TW" altLang="en-US" sz="2400"/>
              <a:t>Time Elapsed: 8784.64 seconds</a:t>
            </a:r>
          </a:p>
          <a:p>
            <a:pPr algn="ctr"/>
            <a:r>
              <a:rPr lang="zh-TW" altLang="en-US" sz="2400"/>
              <a:t>Restart Count: 2161, Iteration: 4322019</a:t>
            </a:r>
          </a:p>
          <a:p>
            <a:pPr algn="ctr"/>
            <a:endParaRPr lang="zh-TW" altLang="en-US" sz="2400"/>
          </a:p>
          <a:p>
            <a:pPr algn="ctr"/>
            <a:r>
              <a:rPr lang="zh-TW" altLang="en-US" sz="2400"/>
              <a:t>Sequence A: 11011100101000111101000111101101100111010011</a:t>
            </a:r>
          </a:p>
          <a:p>
            <a:pPr algn="ctr"/>
            <a:r>
              <a:rPr lang="zh-TW" altLang="en-US" sz="2400"/>
              <a:t>Sequence B: 11011101010000110111010000100100101110011111</a:t>
            </a:r>
          </a:p>
          <a:p>
            <a:pPr algn="ctr"/>
            <a:endParaRPr lang="zh-TW" altLang="en-US" sz="2400"/>
          </a:p>
          <a:p>
            <a:pPr algn="ctr"/>
            <a:r>
              <a:rPr lang="zh-TW" altLang="en-US" sz="2400"/>
              <a:t>Verification Sums (|rho(a) + rho(b)|):</a:t>
            </a:r>
          </a:p>
          <a:p>
            <a:pPr algn="ctr"/>
            <a:r>
              <a:rPr lang="zh-TW" altLang="en-US" sz="2400"/>
              <a:t>[ 0 0 0 0 0 0 0 0 0 0 0 0 0 0 0 0 0 0 0 4 0 0 0 4 0 0 0 0 0 0 0 0 0 0 0 0 0 0 0 0 0 0 0 ]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7B3A1DC7-5B6F-474F-316D-09F5A7B8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>
                <a:latin typeface="Times New Roman"/>
                <a:ea typeface="新細明體"/>
                <a:cs typeface="Calibri Light"/>
              </a:rPr>
              <a:t>Result – L44</a:t>
            </a:r>
            <a:endParaRPr lang="zh-TW" alt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524599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BAE76F93-DDE9-C330-64D7-69247F4E09E6}"/>
              </a:ext>
            </a:extLst>
          </p:cNvPr>
          <p:cNvSpPr txBox="1"/>
          <p:nvPr/>
        </p:nvSpPr>
        <p:spPr>
          <a:xfrm>
            <a:off x="0" y="1166842"/>
            <a:ext cx="12192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/>
              <a:t>=== PQCP Search Result: SUCCESS ===</a:t>
            </a:r>
          </a:p>
          <a:p>
            <a:pPr algn="ctr"/>
            <a:r>
              <a:rPr lang="zh-TW" altLang="en-US" sz="2400"/>
              <a:t>Length (L): 46</a:t>
            </a:r>
          </a:p>
          <a:p>
            <a:pPr algn="ctr"/>
            <a:r>
              <a:rPr lang="zh-TW" altLang="en-US" sz="2400"/>
              <a:t>Target: Exactly 2 nonzero sums with magnitude 4</a:t>
            </a:r>
          </a:p>
          <a:p>
            <a:pPr algn="ctr"/>
            <a:r>
              <a:rPr lang="zh-TW" altLang="en-US" sz="2400"/>
              <a:t>Time Elapsed: 144794.54 seconds</a:t>
            </a:r>
          </a:p>
          <a:p>
            <a:pPr algn="ctr"/>
            <a:r>
              <a:rPr lang="zh-TW" altLang="en-US" sz="2400"/>
              <a:t>Restart Count: 35988, Iteration: 4771402</a:t>
            </a:r>
          </a:p>
          <a:p>
            <a:pPr algn="ctr"/>
            <a:endParaRPr lang="zh-TW" altLang="en-US" sz="2400"/>
          </a:p>
          <a:p>
            <a:pPr algn="ctr"/>
            <a:r>
              <a:rPr lang="zh-TW" altLang="en-US" sz="2400"/>
              <a:t>Sequence A: 0001011100100101100011000110101101000101100001</a:t>
            </a:r>
          </a:p>
          <a:p>
            <a:pPr algn="ctr"/>
            <a:r>
              <a:rPr lang="zh-TW" altLang="en-US" sz="2400"/>
              <a:t>Sequence B: 1000000110010011110000001101111101010100001000</a:t>
            </a:r>
          </a:p>
          <a:p>
            <a:pPr algn="ctr"/>
            <a:endParaRPr lang="zh-TW" altLang="en-US" sz="2400"/>
          </a:p>
          <a:p>
            <a:pPr algn="ctr"/>
            <a:r>
              <a:rPr lang="zh-TW" altLang="en-US" sz="2400"/>
              <a:t>Verification Sums (|rho(a) + rho(b)|):</a:t>
            </a:r>
          </a:p>
          <a:p>
            <a:pPr algn="ctr"/>
            <a:r>
              <a:rPr lang="zh-TW" altLang="en-US" sz="2400"/>
              <a:t>[ 0 0 0 0 0 0 0 0 0 0 0 0 0 0 0 0 0 0 0 4 0 0 0 0 0 4 0 0 0 0 0 0 0 0 0 0 0 0 0 0 0 0 0 0 0 ]</a:t>
            </a: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A2F1DF10-48EC-D561-3A4B-5BF6EE3F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>
                <a:latin typeface="Times New Roman"/>
                <a:ea typeface="新細明體"/>
                <a:cs typeface="Calibri Light"/>
              </a:rPr>
              <a:t>Result – L46</a:t>
            </a:r>
            <a:endParaRPr lang="zh-TW" alt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6624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A337-F073-2D5C-546D-23E3485F7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B0570DB1-1241-DFEF-0A2E-CCE0733436F6}"/>
              </a:ext>
            </a:extLst>
          </p:cNvPr>
          <p:cNvSpPr txBox="1">
            <a:spLocks/>
          </p:cNvSpPr>
          <p:nvPr/>
        </p:nvSpPr>
        <p:spPr>
          <a:xfrm>
            <a:off x="2314460" y="2878494"/>
            <a:ext cx="7563080" cy="110101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altLang="zh-TW" sz="4500" err="1">
                <a:latin typeface="Times New Roman"/>
                <a:ea typeface="微軟正黑體"/>
                <a:cs typeface="Times New Roman"/>
              </a:rPr>
              <a:t>eND</a:t>
            </a:r>
            <a:r>
              <a:rPr lang="en-US" altLang="zh-TW">
                <a:solidFill>
                  <a:schemeClr val="bg1"/>
                </a:solidFill>
                <a:latin typeface="Times New Roman"/>
                <a:ea typeface="微軟正黑體"/>
                <a:cs typeface="Times New Roman"/>
              </a:rPr>
              <a:t> </a:t>
            </a:r>
            <a:endParaRPr lang="zh-TW" altLang="en-US">
              <a:solidFill>
                <a:schemeClr val="bg1"/>
              </a:solidFill>
              <a:latin typeface="Times New Roman" panose="02020603050405020304" pitchFamily="18" charset="0"/>
              <a:ea typeface="微軟正黑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91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2851</Words>
  <Application>Microsoft Office PowerPoint</Application>
  <PresentationFormat>寬螢幕</PresentationFormat>
  <Paragraphs>482</Paragraphs>
  <Slides>31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5" baseType="lpstr">
      <vt:lpstr>Noto Sans TC</vt:lpstr>
      <vt:lpstr>游ゴシック</vt:lpstr>
      <vt:lpstr>新細明體</vt:lpstr>
      <vt:lpstr>DFKai-SB</vt:lpstr>
      <vt:lpstr>DFKai-SB</vt:lpstr>
      <vt:lpstr>Arial</vt:lpstr>
      <vt:lpstr>Calibri</vt:lpstr>
      <vt:lpstr>Calibri Light</vt:lpstr>
      <vt:lpstr>Cambria Math</vt:lpstr>
      <vt:lpstr>Roboto</vt:lpstr>
      <vt:lpstr>Times</vt:lpstr>
      <vt:lpstr>Times New Roman</vt:lpstr>
      <vt:lpstr>Wingdings</vt:lpstr>
      <vt:lpstr>Office 佈景主題</vt:lpstr>
      <vt:lpstr>通訊序列設計 期末 project</vt:lpstr>
      <vt:lpstr>Table of contents</vt:lpstr>
      <vt:lpstr>ODD optimal PACP</vt:lpstr>
      <vt:lpstr>Variable setting</vt:lpstr>
      <vt:lpstr>Legrendre sequence</vt:lpstr>
      <vt:lpstr>Mathematical Classification</vt:lpstr>
      <vt:lpstr>Core algorithms</vt:lpstr>
      <vt:lpstr>Summary of results </vt:lpstr>
      <vt:lpstr>27~59</vt:lpstr>
      <vt:lpstr>PowerPoint 簡報</vt:lpstr>
      <vt:lpstr>all prime ≡ 3(mod 4) (ex. L=999 …) above 60  </vt:lpstr>
      <vt:lpstr>all prime ≡ 3(mod 4) (ex. L=999 …) above 60  </vt:lpstr>
      <vt:lpstr>all prime ≡ 3(mod 4) (ex. L=999 …) above 60  </vt:lpstr>
      <vt:lpstr>EVEN optimal PACP</vt:lpstr>
      <vt:lpstr>EVEN optimal PACP</vt:lpstr>
      <vt:lpstr>Permutation Pair(s) with necessary condition</vt:lpstr>
      <vt:lpstr>EVEN optimal PACP-Parameter Setup</vt:lpstr>
      <vt:lpstr>EVEN optimal PACP - Gosper's Hack</vt:lpstr>
      <vt:lpstr>EVEN optimal PACP-Algorithm</vt:lpstr>
      <vt:lpstr>VERIFY EVEN Optimal (L, Z)-SZCP</vt:lpstr>
      <vt:lpstr>VERIFY EVEN Optimal (L, Z)-SZCP</vt:lpstr>
      <vt:lpstr>VERIFY EVEN Optimal (L, Z)-SZCP</vt:lpstr>
      <vt:lpstr>VERIFY EVEN Optimal (L, Z)-SZCP</vt:lpstr>
      <vt:lpstr>Summary of results </vt:lpstr>
      <vt:lpstr>PQCP</vt:lpstr>
      <vt:lpstr>Simulated Annealing</vt:lpstr>
      <vt:lpstr>PowerPoint 簡報</vt:lpstr>
      <vt:lpstr>PowerPoint 簡報</vt:lpstr>
      <vt:lpstr>Result – L44</vt:lpstr>
      <vt:lpstr>Result – L46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承翰 甘</dc:creator>
  <cp:lastModifiedBy>榆君 范</cp:lastModifiedBy>
  <cp:revision>2</cp:revision>
  <dcterms:created xsi:type="dcterms:W3CDTF">2025-12-23T06:13:01Z</dcterms:created>
  <dcterms:modified xsi:type="dcterms:W3CDTF">2026-01-09T03:56:03Z</dcterms:modified>
</cp:coreProperties>
</file>