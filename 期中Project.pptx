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0"/>
  </p:notesMasterIdLst>
  <p:sldIdLst>
    <p:sldId id="256" r:id="rId2"/>
    <p:sldId id="277" r:id="rId3"/>
    <p:sldId id="266" r:id="rId4"/>
    <p:sldId id="274" r:id="rId5"/>
    <p:sldId id="287" r:id="rId6"/>
    <p:sldId id="276" r:id="rId7"/>
    <p:sldId id="265" r:id="rId8"/>
    <p:sldId id="258" r:id="rId9"/>
    <p:sldId id="268" r:id="rId10"/>
    <p:sldId id="259" r:id="rId11"/>
    <p:sldId id="301" r:id="rId12"/>
    <p:sldId id="260" r:id="rId13"/>
    <p:sldId id="288" r:id="rId14"/>
    <p:sldId id="269" r:id="rId15"/>
    <p:sldId id="291" r:id="rId16"/>
    <p:sldId id="283" r:id="rId17"/>
    <p:sldId id="292" r:id="rId18"/>
    <p:sldId id="293" r:id="rId19"/>
    <p:sldId id="295" r:id="rId20"/>
    <p:sldId id="300" r:id="rId21"/>
    <p:sldId id="286" r:id="rId22"/>
    <p:sldId id="285" r:id="rId23"/>
    <p:sldId id="284" r:id="rId24"/>
    <p:sldId id="271" r:id="rId25"/>
    <p:sldId id="263" r:id="rId26"/>
    <p:sldId id="290" r:id="rId27"/>
    <p:sldId id="289" r:id="rId28"/>
    <p:sldId id="262" r:id="rId29"/>
    <p:sldId id="272" r:id="rId30"/>
    <p:sldId id="278" r:id="rId31"/>
    <p:sldId id="279" r:id="rId32"/>
    <p:sldId id="280" r:id="rId33"/>
    <p:sldId id="296" r:id="rId34"/>
    <p:sldId id="297" r:id="rId35"/>
    <p:sldId id="264" r:id="rId36"/>
    <p:sldId id="302" r:id="rId37"/>
    <p:sldId id="299" r:id="rId38"/>
    <p:sldId id="298" r:id="rId39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F76B4-BCC5-46C7-856F-F596862D1240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9C35B-20AB-470F-B44E-3E9BE647C1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83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83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挑戰：</a:t>
            </a:r>
            <a:r>
              <a:rPr lang="zh-TW" altLang="en-US"/>
              <a:t> 這個問題的搜尋空間極其龐大。例如，要用「暴力搜尋法」在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L=74</a:t>
            </a:r>
            <a:r>
              <a:rPr lang="zh-TW" altLang="en-US"/>
              <a:t>的序列中尋找解，其組合數約為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10^21</a:t>
            </a:r>
            <a:r>
              <a:rPr lang="zh-TW" altLang="en-US"/>
              <a:t>，這在計算上是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不可能</a:t>
            </a:r>
            <a:r>
              <a:rPr lang="zh-TW" altLang="en-US"/>
              <a:t>完成的。</a:t>
            </a:r>
            <a:endParaRPr lang="en-US" altLang="zh-TW"/>
          </a:p>
          <a:p>
            <a:r>
              <a:rPr lang="zh-TW" altLang="en-US" b="1"/>
              <a:t>解決方案：</a:t>
            </a:r>
            <a:r>
              <a:rPr lang="zh-TW" altLang="en-US"/>
              <a:t> 透過「代數群論」將這個「不可能的」暴力搜尋問題，簡化為一個「可行的」電腦搜尋問題 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778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我們不直接尋找序列，而是將其轉換為一個等價的代數問題：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尋找一對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PCP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序列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(A, B)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的問題，等同於尋找一對</a:t>
            </a:r>
            <a:r>
              <a:rPr lang="zh-TW" altLang="en-US"/>
              <a:t>「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補充差集」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(Supplementary Difference Set, SDS).</a:t>
            </a:r>
          </a:p>
          <a:p>
            <a:r>
              <a:rPr lang="zh-TW" altLang="en-US"/>
              <a:t>集合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Y)</a:t>
            </a:r>
            <a:r>
              <a:rPr lang="zh-TW" altLang="en-US"/>
              <a:t>的定義：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集合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是序列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中所有值為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的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索引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(index) 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集合 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。集合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Y$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是序列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中所有值為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的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索引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(index) 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集合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。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141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V </a:t>
            </a:r>
            <a:r>
              <a:rPr lang="zh-TW" altLang="en-US"/>
              <a:t>是序列的長度 </a:t>
            </a:r>
            <a:endParaRPr lang="en-US" altLang="zh-TW"/>
          </a:p>
          <a:p>
            <a:r>
              <a:rPr lang="en-US" altLang="zh-TW"/>
              <a:t>r s </a:t>
            </a:r>
            <a:r>
              <a:rPr lang="zh-TW" altLang="en-US"/>
              <a:t>分別是集合</a:t>
            </a:r>
            <a:r>
              <a:rPr lang="en-US" altLang="zh-TW"/>
              <a:t>X Y</a:t>
            </a:r>
            <a:r>
              <a:rPr lang="zh-TW" altLang="en-US"/>
              <a:t>的大小及序列 </a:t>
            </a:r>
            <a:r>
              <a:rPr lang="en-US" altLang="zh-TW"/>
              <a:t>A</a:t>
            </a:r>
            <a:r>
              <a:rPr lang="zh-TW" altLang="en-US"/>
              <a:t> 和 </a:t>
            </a:r>
            <a:r>
              <a:rPr lang="en-US" altLang="zh-TW"/>
              <a:t>B</a:t>
            </a:r>
            <a:r>
              <a:rPr lang="zh-TW" altLang="en-US"/>
              <a:t> 中</a:t>
            </a:r>
            <a:r>
              <a:rPr lang="en-US" altLang="zh-TW"/>
              <a:t>-1</a:t>
            </a:r>
            <a:r>
              <a:rPr lang="zh-TW" altLang="en-US"/>
              <a:t>的總個數</a:t>
            </a:r>
            <a:endParaRPr lang="en-US" altLang="zh-TW"/>
          </a:p>
          <a:p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(lambda)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共同差值出現次數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」。這是一個嚴格的代數限制，它要求在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內部，任何非零差值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出現的總次數必須剛好等於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883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C699-2968-9E90-BBEA-77A5E927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595D24-C52D-A42E-A5BB-6FDF60872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7EF1DC-297D-C8C4-2140-516D3E65F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V </a:t>
            </a:r>
            <a:r>
              <a:rPr lang="zh-TW" altLang="en-US"/>
              <a:t>是序列的長度 </a:t>
            </a:r>
            <a:endParaRPr lang="en-US" altLang="zh-TW"/>
          </a:p>
          <a:p>
            <a:r>
              <a:rPr lang="en-US" altLang="zh-TW"/>
              <a:t>r s </a:t>
            </a:r>
            <a:r>
              <a:rPr lang="zh-TW" altLang="en-US"/>
              <a:t>分別是集合</a:t>
            </a:r>
            <a:r>
              <a:rPr lang="en-US" altLang="zh-TW"/>
              <a:t>X Y</a:t>
            </a:r>
            <a:r>
              <a:rPr lang="zh-TW" altLang="en-US"/>
              <a:t>的大小及序列 </a:t>
            </a:r>
            <a:r>
              <a:rPr lang="en-US" altLang="zh-TW"/>
              <a:t>A</a:t>
            </a:r>
            <a:r>
              <a:rPr lang="zh-TW" altLang="en-US"/>
              <a:t> 和 </a:t>
            </a:r>
            <a:r>
              <a:rPr lang="en-US" altLang="zh-TW"/>
              <a:t>B</a:t>
            </a:r>
            <a:r>
              <a:rPr lang="zh-TW" altLang="en-US"/>
              <a:t> 中</a:t>
            </a:r>
            <a:r>
              <a:rPr lang="en-US" altLang="zh-TW"/>
              <a:t>-1</a:t>
            </a:r>
            <a:r>
              <a:rPr lang="zh-TW" altLang="en-US"/>
              <a:t>的總個數</a:t>
            </a:r>
            <a:endParaRPr lang="en-US" altLang="zh-TW"/>
          </a:p>
          <a:p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(lambda)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共同差值出現次數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」。這是一個嚴格的代數限制，它要求在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內部，任何非零差值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出現的總次數必須剛好等於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7D5963-7443-E177-3FAD-3A08A880C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485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引入代數對稱性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。我們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假設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我們要找的解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Y)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不是隨機的，而是具有「結構性規律</a:t>
            </a:r>
            <a:r>
              <a:rPr lang="zh-TW" altLang="en-US"/>
              <a:t>」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/>
              <a:t>這個「規律」就是我們用來簡化問題的「代數工具」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132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鎖定範圍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Z_v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^*):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我們在 </a:t>
            </a:r>
            <a:r>
              <a:rPr lang="en-US" altLang="zh-TW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Z_v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乘法群 </a:t>
            </a:r>
            <a:r>
              <a:rPr lang="en-US" altLang="zh-TW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Z_v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中尋找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TW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Q: 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為什麼要找互質的數？</a:t>
            </a:r>
            <a:endParaRPr lang="zh-TW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A: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因為只有與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$v$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互質的數才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有「乘法反元素」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，而「反元素」是構成「群」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(Group)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的必要條件</a:t>
            </a:r>
            <a:endParaRPr lang="en-US" altLang="zh-TW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計算範圍大小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($\phi(v)$):</a:t>
            </a:r>
            <a:r>
              <a:rPr lang="zh-TW" altLang="en-US"/>
              <a:t> 我們用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歐拉函數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$\phi(v)$</a:t>
            </a:r>
            <a:r>
              <a:rPr lang="zh-TW" altLang="en-US"/>
              <a:t> 來計算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TW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Z_v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^*$</a:t>
            </a:r>
            <a:r>
              <a:rPr lang="zh-TW" altLang="en-US"/>
              <a:t> 的大小（元素總數）。</a:t>
            </a:r>
            <a:endParaRPr lang="en-US" altLang="zh-TW"/>
          </a:p>
          <a:p>
            <a:endParaRPr lang="zh-TW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列出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 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的可能大小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/>
              <a:t> 根據</a:t>
            </a:r>
            <a:r>
              <a:rPr lang="en-US" altLang="zh-TW"/>
              <a:t>《</a:t>
            </a:r>
            <a:r>
              <a:rPr lang="zh-TW" altLang="en-US"/>
              <a:t>代數學</a:t>
            </a:r>
            <a:r>
              <a:rPr lang="en-US" altLang="zh-TW"/>
              <a:t>》</a:t>
            </a:r>
            <a:r>
              <a:rPr lang="zh-TW" altLang="en-US"/>
              <a:t>中的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拉格朗日定理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(Theorem 10.10)</a:t>
            </a:r>
            <a:r>
              <a:rPr lang="zh-TW" altLang="en-US"/>
              <a:t>，子群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zh-TW" altLang="en-US"/>
              <a:t>的大小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|H|</a:t>
            </a:r>
            <a:r>
              <a:rPr lang="zh-TW" altLang="en-US"/>
              <a:t>必須是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phi(v)</a:t>
            </a:r>
            <a:r>
              <a:rPr lang="zh-TW" altLang="en-US"/>
              <a:t>的因數。</a:t>
            </a:r>
            <a:endParaRPr lang="en-US" altLang="zh-TW"/>
          </a:p>
          <a:p>
            <a:endParaRPr lang="en-US" altLang="zh-TW"/>
          </a:p>
          <a:p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構造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H:</a:t>
            </a:r>
            <a:r>
              <a:rPr lang="zh-TW" altLang="en-US"/>
              <a:t> 我們選擇一個大小（例如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|H|=3</a:t>
            </a:r>
            <a:r>
              <a:rPr lang="zh-TW" altLang="en-US"/>
              <a:t>），並找到一個該階數的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生成元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r>
              <a:rPr lang="zh-TW" altLang="en-US"/>
              <a:t>（例如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$47^3 \</a:t>
            </a:r>
            <a:r>
              <a:rPr lang="en-US" altLang="zh-TW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\</a:t>
            </a:r>
            <a:r>
              <a:rPr lang="en-US" altLang="zh-TW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pmod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{74}$</a:t>
            </a:r>
            <a:r>
              <a:rPr lang="zh-TW" altLang="en-US"/>
              <a:t>）。</a:t>
            </a:r>
            <a:endParaRPr lang="en-US" altLang="zh-TW"/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779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從「選元素」到「選軌道」</a:t>
            </a:r>
            <a:endParaRPr lang="en-US" altLang="zh-TW"/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501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08B7-FE13-5EDB-69D1-7BDB46F0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8433FE-4CCF-1F82-0E29-493572976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8EC1C0E-9761-8111-0AFE-133CF6795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j: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Z_v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中的一個元素，用來生成軌道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  j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J: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最終的解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。一個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索引集合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(Index Set)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，記錄了組成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的所有軌道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如何找 </a:t>
            </a:r>
            <a:r>
              <a:rPr lang="en-US" altLang="zh-TW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透過大規模</a:t>
            </a:r>
            <a:r>
              <a:rPr lang="zh-TW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電腦搜尋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。演算法會產生數百萬個候選的「軌道聯集」，然後比對它們的「差值分佈」，找出剛好滿足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條件的那一組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Y)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 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就是那個「中獎」的 </a:t>
            </a:r>
            <a:r>
              <a:rPr lang="en-US" altLang="zh-TW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TW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所對應的索引集。</a:t>
            </a:r>
          </a:p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C1BA19-CCBA-6F7F-7437-8D5E88CA3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599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6B44-D983-6FE0-FC4C-98C43DCA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917721D-4119-FF81-8383-10D6D97A6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3B43943-CF74-5F0C-3DB2-7FD8128B1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86F9E5-03B3-192D-79A6-26F4CD1A2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528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921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230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627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9C35B-20AB-470F-B44E-3E9BE647C1F5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1174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0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0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2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8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7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8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1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71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8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13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4303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4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8462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51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15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8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14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812A3E-0A0B-8B98-639E-266269A65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24" y="682059"/>
            <a:ext cx="9938484" cy="2971801"/>
          </a:xfrm>
        </p:spPr>
        <p:txBody>
          <a:bodyPr>
            <a:normAutofit/>
          </a:bodyPr>
          <a:lstStyle/>
          <a:p>
            <a:r>
              <a:rPr lang="zh-TW" altLang="en-US" sz="5400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通訊序列設計 期中 </a:t>
            </a:r>
            <a:r>
              <a:rPr lang="en-US" altLang="zh-TW" sz="5400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project</a:t>
            </a:r>
            <a:endParaRPr lang="zh-TW" altLang="en-US" sz="5400" b="1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B5DCF1-7D51-6656-B020-438241AE3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624" y="3909976"/>
            <a:ext cx="6400800" cy="523947"/>
          </a:xfrm>
        </p:spPr>
        <p:txBody>
          <a:bodyPr>
            <a:norm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核心問題 如何找到</a:t>
            </a:r>
            <a:r>
              <a:rPr lang="en-US" altLang="zh-TW" sz="28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PCP</a:t>
            </a:r>
            <a:endParaRPr lang="zh-TW" altLang="en-US" sz="2800" b="1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6D2267ED-9135-59CD-83F7-CE0DBA3CCC31}"/>
              </a:ext>
            </a:extLst>
          </p:cNvPr>
          <p:cNvSpPr txBox="1">
            <a:spLocks/>
          </p:cNvSpPr>
          <p:nvPr/>
        </p:nvSpPr>
        <p:spPr>
          <a:xfrm>
            <a:off x="8285717" y="4690040"/>
            <a:ext cx="2950084" cy="20523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Q36144103</a:t>
            </a:r>
            <a:r>
              <a:rPr lang="zh-TW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陳品維</a:t>
            </a:r>
            <a:endParaRPr lang="en-US" altLang="zh-TW" sz="2400" b="1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Q36144268</a:t>
            </a:r>
            <a:r>
              <a:rPr lang="zh-TW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甘承翰</a:t>
            </a:r>
            <a:endParaRPr lang="en-US" altLang="zh-TW" sz="2400" b="1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Q36144187</a:t>
            </a:r>
            <a:r>
              <a:rPr lang="zh-TW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范榆君</a:t>
            </a:r>
          </a:p>
        </p:txBody>
      </p:sp>
    </p:spTree>
    <p:extLst>
      <p:ext uri="{BB962C8B-B14F-4D97-AF65-F5344CB8AC3E}">
        <p14:creationId xmlns:p14="http://schemas.microsoft.com/office/powerpoint/2010/main" val="4256424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3918D-DFFB-C6B3-57EE-92485766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0355"/>
            <a:ext cx="8534400" cy="1507067"/>
          </a:xfrm>
        </p:spPr>
        <p:txBody>
          <a:bodyPr>
            <a:normAutofit/>
          </a:bodyPr>
          <a:lstStyle/>
          <a:p>
            <a:r>
              <a:rPr lang="zh-TW" sz="4000" b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zh-TW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0E8095-79B7-832B-C261-BB332684F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953372"/>
            <a:ext cx="8534400" cy="36152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Tx/>
              <a:buFont typeface="Arial" panose="05040102010807070707" pitchFamily="18" charset="2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固定配對窮舉法</a:t>
            </a:r>
            <a:r>
              <a:rPr lang="en-US" altLang="zh-TW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(L=50)</a:t>
            </a:r>
            <a:endParaRPr lang="zh-TW" altLang="en-US" sz="240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Arial" panose="05040102010807070707" pitchFamily="18" charset="2"/>
              <a:buChar char="•"/>
            </a:pPr>
            <a:r>
              <a:rPr lang="en-US" altLang="zh-TW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SDS</a:t>
            </a:r>
            <a:r>
              <a:rPr lang="zh-TW" altLang="en-US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建構法</a:t>
            </a:r>
            <a:r>
              <a:rPr lang="en-US" altLang="zh-TW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(L=74</a:t>
            </a:r>
            <a:r>
              <a:rPr lang="zh-TW" altLang="en-US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82)</a:t>
            </a:r>
            <a:endParaRPr lang="zh-TW" sz="240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Tx/>
              <a:buFont typeface="Arial" panose="05040102010807070707" pitchFamily="18" charset="2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序列壓縮法</a:t>
            </a:r>
            <a:r>
              <a:rPr lang="en-US" altLang="zh-TW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(L=90)</a:t>
            </a:r>
            <a:endParaRPr lang="zh-TW" sz="240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8932C39E-4B7A-E54F-5F2F-99F706118E76}"/>
              </a:ext>
            </a:extLst>
          </p:cNvPr>
          <p:cNvCxnSpPr/>
          <p:nvPr/>
        </p:nvCxnSpPr>
        <p:spPr>
          <a:xfrm>
            <a:off x="686381" y="1419297"/>
            <a:ext cx="8620488" cy="11633"/>
          </a:xfrm>
          <a:prstGeom prst="straightConnector1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16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E9A5-F316-2ABA-837D-7E355C92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image.png">
            <a:extLst>
              <a:ext uri="{FF2B5EF4-FFF2-40B4-BE49-F238E27FC236}">
                <a16:creationId xmlns:a16="http://schemas.microsoft.com/office/drawing/2014/main" id="{37405C7D-5362-7CC6-3C14-4DD22576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26" y="3429000"/>
            <a:ext cx="4572000" cy="542925"/>
          </a:xfrm>
          <a:prstGeom prst="rect">
            <a:avLst/>
          </a:prstGeom>
        </p:spPr>
      </p:pic>
      <p:pic>
        <p:nvPicPr>
          <p:cNvPr id="4" name="圖片 3" descr="image.png">
            <a:extLst>
              <a:ext uri="{FF2B5EF4-FFF2-40B4-BE49-F238E27FC236}">
                <a16:creationId xmlns:a16="http://schemas.microsoft.com/office/drawing/2014/main" id="{1B32F8DB-290F-A17F-5431-12AC3081C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26" y="4263571"/>
            <a:ext cx="4572000" cy="542925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708B8B31-EA47-8811-862B-9BB9EFE27981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8268478" cy="11278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err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固定配對窮舉法</a:t>
            </a:r>
            <a:r>
              <a:rPr lang="en-US" altLang="zh-TW" sz="320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sz="3200">
                <a:solidFill>
                  <a:schemeClr val="bg2">
                    <a:lumMod val="76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(Ex. L=50)</a:t>
            </a:r>
            <a:b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9685ADD-28DB-6AD0-5402-248520492451}"/>
                  </a:ext>
                </a:extLst>
              </p:cNvPr>
              <p:cNvSpPr txBox="1"/>
              <p:nvPr/>
            </p:nvSpPr>
            <p:spPr>
              <a:xfrm>
                <a:off x="236343" y="1298789"/>
                <a:ext cx="10709753" cy="406944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42900" indent="-342900">
                  <a:buFont typeface="Arial"/>
                  <a:buChar char="•"/>
                </a:pP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固定 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搜尋 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，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搭配存在於PCP的一個已知的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序列 </a:t>
                </a:r>
              </a:p>
              <a:p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{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−−−−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++++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+++</m:t>
                    </m:r>
                  </m:oMath>
                </a14:m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}且序列元素和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zh-TW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平方和定理：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² + 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² = 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𝟏𝟎𝟎</m:t>
                    </m:r>
                  </m:oMath>
                </a14:m>
                <a:endParaRPr lang="en-US" altLang="zh-TW" sz="2000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參數設定：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r>
                  <a:rPr lang="zh-TW" altLang="en-US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已知固定序列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zh-TW" altLang="en-US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，則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|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i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 |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r>
                  <a:rPr lang="zh-TW" altLang="en-US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必須為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8</a:t>
                </a:r>
                <a:r>
                  <a:rPr lang="zh-TW" altLang="en-US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000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/>
                  <a:buChar char="•"/>
                </a:pP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權重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(Weight) </a:t>
                </a: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計算：如果讓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序列和為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8</a:t>
                </a: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，長度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50 </a:t>
                </a: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的序列</a:t>
                </a:r>
                <a:r>
                  <a:rPr lang="en-US" altLang="zh-TW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B </a:t>
                </a: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必須恰好包含21個-1</a:t>
                </a:r>
                <a:endParaRPr lang="en-US" altLang="zh-TW" sz="2000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/>
                  <a:buChar char="•"/>
                </a:pPr>
                <a:r>
                  <a:rPr lang="zh-TW" altLang="en-US" sz="2000" b="1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效益：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r>
                  <a:rPr lang="zh-TW" altLang="en-US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將搜尋空間從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⁵⁰</m:t>
                    </m:r>
                    <m:r>
                      <a:rPr lang="en-US" altLang="zh-TW" sz="2000" i="1" dirty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TW" altLang="en-US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大幅縮減至</a:t>
                </a:r>
                <a:r>
                  <a:rPr lang="en-US" altLang="zh-TW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𝑪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𝟐𝟏</m:t>
                    </m:r>
                    <m:r>
                      <a:rPr lang="en-US" altLang="zh-TW" sz="2000" b="1" i="1" dirty="0" smtClean="0">
                        <a:solidFill>
                          <a:srgbClr val="2C3E50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2000" dirty="0">
                    <a:solidFill>
                      <a:srgbClr val="2C3E5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sz="2000" dirty="0">
                  <a:solidFill>
                    <a:srgbClr val="2C3E5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sz="2000" b="1" dirty="0" err="1">
                    <a:solidFill>
                      <a:srgbClr val="3498DB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程式執行流程</a:t>
                </a:r>
                <a:r>
                  <a:rPr lang="en-US" sz="2000" b="1" dirty="0">
                    <a:solidFill>
                      <a:srgbClr val="3498DB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endParaRPr lang="en-US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br>
                  <a:rPr 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</a:br>
                <a:b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</a:br>
                <a:b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</a:b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b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</a:b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9685ADD-28DB-6AD0-5402-248520492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43" y="1298789"/>
                <a:ext cx="10709753" cy="4069447"/>
              </a:xfrm>
              <a:prstGeom prst="rect">
                <a:avLst/>
              </a:prstGeom>
              <a:blipFill>
                <a:blip r:embed="rId4"/>
                <a:stretch>
                  <a:fillRect l="-626" t="-749" r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 descr="image.png">
            <a:extLst>
              <a:ext uri="{FF2B5EF4-FFF2-40B4-BE49-F238E27FC236}">
                <a16:creationId xmlns:a16="http://schemas.microsoft.com/office/drawing/2014/main" id="{1A02AA70-5699-A17D-D241-1B2D84CA7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634" y="5096774"/>
            <a:ext cx="4572000" cy="542925"/>
          </a:xfrm>
          <a:prstGeom prst="rect">
            <a:avLst/>
          </a:prstGeom>
        </p:spPr>
      </p:pic>
      <p:pic>
        <p:nvPicPr>
          <p:cNvPr id="9" name="圖片 8" descr="image.png">
            <a:extLst>
              <a:ext uri="{FF2B5EF4-FFF2-40B4-BE49-F238E27FC236}">
                <a16:creationId xmlns:a16="http://schemas.microsoft.com/office/drawing/2014/main" id="{D91795CB-F614-A4A1-359E-70957EDAB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8131" y="3974874"/>
            <a:ext cx="219075" cy="285750"/>
          </a:xfrm>
          <a:prstGeom prst="rect">
            <a:avLst/>
          </a:prstGeom>
        </p:spPr>
      </p:pic>
      <p:pic>
        <p:nvPicPr>
          <p:cNvPr id="10" name="圖片 9" descr="image.png">
            <a:extLst>
              <a:ext uri="{FF2B5EF4-FFF2-40B4-BE49-F238E27FC236}">
                <a16:creationId xmlns:a16="http://schemas.microsoft.com/office/drawing/2014/main" id="{C40F111F-75E3-DDD6-FA9D-DBDDFFBFF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8131" y="4809445"/>
            <a:ext cx="219075" cy="285750"/>
          </a:xfrm>
          <a:prstGeom prst="rect">
            <a:avLst/>
          </a:prstGeom>
        </p:spPr>
      </p:pic>
      <p:pic>
        <p:nvPicPr>
          <p:cNvPr id="8" name="圖片 7" descr="image.png">
            <a:extLst>
              <a:ext uri="{FF2B5EF4-FFF2-40B4-BE49-F238E27FC236}">
                <a16:creationId xmlns:a16="http://schemas.microsoft.com/office/drawing/2014/main" id="{D3DFDA89-9351-7409-64FA-1B223F2D9C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0526" y="5932714"/>
            <a:ext cx="4572000" cy="542925"/>
          </a:xfrm>
          <a:prstGeom prst="rect">
            <a:avLst/>
          </a:prstGeom>
        </p:spPr>
      </p:pic>
      <p:pic>
        <p:nvPicPr>
          <p:cNvPr id="11" name="圖片 10" descr="image.png">
            <a:extLst>
              <a:ext uri="{FF2B5EF4-FFF2-40B4-BE49-F238E27FC236}">
                <a16:creationId xmlns:a16="http://schemas.microsoft.com/office/drawing/2014/main" id="{41CA4E52-4921-AAEF-42E0-AF127F94C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8131" y="5644016"/>
            <a:ext cx="21907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79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F2844-13F0-3DA1-9217-0FE2FBA0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800BB48D-0875-4B7B-2244-A3501BE1390B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8268478" cy="11278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300" b="1" err="1">
                <a:solidFill>
                  <a:srgbClr val="2C3E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核心演算法：</a:t>
            </a:r>
            <a:r>
              <a:rPr lang="en-US" sz="3300" b="1" err="1">
                <a:solidFill>
                  <a:srgbClr val="2C3E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Gosper's</a:t>
            </a:r>
            <a:r>
              <a:rPr lang="en-US" sz="3300" b="1">
                <a:solidFill>
                  <a:srgbClr val="2C3E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Hack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1284EAD-6B0D-F832-22E0-D86D9B6F5556}"/>
                  </a:ext>
                </a:extLst>
              </p:cNvPr>
              <p:cNvSpPr txBox="1"/>
              <p:nvPr/>
            </p:nvSpPr>
            <p:spPr>
              <a:xfrm>
                <a:off x="235857" y="1505857"/>
                <a:ext cx="6096000" cy="433317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100" b="1" dirty="0">
                    <a:solidFill>
                      <a:srgbClr val="3498DB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用於搜尋空間生成</a:t>
                </a:r>
                <a:r>
                  <a:rPr lang="en-US" sz="2100" b="1" dirty="0">
                    <a:solidFill>
                      <a:srgbClr val="3498DB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(Generation)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br>
                  <a:rPr lang="en-US" sz="2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</a:br>
                <a:r>
                  <a:rPr lang="en-US" sz="2100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用於高效生成下一個「具有相同位元數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(Same Bit Count)」</a:t>
                </a:r>
                <a:r>
                  <a:rPr lang="en-US" sz="2100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的組合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</a:p>
              <a:p>
                <a:pPr marL="285750" indent="-285750">
                  <a:lnSpc>
                    <a:spcPct val="150000"/>
                  </a:lnSpc>
                  <a:buFont typeface="Wingdings"/>
                  <a:buChar char="Ø"/>
                </a:pPr>
                <a:r>
                  <a:rPr lang="zh-TW" alt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這是一種</a:t>
                </a:r>
                <a:r>
                  <a:rPr lang="zh-TW" altLang="en-US" sz="2100" b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位元操作</a:t>
                </a:r>
                <a:r>
                  <a:rPr lang="en-US" sz="2100" b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(Bitwise)</a:t>
                </a:r>
                <a:r>
                  <a:rPr lang="en-US" altLang="zh-TW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的技巧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sz="21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/>
                  <a:buChar char="Ø"/>
                </a:pPr>
                <a:r>
                  <a:rPr lang="en-US" sz="2100" b="1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功能</a:t>
                </a:r>
                <a:r>
                  <a:rPr lang="en-US" sz="2100" b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給定一個整數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sz="2100" i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sz="2100" i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(ex.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1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10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100" i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US" altLang="zh-TW" sz="2100" i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en-US" sz="2100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它能高效地計算出</a:t>
                </a:r>
                <a:r>
                  <a:rPr lang="en-US" sz="2100" b="1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下一個</a:t>
                </a:r>
                <a:r>
                  <a:rPr lang="en-US" sz="2100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sz="2100" i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大，</a:t>
                </a:r>
                <a:r>
                  <a:rPr lang="zh-TW" alt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且讓二進位 </a:t>
                </a:r>
                <a:r>
                  <a:rPr lang="en-US" sz="2100" b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 </a:t>
                </a:r>
                <a:r>
                  <a:rPr lang="en-US" sz="2100" b="1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的個數</a:t>
                </a:r>
                <a:r>
                  <a:rPr lang="zh-TW" altLang="en-US" sz="2100" b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與對應序列中</a:t>
                </a:r>
                <a:r>
                  <a:rPr lang="en-US" sz="2100" b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-1</a:t>
                </a:r>
                <a:r>
                  <a:rPr lang="zh-TW" altLang="en-US" sz="2100" b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個數達到固定數目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</a:p>
              <a:p>
                <a:pPr marL="342900" indent="-342900">
                  <a:lnSpc>
                    <a:spcPct val="150000"/>
                  </a:lnSpc>
                  <a:buFont typeface="Wingdings"/>
                  <a:buChar char="Ø"/>
                </a:pPr>
                <a:r>
                  <a:rPr lang="en-US" sz="2100" b="1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效率</a:t>
                </a:r>
                <a:r>
                  <a:rPr lang="en-US" sz="2100" b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運算只需常數時間</a:t>
                </a:r>
                <a:r>
                  <a:rPr lang="en-US" sz="21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O(1)，</a:t>
                </a:r>
                <a:r>
                  <a:rPr lang="en-US" sz="2100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不需迴圈</a:t>
                </a:r>
                <a:endParaRPr lang="en-US" altLang="zh-TW" sz="21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endParaRPr lang="zh-TW" altLang="en-US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1284EAD-6B0D-F832-22E0-D86D9B6F5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57" y="1505857"/>
                <a:ext cx="6096000" cy="4333174"/>
              </a:xfrm>
              <a:prstGeom prst="rect">
                <a:avLst/>
              </a:prstGeom>
              <a:blipFill>
                <a:blip r:embed="rId3"/>
                <a:stretch>
                  <a:fillRect l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 descr="image.png">
            <a:extLst>
              <a:ext uri="{FF2B5EF4-FFF2-40B4-BE49-F238E27FC236}">
                <a16:creationId xmlns:a16="http://schemas.microsoft.com/office/drawing/2014/main" id="{DCDE1BE2-EDB2-3C49-B457-F7B49BA94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363" y="1360715"/>
            <a:ext cx="5683703" cy="473528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E5CEC5C-6D1F-4E6D-836A-74B46CEE3CF6}"/>
              </a:ext>
            </a:extLst>
          </p:cNvPr>
          <p:cNvSpPr txBox="1"/>
          <p:nvPr/>
        </p:nvSpPr>
        <p:spPr>
          <a:xfrm>
            <a:off x="6458857" y="1505857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E74C3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程式碼實作</a:t>
            </a:r>
            <a:endParaRPr lang="en-US" altLang="zh-TW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71C9A7E-6861-AC5B-8F83-47E039C4D2A1}"/>
              </a:ext>
            </a:extLst>
          </p:cNvPr>
          <p:cNvSpPr txBox="1"/>
          <p:nvPr/>
        </p:nvSpPr>
        <p:spPr>
          <a:xfrm>
            <a:off x="6458857" y="2050143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Roboto Mono"/>
                <a:cs typeface="Roboto Mono"/>
              </a:rPr>
              <a:t>// 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Gosper's Hack 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核心邏輯</a:t>
            </a:r>
            <a:endParaRPr lang="en-US" altLang="zh-TW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Roboto Mono"/>
            </a:endParaRPr>
          </a:p>
          <a:p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 unsigned __int128 c = 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 &amp; -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; </a:t>
            </a:r>
            <a:endParaRPr lang="en-US" altLang="zh-TW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Roboto Mono"/>
            </a:endParaRPr>
          </a:p>
          <a:p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 unsigned __int128 r = 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 + c; </a:t>
            </a:r>
            <a:endParaRPr lang="en-US" altLang="zh-TW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Roboto Mono"/>
            </a:endParaRPr>
          </a:p>
          <a:p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 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 = (((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Roboto Mono"/>
              </a:rPr>
              <a:t> ^ r) &gt;&gt; 2) / c) | r;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225082C-DCEF-8EB8-3935-459F7D7377EE}"/>
                  </a:ext>
                </a:extLst>
              </p:cNvPr>
              <p:cNvSpPr txBox="1"/>
              <p:nvPr/>
            </p:nvSpPr>
            <p:spPr>
              <a:xfrm>
                <a:off x="6549571" y="3728357"/>
                <a:ext cx="5642429" cy="170456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Gosper's Hack </a:t>
                </a:r>
                <a:r>
                  <a:rPr lang="en-US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讓我們能直接跳躍生成所有</a:t>
                </a:r>
                <a:r>
                  <a:rPr 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endParaRPr lang="en-US" altLang="zh-TW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"</a:t>
                </a:r>
                <a:r>
                  <a:rPr lang="en-US" b="1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含有</a:t>
                </a:r>
                <a:r>
                  <a:rPr lang="en-US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21 個 1 的 50-bit </a:t>
                </a:r>
                <a:r>
                  <a:rPr lang="en-US" b="1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整數</a:t>
                </a:r>
                <a:r>
                  <a:rPr lang="en-US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"</a:t>
                </a:r>
                <a:endParaRPr lang="en-US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完全跳過不符合權重 </a:t>
                </a:r>
                <a14:m>
                  <m:oMath xmlns:m="http://schemas.openxmlformats.org/officeDocument/2006/math">
                    <m:r>
                      <a:rPr lang="zh-TW" altLang="en-US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zh-TW" altLang="en-US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TW" alt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以上的組合</a:t>
                </a:r>
                <a:r>
                  <a:rPr 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225082C-DCEF-8EB8-3935-459F7D737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571" y="3728357"/>
                <a:ext cx="5642429" cy="1704569"/>
              </a:xfrm>
              <a:prstGeom prst="rect">
                <a:avLst/>
              </a:prstGeom>
              <a:blipFill>
                <a:blip r:embed="rId5"/>
                <a:stretch>
                  <a:fillRect l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C0CAE11-342A-92A8-CCDD-18A865E795E7}"/>
              </a:ext>
            </a:extLst>
          </p:cNvPr>
          <p:cNvCxnSpPr/>
          <p:nvPr/>
        </p:nvCxnSpPr>
        <p:spPr>
          <a:xfrm>
            <a:off x="6486071" y="3556001"/>
            <a:ext cx="5107213" cy="9071"/>
          </a:xfrm>
          <a:prstGeom prst="straightConnector1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27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1BACF-CFF3-64D2-4583-CE4D3BF6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5A833C8-BCE7-459E-B909-498639C17719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8268478" cy="11278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300" b="1" err="1">
                <a:solidFill>
                  <a:srgbClr val="2C3E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核心演算法：</a:t>
            </a:r>
            <a:r>
              <a:rPr lang="en-US" sz="3300" b="1" err="1">
                <a:solidFill>
                  <a:srgbClr val="2C3E50"/>
                </a:solidFill>
                <a:latin typeface="Times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Gosper's</a:t>
            </a:r>
            <a:r>
              <a:rPr lang="en-US" sz="3300" b="1">
                <a:solidFill>
                  <a:srgbClr val="2C3E50"/>
                </a:solidFill>
                <a:latin typeface="Times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Hack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5832412-9461-69FC-AEDF-991DB91D2E7F}"/>
              </a:ext>
            </a:extLst>
          </p:cNvPr>
          <p:cNvSpPr txBox="1"/>
          <p:nvPr/>
        </p:nvSpPr>
        <p:spPr>
          <a:xfrm>
            <a:off x="178934" y="1505857"/>
            <a:ext cx="6096000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00" b="1" dirty="0">
                <a:solidFill>
                  <a:srgbClr val="3498DB"/>
                </a:solidFill>
                <a:latin typeface="Times New Roman"/>
                <a:ea typeface="標楷體"/>
                <a:cs typeface="Times New Roman"/>
              </a:rPr>
              <a:t>用於搜尋空間生成</a:t>
            </a:r>
            <a:r>
              <a:rPr lang="en-US" sz="2100" b="1" dirty="0">
                <a:solidFill>
                  <a:srgbClr val="3498DB"/>
                </a:solidFill>
                <a:latin typeface="Times New Roman"/>
                <a:ea typeface="標楷體"/>
                <a:cs typeface="Times New Roman"/>
              </a:rPr>
              <a:t> (Generation)</a:t>
            </a:r>
            <a:r>
              <a:rPr lang="en-US" sz="2100" dirty="0">
                <a:solidFill>
                  <a:srgbClr val="333333"/>
                </a:solidFill>
                <a:latin typeface="Times New Roman"/>
                <a:ea typeface="標楷體"/>
                <a:cs typeface="Times New Roman"/>
              </a:rPr>
              <a:t> </a:t>
            </a:r>
            <a:br>
              <a:rPr lang="en-US" sz="210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sz="2100" dirty="0" err="1">
                <a:solidFill>
                  <a:srgbClr val="333333"/>
                </a:solidFill>
                <a:latin typeface="Times New Roman"/>
                <a:ea typeface="標楷體"/>
                <a:cs typeface="Times New Roman"/>
              </a:rPr>
              <a:t>用於高效生成下一個「具有相同位元數</a:t>
            </a:r>
            <a:r>
              <a:rPr lang="en-US" sz="2100" dirty="0">
                <a:solidFill>
                  <a:srgbClr val="333333"/>
                </a:solidFill>
                <a:latin typeface="Times New Roman"/>
                <a:ea typeface="標楷體"/>
                <a:cs typeface="Times New Roman"/>
              </a:rPr>
              <a:t> (Same Bit Count)」</a:t>
            </a:r>
            <a:r>
              <a:rPr lang="en-US" sz="2100" dirty="0" err="1">
                <a:solidFill>
                  <a:srgbClr val="333333"/>
                </a:solidFill>
                <a:latin typeface="Times New Roman"/>
                <a:ea typeface="標楷體"/>
                <a:cs typeface="Times New Roman"/>
              </a:rPr>
              <a:t>的組合</a:t>
            </a:r>
            <a:r>
              <a:rPr lang="en-US" sz="2100" dirty="0">
                <a:solidFill>
                  <a:srgbClr val="333333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pic>
        <p:nvPicPr>
          <p:cNvPr id="12" name="圖片 11" descr="image.png">
            <a:extLst>
              <a:ext uri="{FF2B5EF4-FFF2-40B4-BE49-F238E27FC236}">
                <a16:creationId xmlns:a16="http://schemas.microsoft.com/office/drawing/2014/main" id="{0215A834-4E0A-8A66-4CEF-177CB584B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363" y="1360715"/>
            <a:ext cx="5683703" cy="473528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D060E097-D45F-C74C-97BE-30CB3D06A714}"/>
              </a:ext>
            </a:extLst>
          </p:cNvPr>
          <p:cNvSpPr txBox="1"/>
          <p:nvPr/>
        </p:nvSpPr>
        <p:spPr>
          <a:xfrm>
            <a:off x="6458857" y="1505857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E74C3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程式碼實作</a:t>
            </a:r>
            <a:endParaRPr lang="en-US" altLang="zh-TW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082D9EE-07F2-3B8D-21E5-8CB555E47096}"/>
              </a:ext>
            </a:extLst>
          </p:cNvPr>
          <p:cNvSpPr txBox="1"/>
          <p:nvPr/>
        </p:nvSpPr>
        <p:spPr>
          <a:xfrm>
            <a:off x="6458857" y="2050143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 Gosper's Hack 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核心邏輯</a:t>
            </a:r>
            <a:endParaRPr lang="en-US" altLang="zh-TW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unsigned __int128 c = 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&amp; -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 </a:t>
            </a:r>
            <a:endParaRPr lang="en-US" altLang="zh-TW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unsigned __int128 r = 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c; </a:t>
            </a:r>
            <a:endParaRPr lang="en-US" altLang="zh-TW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(((</a:t>
            </a:r>
            <a:r>
              <a:rPr lang="en-US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k_b</a:t>
            </a:r>
            <a:r>
              <a:rPr lang="en-US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^ r) &gt;&gt; 2) / c) | r;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28AB886-C69C-DAFD-47B5-41988078AFE5}"/>
                  </a:ext>
                </a:extLst>
              </p:cNvPr>
              <p:cNvSpPr txBox="1"/>
              <p:nvPr/>
            </p:nvSpPr>
            <p:spPr>
              <a:xfrm>
                <a:off x="6549571" y="3728357"/>
                <a:ext cx="5642429" cy="170456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Gosper's Hack </a:t>
                </a:r>
                <a:r>
                  <a:rPr lang="en-US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讓我們能直接跳躍生成所有</a:t>
                </a:r>
                <a:r>
                  <a:rPr 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endParaRPr lang="en-US" altLang="zh-TW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"</a:t>
                </a:r>
                <a:r>
                  <a:rPr lang="en-US" b="1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含有</a:t>
                </a:r>
                <a:r>
                  <a:rPr lang="en-US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21 個 1 的 50-bit </a:t>
                </a:r>
                <a:r>
                  <a:rPr lang="en-US" b="1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整數</a:t>
                </a:r>
                <a:r>
                  <a:rPr lang="en-US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"</a:t>
                </a:r>
                <a:endParaRPr lang="en-US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完全跳過不符合權重 </a:t>
                </a:r>
                <a14:m>
                  <m:oMath xmlns:m="http://schemas.openxmlformats.org/officeDocument/2006/math">
                    <m:r>
                      <a:rPr lang="zh-TW" altLang="en-US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90%</m:t>
                    </m:r>
                  </m:oMath>
                </a14:m>
                <a:r>
                  <a:rPr 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以上的組合</a:t>
                </a:r>
                <a:r>
                  <a:rPr lang="en-US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28AB886-C69C-DAFD-47B5-41988078A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571" y="3728357"/>
                <a:ext cx="5642429" cy="1704569"/>
              </a:xfrm>
              <a:prstGeom prst="rect">
                <a:avLst/>
              </a:prstGeom>
              <a:blipFill>
                <a:blip r:embed="rId3"/>
                <a:stretch>
                  <a:fillRect l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5B3DE05-3CED-C0CE-9309-B579BC2D8355}"/>
              </a:ext>
            </a:extLst>
          </p:cNvPr>
          <p:cNvCxnSpPr/>
          <p:nvPr/>
        </p:nvCxnSpPr>
        <p:spPr>
          <a:xfrm>
            <a:off x="6486071" y="3556001"/>
            <a:ext cx="5107213" cy="9071"/>
          </a:xfrm>
          <a:prstGeom prst="straightConnector1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10C2C24-70D9-76D8-BBD5-F54A3B46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06865"/>
              </p:ext>
            </p:extLst>
          </p:nvPr>
        </p:nvGraphicFramePr>
        <p:xfrm>
          <a:off x="236343" y="3111972"/>
          <a:ext cx="3879894" cy="333754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62003">
                  <a:extLst>
                    <a:ext uri="{9D8B030D-6E8A-4147-A177-3AD203B41FA5}">
                      <a16:colId xmlns:a16="http://schemas.microsoft.com/office/drawing/2014/main" val="2630632971"/>
                    </a:ext>
                  </a:extLst>
                </a:gridCol>
                <a:gridCol w="1817891">
                  <a:extLst>
                    <a:ext uri="{9D8B030D-6E8A-4147-A177-3AD203B41FA5}">
                      <a16:colId xmlns:a16="http://schemas.microsoft.com/office/drawing/2014/main" val="3745024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8-bits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0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latin typeface="Noto Sans TC"/>
                        </a:rPr>
                        <a:t>+Kb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highlight>
                            <a:srgbClr val="FFFF00"/>
                          </a:highlight>
                        </a:rPr>
                        <a:t>01011100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5764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 b="1">
                          <a:latin typeface="Noto Sans TC"/>
                        </a:rPr>
                        <a:t>-Kb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/>
                        <a:t>10100100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16211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c =</a:t>
                      </a:r>
                      <a:r>
                        <a:rPr 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Kb</a:t>
                      </a:r>
                      <a:r>
                        <a:rPr lang="zh-TW" altLang="en-US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 &amp; </a:t>
                      </a:r>
                      <a:r>
                        <a:rPr 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-Kb+1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/>
                        <a:t>00000100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87900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r = </a:t>
                      </a:r>
                      <a:r>
                        <a:rPr lang="en-US" altLang="zh-TW" sz="1800" b="1" i="0" u="none" strike="noStrike" noProof="0" err="1">
                          <a:solidFill>
                            <a:srgbClr val="000000"/>
                          </a:solidFill>
                          <a:latin typeface="Noto Sans TC"/>
                        </a:rPr>
                        <a:t>Kb</a:t>
                      </a:r>
                      <a:r>
                        <a:rPr lang="en-US" alt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 + c</a:t>
                      </a:r>
                      <a:endParaRPr lang="zh-TW" sz="1800" b="1" i="0" u="none" strike="noStrike" noProof="0">
                        <a:solidFill>
                          <a:srgbClr val="000000"/>
                        </a:solidFill>
                        <a:latin typeface="Noto Sans T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/>
                        <a:t>01100000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2077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r' = r xor Kb</a:t>
                      </a:r>
                      <a:endParaRPr lang="en-US" altLang="zh-TW" sz="1800" b="1" i="0" u="none" strike="noStrike" noProof="0" err="1">
                        <a:solidFill>
                          <a:srgbClr val="000000"/>
                        </a:solidFill>
                        <a:latin typeface="Noto Sans T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/>
                        <a:t>00111100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67262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r''=r' shift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/>
                        <a:t>00001111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40438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r'' / c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/>
                        <a:t>00000011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32298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noProof="0">
                          <a:solidFill>
                            <a:srgbClr val="000000"/>
                          </a:solidFill>
                          <a:latin typeface="Noto Sans TC"/>
                        </a:rPr>
                        <a:t> (r'' / c ) |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>
                          <a:highlight>
                            <a:srgbClr val="FFFF00"/>
                          </a:highlight>
                        </a:rPr>
                        <a:t>01100011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3502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66E21D02-40E0-F591-6C2B-3B348A1DC2D5}"/>
              </a:ext>
            </a:extLst>
          </p:cNvPr>
          <p:cNvSpPr txBox="1"/>
          <p:nvPr/>
        </p:nvSpPr>
        <p:spPr>
          <a:xfrm>
            <a:off x="236343" y="2703837"/>
            <a:ext cx="3879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>
                <a:solidFill>
                  <a:srgbClr val="0070C0"/>
                </a:solidFill>
                <a:latin typeface="新細明體-ExtB" panose="02020500000000000000" pitchFamily="18" charset="-120"/>
                <a:ea typeface="新細明體-ExtB" panose="02020500000000000000" pitchFamily="18" charset="-120"/>
                <a:cs typeface="Times New Roman" panose="02020603050405020304" pitchFamily="18" charset="0"/>
              </a:rPr>
              <a:t>Ex.  B</a:t>
            </a:r>
            <a:r>
              <a:rPr lang="zh-TW" altLang="en-US" b="1">
                <a:solidFill>
                  <a:srgbClr val="0070C0"/>
                </a:solidFill>
                <a:latin typeface="新細明體-ExtB" panose="02020500000000000000" pitchFamily="18" charset="-120"/>
                <a:ea typeface="新細明體-ExtB" panose="02020500000000000000" pitchFamily="18" charset="-120"/>
                <a:cs typeface="Times New Roman" panose="02020603050405020304" pitchFamily="18" charset="0"/>
              </a:rPr>
              <a:t>序列中</a:t>
            </a:r>
            <a:r>
              <a:rPr lang="en-US" altLang="zh-TW" b="1">
                <a:solidFill>
                  <a:srgbClr val="0070C0"/>
                </a:solidFill>
                <a:latin typeface="新細明體-ExtB" panose="02020500000000000000" pitchFamily="18" charset="-120"/>
                <a:ea typeface="新細明體-ExtB" panose="02020500000000000000" pitchFamily="18" charset="-120"/>
                <a:cs typeface="Times New Roman" panose="02020603050405020304" pitchFamily="18" charset="0"/>
              </a:rPr>
              <a:t>1</a:t>
            </a:r>
            <a:r>
              <a:rPr lang="zh-TW" altLang="en-US" b="1">
                <a:solidFill>
                  <a:srgbClr val="0070C0"/>
                </a:solidFill>
                <a:latin typeface="新細明體-ExtB" panose="02020500000000000000" pitchFamily="18" charset="-120"/>
                <a:ea typeface="新細明體-ExtB" panose="02020500000000000000" pitchFamily="18" charset="-120"/>
                <a:cs typeface="Times New Roman" panose="02020603050405020304" pitchFamily="18" charset="0"/>
              </a:rPr>
              <a:t>的個數固定</a:t>
            </a:r>
            <a:r>
              <a:rPr lang="en-US" altLang="zh-TW" b="1">
                <a:solidFill>
                  <a:srgbClr val="0070C0"/>
                </a:solidFill>
                <a:latin typeface="新細明體-ExtB" panose="02020500000000000000" pitchFamily="18" charset="-120"/>
                <a:ea typeface="新細明體-ExtB" panose="02020500000000000000" pitchFamily="18" charset="-120"/>
                <a:cs typeface="Times New Roman" panose="02020603050405020304" pitchFamily="18" charset="0"/>
              </a:rPr>
              <a:t>4</a:t>
            </a:r>
            <a:endParaRPr lang="zh-TW" altLang="en-US" b="1">
              <a:solidFill>
                <a:srgbClr val="0070C0"/>
              </a:solidFill>
              <a:latin typeface="新細明體-ExtB" panose="02020500000000000000" pitchFamily="18" charset="-120"/>
              <a:ea typeface="新細明體-ExtB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539E397-2A63-1DC9-2467-0249EA1DDC8B}"/>
              </a:ext>
            </a:extLst>
          </p:cNvPr>
          <p:cNvSpPr txBox="1"/>
          <p:nvPr/>
        </p:nvSpPr>
        <p:spPr>
          <a:xfrm>
            <a:off x="4360438" y="3447961"/>
            <a:ext cx="127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solidFill>
                  <a:schemeClr val="accent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第一組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A39706-712A-B56A-E923-BCDDC95F2532}"/>
              </a:ext>
            </a:extLst>
          </p:cNvPr>
          <p:cNvSpPr txBox="1"/>
          <p:nvPr/>
        </p:nvSpPr>
        <p:spPr>
          <a:xfrm>
            <a:off x="4427991" y="6093580"/>
            <a:ext cx="6275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solidFill>
                  <a:schemeClr val="accent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第二組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08732197-F82D-FD51-ED03-40164D6F22EA}"/>
              </a:ext>
            </a:extLst>
          </p:cNvPr>
          <p:cNvSpPr/>
          <p:nvPr/>
        </p:nvSpPr>
        <p:spPr>
          <a:xfrm rot="10800000">
            <a:off x="4116237" y="3595738"/>
            <a:ext cx="331694" cy="1434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F6A2FB60-79AF-C3B8-0CDC-BF6AEBE0DBAA}"/>
              </a:ext>
            </a:extLst>
          </p:cNvPr>
          <p:cNvSpPr/>
          <p:nvPr/>
        </p:nvSpPr>
        <p:spPr>
          <a:xfrm rot="10800000">
            <a:off x="4152737" y="6227909"/>
            <a:ext cx="331694" cy="1434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655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3D19-5DB4-475E-4FC3-EABB6221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8C4AB2CE-701E-43FF-1BF9-D31B949F944A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9556620" cy="116412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效能優化</a:t>
            </a:r>
            <a:r>
              <a:rPr 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(Pruning &amp; Filtering)</a:t>
            </a:r>
            <a:br>
              <a:rPr lang="en-US" altLang="zh-TW">
                <a:latin typeface="Times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pic>
        <p:nvPicPr>
          <p:cNvPr id="3" name="圖片 2" descr="image.png">
            <a:extLst>
              <a:ext uri="{FF2B5EF4-FFF2-40B4-BE49-F238E27FC236}">
                <a16:creationId xmlns:a16="http://schemas.microsoft.com/office/drawing/2014/main" id="{A7AEAE12-3E6A-7E3C-758E-3849D5120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232" y="2826204"/>
            <a:ext cx="5175249" cy="96066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0FB06EB-4EA4-E51C-884C-139F4C83674E}"/>
              </a:ext>
            </a:extLst>
          </p:cNvPr>
          <p:cNvSpPr txBox="1"/>
          <p:nvPr/>
        </p:nvSpPr>
        <p:spPr>
          <a:xfrm>
            <a:off x="235857" y="175078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 err="1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預計算</a:t>
            </a:r>
            <a:r>
              <a:rPr lang="en-US" sz="1800" b="1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A：</a:t>
            </a:r>
            <a:r>
              <a:rPr lang="en-US" sz="180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只需計算一次</a:t>
            </a:r>
            <a:r>
              <a:rPr lang="en-US" sz="180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 的 PAF。</a:t>
            </a:r>
            <a:endParaRPr lang="en-US" altLang="zh-TW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AEC8F47-68DA-F267-F33D-F910DC88D563}"/>
                  </a:ext>
                </a:extLst>
              </p:cNvPr>
              <p:cNvSpPr txBox="1"/>
              <p:nvPr/>
            </p:nvSpPr>
            <p:spPr>
              <a:xfrm>
                <a:off x="235857" y="2394857"/>
                <a:ext cx="8381999" cy="120032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800" b="1" dirty="0" err="1">
                    <a:solidFill>
                      <a:srgbClr val="333333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Noto Sans TC"/>
                  </a:rPr>
                  <a:t>剪枝原理：</a:t>
                </a:r>
                <a:r>
                  <a:rPr lang="en-US" sz="1800" dirty="0" err="1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</a:t>
                </a:r>
                <a:r>
                  <a:rPr 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18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𝑃𝐴</m:t>
                    </m:r>
                    <m:sSub>
                      <m:sSubPr>
                        <m:ctrlPr>
                          <a:rPr lang="en-US" altLang="zh-TW" sz="18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TW" altLang="en-US" sz="18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sz="18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18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𝑃𝐴</m:t>
                    </m:r>
                    <m:sSub>
                      <m:sSubPr>
                        <m:ctrlPr>
                          <a:rPr lang="en-US" altLang="zh-TW" sz="1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1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TW" sz="18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，則 </a:t>
                </a:r>
                <a:r>
                  <a:rPr lang="en-US" sz="1800" i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𝑃𝐴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TW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i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|</a:t>
                </a:r>
                <a:r>
                  <a:rPr 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絕不可能大於</a:t>
                </a:r>
                <a:r>
                  <a:rPr 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sz="1800" i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𝑃𝐴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TW" altLang="en-US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zh-TW" altLang="en-US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i="1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|</a:t>
                </a:r>
                <a:r>
                  <a:rPr 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solidFill>
                    <a:srgbClr val="333333"/>
                  </a:solidFill>
                  <a:latin typeface="Noto Sans TC"/>
                </a:endParaRPr>
              </a:p>
              <a:p>
                <a:endParaRPr lang="en-US" altLang="zh-TW" dirty="0">
                  <a:solidFill>
                    <a:srgbClr val="333333"/>
                  </a:solidFill>
                  <a:latin typeface="Noto Sans TC"/>
                </a:endParaRPr>
              </a:p>
              <a:p>
                <a:pPr algn="ctr"/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AEC8F47-68DA-F267-F33D-F910DC88D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57" y="2394857"/>
                <a:ext cx="8381999" cy="1200329"/>
              </a:xfrm>
              <a:prstGeom prst="rect">
                <a:avLst/>
              </a:prstGeom>
              <a:blipFill>
                <a:blip r:embed="rId3"/>
                <a:stretch>
                  <a:fillRect l="-509" t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83FA320B-1AF0-88D5-1125-BF1354277014}"/>
              </a:ext>
            </a:extLst>
          </p:cNvPr>
          <p:cNvSpPr txBox="1"/>
          <p:nvPr/>
        </p:nvSpPr>
        <p:spPr>
          <a:xfrm>
            <a:off x="235857" y="4000500"/>
            <a:ext cx="838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 err="1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同構過濾</a:t>
            </a:r>
            <a:r>
              <a:rPr lang="en-US" sz="1800" b="1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：</a:t>
            </a:r>
            <a:r>
              <a:rPr lang="zh-TW" altLang="en-US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若序列反轉</a:t>
            </a:r>
            <a:r>
              <a:rPr lang="en-US" sz="180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，</a:t>
            </a:r>
            <a:r>
              <a:rPr lang="en-US" sz="1800" err="1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則跳過</a:t>
            </a:r>
            <a:r>
              <a:rPr lang="en-US" sz="180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 (</a:t>
            </a:r>
            <a:r>
              <a:rPr lang="en-US" sz="1800" err="1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只保留標準型</a:t>
            </a:r>
            <a:r>
              <a:rPr lang="en-US" sz="180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)。</a:t>
            </a:r>
            <a:endParaRPr lang="en-US" altLang="zh-TW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5C5636-8BE3-23EA-5FD1-C342F480AC2E}"/>
              </a:ext>
            </a:extLst>
          </p:cNvPr>
          <p:cNvSpPr/>
          <p:nvPr/>
        </p:nvSpPr>
        <p:spPr>
          <a:xfrm>
            <a:off x="1741714" y="4544786"/>
            <a:ext cx="3900714" cy="11702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4E8DC99-739D-B772-20B2-918DD2269634}"/>
              </a:ext>
            </a:extLst>
          </p:cNvPr>
          <p:cNvSpPr txBox="1"/>
          <p:nvPr/>
        </p:nvSpPr>
        <p:spPr>
          <a:xfrm>
            <a:off x="1968499" y="4590143"/>
            <a:ext cx="3447142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//序列反轉</a:t>
            </a:r>
          </a:p>
          <a:p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If (reverse_int(k_b) &lt; k_b){</a:t>
            </a:r>
          </a:p>
          <a:p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     skip= 1; //跳出迴圈</a:t>
            </a:r>
          </a:p>
          <a:p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577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FC7D-9B4D-E7F4-DF0E-A21E3E09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8FB14B62-DF47-F8DE-5260-AE513DA69A30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5381464" cy="11010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Unique PCP for L=50</a:t>
            </a:r>
            <a:r>
              <a:rPr lang="en-US" altLang="zh-TW">
                <a:latin typeface="Times New Roman"/>
                <a:ea typeface="微軟正黑體"/>
                <a:cs typeface="Times New Roman"/>
              </a:rPr>
              <a:t> 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E8489F7-8FCC-7521-4428-6E76A72905E6}"/>
                  </a:ext>
                </a:extLst>
              </p:cNvPr>
              <p:cNvSpPr txBox="1"/>
              <p:nvPr/>
            </p:nvSpPr>
            <p:spPr>
              <a:xfrm>
                <a:off x="235857" y="1314853"/>
                <a:ext cx="10700228" cy="517064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Pair</a:t>
                </a:r>
                <a:r>
                  <a:rPr lang="zh-TW" altLang="en-US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#1 </a:t>
                </a:r>
                <a:r>
                  <a:rPr lang="zh-TW" altLang="en-US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PAPR:</a:t>
                </a:r>
                <a:r>
                  <a:rPr lang="zh-TW" altLang="en-US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2">
                        <a:lumMod val="75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4.4229</a:t>
                </a:r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(6.457</a:t>
                </a:r>
                <a:r>
                  <a:rPr lang="zh-TW" altLang="en-US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dB)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SEQ A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(PAPR=3.5241):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{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lt"/>
                        <a:cs typeface="Times New Roman" panose="02020603050405020304" pitchFamily="18" charset="0"/>
                      </a:rPr>
                      <m:t>−−−−++−−+−+++−−+−+−+−+−−++−−++−++++−+−+++−+++−−+++</m:t>
                    </m:r>
                  </m:oMath>
                </a14:m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}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SEQ B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(PAPR=4.4229):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{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lt"/>
                        <a:cs typeface="Times New Roman" panose="02020603050405020304" pitchFamily="18" charset="0"/>
                      </a:rPr>
                      <m:t>+++++++−+−−++−+−−+−−+−+−−−−−−++−+−−−−+++−−+−−−−−−−</m:t>
                    </m:r>
                  </m:oMath>
                </a14:m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}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Pair</a:t>
                </a:r>
                <a:r>
                  <a:rPr lang="zh-TW" altLang="en-US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#2</a:t>
                </a:r>
                <a:r>
                  <a:rPr lang="zh-TW" altLang="en-US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PAPR:</a:t>
                </a:r>
                <a:r>
                  <a:rPr lang="zh-TW" altLang="en-US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2">
                        <a:lumMod val="75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3.5241</a:t>
                </a:r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(5.4705</a:t>
                </a:r>
                <a:r>
                  <a:rPr lang="zh-TW" altLang="en-US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dB)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SEQ A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(PAPR=3.5241):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{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lt"/>
                        <a:cs typeface="Times New Roman" panose="02020603050405020304" pitchFamily="18" charset="0"/>
                      </a:rPr>
                      <m:t>−−−−++−−+−+++−−+−+−+−+−−++−−++−++++−+−+++−+++−−+++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lt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}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SEQ B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(PAPR=3.1691):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{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lt"/>
                        <a:cs typeface="Times New Roman" panose="02020603050405020304" pitchFamily="18" charset="0"/>
                      </a:rPr>
                      <m:t>+++++++−−−−−−−+−−+++−−−−+−++−−−−−−+−+−−+−−+−++−−+−</m:t>
                    </m:r>
                    <m:r>
                      <a:rPr lang="zh-TW" alt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lt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}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微軟正黑體"/>
                  <a:cs typeface="Times New Roman" panose="02020603050405020304" pitchFamily="18" charset="0"/>
                </a:endParaRPr>
              </a:p>
              <a:p>
                <a:pPr algn="l"/>
                <a:endParaRPr lang="zh-TW" altLang="en-US" dirty="0">
                  <a:latin typeface="Times New Roman" panose="02020603050405020304" pitchFamily="18" charset="0"/>
                  <a:ea typeface="微軟正黑體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E8489F7-8FCC-7521-4428-6E76A7290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57" y="1314853"/>
                <a:ext cx="10700228" cy="5170646"/>
              </a:xfrm>
              <a:prstGeom prst="rect">
                <a:avLst/>
              </a:prstGeom>
              <a:blipFill>
                <a:blip r:embed="rId2"/>
                <a:stretch>
                  <a:fillRect l="-627" t="-7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989650F3-D9F6-A1E4-73A6-60259E28670F}"/>
              </a:ext>
            </a:extLst>
          </p:cNvPr>
          <p:cNvSpPr txBox="1"/>
          <p:nvPr/>
        </p:nvSpPr>
        <p:spPr>
          <a:xfrm>
            <a:off x="235857" y="5207472"/>
            <a:ext cx="8599714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 b="1" dirty="0" err="1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結論</a:t>
            </a:r>
            <a:r>
              <a:rPr lang="en-US" sz="2100" b="1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：</a:t>
            </a:r>
            <a:r>
              <a:rPr 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 </a:t>
            </a:r>
            <a:r>
              <a:rPr lang="zh-TW" alt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對於</a:t>
            </a:r>
            <a:r>
              <a:rPr 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"</a:t>
            </a:r>
            <a:r>
              <a:rPr lang="zh-TW" alt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已知部份</a:t>
            </a:r>
            <a:r>
              <a:rPr 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A</a:t>
            </a:r>
            <a:r>
              <a:rPr lang="zh-TW" alt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序列</a:t>
            </a:r>
            <a:r>
              <a:rPr 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" </a:t>
            </a:r>
            <a:r>
              <a:rPr lang="zh-TW" alt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求中等長度</a:t>
            </a:r>
            <a:r>
              <a:rPr 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 L=50 PCP </a:t>
            </a:r>
            <a:r>
              <a:rPr lang="zh-TW" alt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問題</a:t>
            </a:r>
            <a:r>
              <a:rPr 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，</a:t>
            </a:r>
            <a:r>
              <a:rPr lang="zh-TW" altLang="en-US" sz="21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也花費三天時間才建構出第二組，這方法也會隨長度增加變得難以執行</a:t>
            </a:r>
          </a:p>
          <a:p>
            <a:endParaRPr lang="zh-TW" altLang="en-US" sz="2100" dirty="0">
              <a:solidFill>
                <a:srgbClr val="333333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660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D187-A142-78BD-1344-3482D046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604053-F8EE-6619-E65F-FCC4622CB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br>
              <a:rPr lang="en-US" altLang="zh-TW"/>
            </a:b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0B266A7F-A903-8FE6-9691-746AF17F17A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36343" y="1066801"/>
                <a:ext cx="9420841" cy="142538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a sequence of length 74 as an example, the number of combinations in the search space is approximately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lang="en-US" altLang="zh-TW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is computationally impractical and would require an extremely large amount of time to complete.</a:t>
                </a:r>
                <a:endParaRPr lang="zh-TW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0B266A7F-A903-8FE6-9691-746AF17F1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36343" y="1066801"/>
                <a:ext cx="9420841" cy="1425388"/>
              </a:xfrm>
              <a:blipFill>
                <a:blip r:embed="rId3"/>
                <a:stretch>
                  <a:fillRect l="-777" b="-1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副標題 2">
            <a:extLst>
              <a:ext uri="{FF2B5EF4-FFF2-40B4-BE49-F238E27FC236}">
                <a16:creationId xmlns:a16="http://schemas.microsoft.com/office/drawing/2014/main" id="{1B28B74A-8245-D640-01FA-13321799F7C4}"/>
              </a:ext>
            </a:extLst>
          </p:cNvPr>
          <p:cNvSpPr txBox="1">
            <a:spLocks/>
          </p:cNvSpPr>
          <p:nvPr/>
        </p:nvSpPr>
        <p:spPr>
          <a:xfrm>
            <a:off x="236343" y="4251101"/>
            <a:ext cx="9420841" cy="2389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>
                <a:solidFill>
                  <a:srgbClr val="000000"/>
                </a:solidFill>
                <a:latin typeface="Times New Roman"/>
                <a:ea typeface="微軟正黑體"/>
                <a:cs typeface="Times New Roman"/>
              </a:rPr>
              <a:t>In "Some new periodic Golay pairs," the authors apply concepts from algebraic group theory to the search for </a:t>
            </a:r>
            <a:r>
              <a:rPr lang="en-US" altLang="zh-TW" sz="2400">
                <a:solidFill>
                  <a:srgbClr val="000000"/>
                </a:solidFill>
                <a:latin typeface="Times New Roman"/>
                <a:ea typeface="微軟正黑體"/>
                <a:cs typeface="Times New Roman"/>
              </a:rPr>
              <a:t>PCPs</a:t>
            </a:r>
            <a:r>
              <a:rPr lang="en-US" altLang="zh-TW">
                <a:solidFill>
                  <a:srgbClr val="000000"/>
                </a:solidFill>
                <a:latin typeface="Times New Roman"/>
                <a:ea typeface="微軟正黑體"/>
                <a:cs typeface="Times New Roman"/>
              </a:rPr>
              <a:t>, and then verify the assumptions made. The results prove the authors' assumptions to be true, and this method significantly reduces the number of combinations that need to be searched.</a:t>
            </a:r>
            <a:endParaRPr lang="zh-TW" altLang="en-US">
              <a:solidFill>
                <a:srgbClr val="000000"/>
              </a:solidFill>
              <a:latin typeface="Times New Roman"/>
              <a:ea typeface="微軟正黑體"/>
              <a:cs typeface="Times New Roman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F02DEF7-7146-D9B1-DE84-90FE67D9B25C}"/>
              </a:ext>
            </a:extLst>
          </p:cNvPr>
          <p:cNvSpPr txBox="1">
            <a:spLocks/>
          </p:cNvSpPr>
          <p:nvPr/>
        </p:nvSpPr>
        <p:spPr>
          <a:xfrm>
            <a:off x="236343" y="3429000"/>
            <a:ext cx="3514564" cy="76932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sz="4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467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CEBD-9BFF-7E1C-36D1-36C071AA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324909-8998-7297-F548-83B525B93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8773186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Foundation</a:t>
            </a:r>
            <a:br>
              <a:rPr lang="en-US" altLang="zh-TW"/>
            </a:b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E7A6579F-FE74-2E21-CCC8-8D1FF7199EC4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36343" y="1066800"/>
                <a:ext cx="11830151" cy="5292357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Transform the search sequence into an equivalent algebraic problem.</a:t>
                </a:r>
              </a:p>
              <a:p>
                <a:pPr marL="342900" indent="-34290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PCP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US" altLang="zh-TW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SDS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Finding a pair of PCP sequences (A, B) is equivalent to finding a pair of SDS sequences </a:t>
                </a:r>
              </a:p>
              <a:p>
                <a:pPr>
                  <a:lnSpc>
                    <a:spcPct val="150000"/>
                  </a:lnSpc>
                  <a:buClrTx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                           (X, Y). </a:t>
                </a:r>
              </a:p>
              <a:p>
                <a:pPr marL="800100" lvl="1" indent="-342900" algn="l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TW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of ( X , Y )</a:t>
                </a:r>
                <a:r>
                  <a:rPr lang="zh-TW" altLang="en-US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X=The set of indices of all values ​​of -1 in sequence A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Y=The set of indices of all values ​​of -1 in sequence B</a:t>
                </a:r>
              </a:p>
              <a:p>
                <a:pPr marL="800100" lvl="1" indent="-342900" algn="l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TW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SDS</a:t>
                </a:r>
                <a:r>
                  <a:rPr lang="zh-TW" altLang="en-US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</a:t>
                </a:r>
                <a:r>
                  <a:rPr lang="zh-TW" altLang="en-US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Defined by a set of parameters </a:t>
                </a:r>
                <a14:m>
                  <m:oMath xmlns:m="http://schemas.openxmlformats.org/officeDocument/2006/math">
                    <m:r>
                      <a:rPr lang="en-US" altLang="zh-TW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altLang="zh-TW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; </m:t>
                    </m:r>
                    <m:r>
                      <a:rPr lang="en-US" altLang="zh-TW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; </m:t>
                    </m:r>
                    <m:r>
                      <a:rPr lang="en-US" altLang="zh-TW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; </m:t>
                    </m:r>
                    <m:r>
                      <a:rPr lang="zh-TW" altLang="en-US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)</m:t>
                    </m:r>
                    <m:r>
                      <a:rPr lang="zh-TW" altLang="en-US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2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E7A6579F-FE74-2E21-CCC8-8D1FF7199E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36343" y="1066800"/>
                <a:ext cx="11830151" cy="5292357"/>
              </a:xfrm>
              <a:blipFill>
                <a:blip r:embed="rId3"/>
                <a:stretch>
                  <a:fillRect l="-2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79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C92-662E-A0BB-28DD-0AE53817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ADA66-1024-236E-FCA0-B0E615B38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SDS</a:t>
            </a:r>
            <a:r>
              <a:rPr lang="zh-TW" altLang="en-US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>
                <a:solidFill>
                  <a:schemeClr val="bg1"/>
                </a:solidFill>
              </a:rPr>
            </a:br>
            <a:endParaRPr lang="zh-TW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1FE4D9B0-2837-E0BA-4174-D47EC8A708E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36343" y="1173756"/>
                <a:ext cx="11147003" cy="5292357"/>
              </a:xfrm>
            </p:spPr>
            <p:txBody>
              <a:bodyPr>
                <a:normAutofit fontScale="85000" lnSpcReduction="20000"/>
              </a:bodyPr>
              <a:lstStyle/>
              <a:p>
                <a:pPr marL="342900" indent="-342900">
                  <a:lnSpc>
                    <a:spcPct val="17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v : Length of the sequence</a:t>
                </a:r>
              </a:p>
              <a:p>
                <a:pPr marL="342900" indent="-342900">
                  <a:lnSpc>
                    <a:spcPct val="17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r , s : The size of sets X and Y is equal to the total number of -1s in sequences a and b.</a:t>
                </a:r>
              </a:p>
              <a:p>
                <a:pPr marL="342900" indent="-342900">
                  <a:lnSpc>
                    <a:spcPct val="17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By theorem,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is a PCP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𝐴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𝐵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=2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𝐿</m:t>
                    </m:r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where </a:t>
                </a:r>
                <a:endParaRPr lang="en-US" altLang="zh-TW" sz="24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70000"/>
                  </a:lnSpc>
                  <a:buClrTx/>
                </a:pPr>
                <a:r>
                  <a:rPr lang="en-US" altLang="zh-TW" sz="24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𝐴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=0</m:t>
                        </m:r>
                      </m:sub>
                      <m:sup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and</a:t>
                </a:r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we</m:t>
                    </m:r>
                    <m: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can</m:t>
                    </m:r>
                    <m: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obtain</m:t>
                    </m:r>
                    <m: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US" altLang="zh-TW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altLang="zh-TW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70000"/>
                  </a:lnSpc>
                  <a:buClrTx/>
                </a:pPr>
                <a:r>
                  <a:rPr lang="en-US" altLang="zh-TW" sz="2400" b="0" dirty="0">
                    <a:solidFill>
                      <a:schemeClr val="bg1"/>
                    </a:solidFill>
                    <a:ea typeface="+mj-ea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𝑝𝑓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.   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𝐴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𝑟</m:t>
                        </m:r>
                      </m:e>
                    </m:d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TW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          </a:t>
                </a:r>
                <a:r>
                  <a:rPr lang="en-US" altLang="zh-TW" sz="240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TW" alt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TW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70000"/>
                  </a:lnSpc>
                  <a:buClr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TW" alt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Number of times common differences occur</a:t>
                </a:r>
              </a:p>
              <a:p>
                <a:pPr>
                  <a:lnSpc>
                    <a:spcPct val="170000"/>
                  </a:lnSpc>
                  <a:buClrTx/>
                </a:pPr>
                <a:r>
                  <a:rPr lang="en-US" altLang="zh-TW" sz="2400" dirty="0">
                    <a:solidFill>
                      <a:schemeClr val="bg1"/>
                    </a:solidFill>
                    <a:ea typeface="+mj-ea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TW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is the number of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TW" alt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TW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TW" alt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in X which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TW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TW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is the index of -1 in the    	set X and u is the difference between</a:t>
                </a:r>
                <a:r>
                  <a:rPr lang="en-US" altLang="zh-TW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TW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TW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TW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en-US" altLang="zh-TW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1FE4D9B0-2837-E0BA-4174-D47EC8A70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36343" y="1173756"/>
                <a:ext cx="11147003" cy="5292357"/>
              </a:xfrm>
              <a:blipFill>
                <a:blip r:embed="rId3"/>
                <a:stretch>
                  <a:fillRect l="-219" r="-1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669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4F27-5B2E-9904-10D3-92E81F86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17D19-7CFB-C714-5DAC-FC2430F0F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SDS</a:t>
            </a:r>
            <a:r>
              <a:rPr lang="zh-TW" altLang="en-US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>
                <a:solidFill>
                  <a:schemeClr val="bg1"/>
                </a:solidFill>
              </a:rPr>
            </a:br>
            <a:endParaRPr lang="zh-TW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145EF52D-8205-F6F5-D850-A42B3F0D169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36343" y="1173756"/>
                <a:ext cx="11147003" cy="5292357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70000"/>
                  </a:lnSpc>
                  <a:buClr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TW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Number of times common differences occur</a:t>
                </a:r>
              </a:p>
              <a:p>
                <a:pPr marL="800100" lvl="1" indent="-342900" algn="l">
                  <a:lnSpc>
                    <a:spcPct val="170000"/>
                  </a:lnSpc>
                  <a:buClr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is the number of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TW" alt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TW" alt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in X which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TW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TW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is the index </a:t>
                </a:r>
              </a:p>
              <a:p>
                <a:pPr lvl="1" algn="l">
                  <a:lnSpc>
                    <a:spcPct val="170000"/>
                  </a:lnSpc>
                  <a:buClrTx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of -1 in the set X and u is the difference between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TW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TW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800100" lvl="1" indent="-342900" algn="l">
                  <a:lnSpc>
                    <a:spcPct val="17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Regardless of the value of u,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is a constant.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145EF52D-8205-F6F5-D850-A42B3F0D1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36343" y="1173756"/>
                <a:ext cx="11147003" cy="5292357"/>
              </a:xfrm>
              <a:blipFill>
                <a:blip r:embed="rId3"/>
                <a:stretch>
                  <a:fillRect l="-2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096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10023-8BC4-AE2F-BF0C-D0EBD9FA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418717-20F2-F60E-322C-A6E039C1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Subgroup H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137F219-410C-F528-7713-A1497A94B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副標題 2">
                <a:extLst>
                  <a:ext uri="{FF2B5EF4-FFF2-40B4-BE49-F238E27FC236}">
                    <a16:creationId xmlns:a16="http://schemas.microsoft.com/office/drawing/2014/main" id="{1950E9C8-E122-F56E-FC68-5688CC1D8D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743" y="1326156"/>
                <a:ext cx="11147003" cy="529235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2100" kern="1200" cap="none">
                    <a:solidFill>
                      <a:schemeClr val="bg2">
                        <a:lumMod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4572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8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9144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6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3716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18288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2860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7432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2004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6576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Target : We assume that the solution (X, Y) we are looking for is not random, but has a "structural regularity“, then introduce algebraic symmetry.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This "pattern" is the "algebraic tool" we use to simplify problems.</a:t>
                </a:r>
              </a:p>
              <a:p>
                <a:pPr marL="342900" indent="-34290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to find H ?</a:t>
                </a:r>
              </a:p>
              <a:p>
                <a:pPr marL="800100" lvl="1" indent="-342900" algn="l">
                  <a:lnSpc>
                    <a:spcPct val="150000"/>
                  </a:lnSpc>
                  <a:buClrTx/>
                  <a:buFont typeface="+mj-lt"/>
                  <a:buAutoNum type="arabicPeriod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Locked range : We find H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which is the multiplication group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00100" lvl="1" indent="-342900" algn="l">
                  <a:lnSpc>
                    <a:spcPct val="150000"/>
                  </a:lnSpc>
                  <a:buClrTx/>
                  <a:buFont typeface="+mj-lt"/>
                  <a:buAutoNum type="arabicPeriod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 size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Use Euler's totient function to find the cardinality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257300" lvl="2" indent="-342900" algn="l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prime factors of n</a:t>
                </a:r>
              </a:p>
              <a:p>
                <a:pPr marL="1257300" lvl="2" indent="-342900" algn="l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74</m:t>
                        </m:r>
                      </m:e>
                    </m:d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=74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37</m:t>
                            </m:r>
                          </m:den>
                        </m:f>
                      </m:e>
                    </m:d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=36</m:t>
                    </m:r>
                  </m:oMath>
                </a14:m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800100" lvl="1" indent="-342900" algn="l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副標題 2">
                <a:extLst>
                  <a:ext uri="{FF2B5EF4-FFF2-40B4-BE49-F238E27FC236}">
                    <a16:creationId xmlns:a16="http://schemas.microsoft.com/office/drawing/2014/main" id="{1950E9C8-E122-F56E-FC68-5688CC1D8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43" y="1326156"/>
                <a:ext cx="11147003" cy="5292357"/>
              </a:xfrm>
              <a:prstGeom prst="rect">
                <a:avLst/>
              </a:prstGeom>
              <a:blipFill>
                <a:blip r:embed="rId3"/>
                <a:stretch>
                  <a:fillRect l="-2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34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8026-E460-1484-DD9C-8A67FFAD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708DEF-4C17-8A08-C078-1322E44A4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Subgroup H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43BEE2-45F1-EEB2-DF46-4BA06300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副標題 2">
                <a:extLst>
                  <a:ext uri="{FF2B5EF4-FFF2-40B4-BE49-F238E27FC236}">
                    <a16:creationId xmlns:a16="http://schemas.microsoft.com/office/drawing/2014/main" id="{FFDF4D52-FFE7-401B-727E-FC51DE98C6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0987" y="1173756"/>
                <a:ext cx="11147003" cy="529235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2100" kern="1200" cap="none">
                    <a:solidFill>
                      <a:schemeClr val="bg2">
                        <a:lumMod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4572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8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9144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6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3716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18288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2860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7432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2004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6576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How to find H ?</a:t>
                </a:r>
              </a:p>
              <a:p>
                <a:pPr lvl="1" algn="l">
                  <a:lnSpc>
                    <a:spcPct val="150000"/>
                  </a:lnSpc>
                  <a:buClrTx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3. List the possible order of H : By Lagrange‘s theorem the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size of the subgroup of H should be the factor of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 algn="l">
                  <a:lnSpc>
                    <a:spcPct val="150000"/>
                  </a:lnSpc>
                  <a:buClrTx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4. Structure of H : We choose an order of H and find a generator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of that order.</a:t>
                </a:r>
              </a:p>
              <a:p>
                <a:pPr marL="1257300" lvl="2" indent="-342900" algn="l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H is a cyclic subgroup generating by H</a:t>
                </a:r>
              </a:p>
              <a:p>
                <a:pPr marL="1257300" lvl="2" indent="-342900" algn="l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E.g.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 &lt;47&gt; ={1 ,47 , 63}</m:t>
                    </m:r>
                  </m:oMath>
                </a14:m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800100" lvl="1" indent="-342900" algn="l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副標題 2">
                <a:extLst>
                  <a:ext uri="{FF2B5EF4-FFF2-40B4-BE49-F238E27FC236}">
                    <a16:creationId xmlns:a16="http://schemas.microsoft.com/office/drawing/2014/main" id="{FFDF4D52-FFE7-401B-727E-FC51DE98C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7" y="1173756"/>
                <a:ext cx="11147003" cy="5292357"/>
              </a:xfrm>
              <a:prstGeom prst="rect">
                <a:avLst/>
              </a:prstGeom>
              <a:blipFill>
                <a:blip r:embed="rId3"/>
                <a:stretch>
                  <a:fillRect l="-2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109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42F96-86CA-7F2F-C46A-03AA5115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08C866-284C-FDF2-B762-AED0924F6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Orbit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06319A-E010-7943-B537-6D80D9345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副標題 2">
                <a:extLst>
                  <a:ext uri="{FF2B5EF4-FFF2-40B4-BE49-F238E27FC236}">
                    <a16:creationId xmlns:a16="http://schemas.microsoft.com/office/drawing/2014/main" id="{6BAEC8E3-879D-FEF6-DACC-1B71308B2F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743" y="1326156"/>
                <a:ext cx="11147003" cy="529235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2100" kern="1200" cap="none">
                    <a:solidFill>
                      <a:schemeClr val="bg2">
                        <a:lumMod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4572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8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9144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6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3716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18288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2860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7432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2004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6576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Target : From "selecting elements" to "selecting tracks"  in order to simplify search assumptions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Orbit</a:t>
                </a:r>
              </a:p>
              <a:p>
                <a:pPr marL="800100" lvl="1" indent="-342900" algn="l">
                  <a:lnSpc>
                    <a:spcPct val="150000"/>
                  </a:lnSpc>
                  <a:buClrTx/>
                  <a:buFont typeface="+mj-lt"/>
                  <a:buAutoNum type="arabicPeriod"/>
                </a:pPr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The "symmetric element" produced by H acting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.</a:t>
                </a:r>
              </a:p>
              <a:p>
                <a:pPr marL="800100" lvl="1" indent="-342900" algn="l">
                  <a:lnSpc>
                    <a:spcPct val="150000"/>
                  </a:lnSpc>
                  <a:buClrTx/>
                  <a:buFont typeface="+mj-lt"/>
                  <a:buAutoNum type="arabicPeriod"/>
                </a:pPr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Definition.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zh-TW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𝑚𝑜𝑑</m:t>
                            </m:r>
                            <m:r>
                              <a:rPr lang="en-US" altLang="zh-TW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TW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zh-TW" sz="2000" b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1257300" lvl="2" indent="-342900" algn="l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Trivial Orbit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which j satisfies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d>
                      <m:dPr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𝑚𝑜𝑑</m:t>
                        </m:r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altLang="zh-TW" sz="200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1257300" lvl="2" indent="-342900" algn="l">
                  <a:lnSpc>
                    <a:spcPct val="150000"/>
                  </a:lnSpc>
                  <a:buClrTx/>
                  <a:buFont typeface="Wingdings" panose="05000000000000000000" pitchFamily="2" charset="2"/>
                  <a:buChar char="Ø"/>
                </a:pPr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Nontrivial Orbit 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TW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US" altLang="zh-TW" sz="2000" b="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800100" lvl="1" indent="-342900" algn="l">
                  <a:lnSpc>
                    <a:spcPct val="150000"/>
                  </a:lnSpc>
                  <a:buFont typeface="+mj-lt"/>
                  <a:buAutoNum type="arabicPeriod"/>
                </a:pPr>
                <a:endParaRPr lang="en-US" altLang="zh-TW" sz="240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副標題 2">
                <a:extLst>
                  <a:ext uri="{FF2B5EF4-FFF2-40B4-BE49-F238E27FC236}">
                    <a16:creationId xmlns:a16="http://schemas.microsoft.com/office/drawing/2014/main" id="{6BAEC8E3-879D-FEF6-DACC-1B71308B2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43" y="1326156"/>
                <a:ext cx="11147003" cy="5292357"/>
              </a:xfrm>
              <a:prstGeom prst="rect">
                <a:avLst/>
              </a:prstGeom>
              <a:blipFill>
                <a:blip r:embed="rId3"/>
                <a:stretch>
                  <a:fillRect l="-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206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55E5-6215-6C99-3F28-7AA0ED1F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A381A2-81BE-7878-7C62-BE07AD9F5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set j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43E2A33-19E1-534D-E28D-1DFEC68AB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副標題 2">
                <a:extLst>
                  <a:ext uri="{FF2B5EF4-FFF2-40B4-BE49-F238E27FC236}">
                    <a16:creationId xmlns:a16="http://schemas.microsoft.com/office/drawing/2014/main" id="{5CB8ECA3-DBC7-4868-D6B9-88C1FB28BE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743" y="1326156"/>
                <a:ext cx="11147003" cy="529235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2100" kern="1200" cap="none">
                    <a:solidFill>
                      <a:schemeClr val="bg2">
                        <a:lumMod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4572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8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9144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6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3716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18288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2860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7432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2004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657600" indent="0" algn="ctr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1"/>
                  </a:buClr>
                  <a:buSzPct val="80000"/>
                  <a:buFont typeface="Wingdings 3" panose="05040102010807070707" pitchFamily="18" charset="2"/>
                  <a:buNone/>
                  <a:defRPr sz="1400" kern="1200" cap="none">
                    <a:solidFill>
                      <a:schemeClr val="tx1">
                        <a:tint val="7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j  : the element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TW" sz="20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𝑍</m:t>
                        </m:r>
                      </m:e>
                      <m:sub>
                        <m:r>
                          <a:rPr lang="en-US" altLang="zh-TW" sz="20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use to generate the orbit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endParaRPr lang="en-US" altLang="zh-TW" sz="240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J : an index set which records all the orbits j that make up X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altLang="zh-TW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How to find J :</a:t>
                </a:r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Through large-scale computer search, the algorithm generates millions of candidate "track unions," then compares their "difference distributions" to find the set (X, Y) that exactly satisfies the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>
                    <a:solidFill>
                      <a:schemeClr val="bg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condition.</a:t>
                </a:r>
                <a:endParaRPr lang="en-US" altLang="zh-TW" sz="2400">
                  <a:solidFill>
                    <a:schemeClr val="bg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副標題 2">
                <a:extLst>
                  <a:ext uri="{FF2B5EF4-FFF2-40B4-BE49-F238E27FC236}">
                    <a16:creationId xmlns:a16="http://schemas.microsoft.com/office/drawing/2014/main" id="{5CB8ECA3-DBC7-4868-D6B9-88C1FB28B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43" y="1326156"/>
                <a:ext cx="11147003" cy="5292357"/>
              </a:xfrm>
              <a:prstGeom prst="rect">
                <a:avLst/>
              </a:prstGeom>
              <a:blipFill>
                <a:blip r:embed="rId3"/>
                <a:stretch>
                  <a:fillRect l="-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180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5188-0E5A-D4FC-651A-165BB15D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C9D82-A7A2-48A3-6DF9-FD76EA3BC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4" y="-525428"/>
            <a:ext cx="6376844" cy="1506126"/>
          </a:xfrm>
        </p:spPr>
        <p:txBody>
          <a:bodyPr>
            <a:normAutofit/>
          </a:bodyPr>
          <a:lstStyle/>
          <a:p>
            <a:r>
              <a:rPr lang="en-US" altLang="zh-TW" sz="40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Construction</a:t>
            </a:r>
            <a:r>
              <a:rPr lang="en-US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(L=74)</a:t>
            </a:r>
            <a:endParaRPr lang="en-US" sz="4400">
              <a:solidFill>
                <a:schemeClr val="bg1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BA6BB86-B0FA-F46D-5EFB-6E33E0096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9627C6-75BA-FD75-3B6B-3531147A227A}"/>
              </a:ext>
            </a:extLst>
          </p:cNvPr>
          <p:cNvSpPr txBox="1"/>
          <p:nvPr/>
        </p:nvSpPr>
        <p:spPr>
          <a:xfrm>
            <a:off x="368084" y="1065508"/>
            <a:ext cx="10774101" cy="14965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Batch A = 5000</a:t>
            </a:r>
            <a:r>
              <a:rPr lang="en-US" sz="2100" b="1" i="0" u="none" strike="noStrike" baseline="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：</a:t>
            </a:r>
            <a:r>
              <a:rPr lang="en-US" sz="2100" b="0" i="0" u="none" strike="noStrike" baseline="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 </a:t>
            </a:r>
            <a:r>
              <a:rPr lang="en-US" sz="2100" b="0" i="0">
                <a:solidFill>
                  <a:srgbClr val="FFFFFF"/>
                </a:solidFill>
                <a:latin typeface="Noto Sans TC"/>
                <a:ea typeface="Arial"/>
                <a:cs typeface="Arial"/>
              </a:rPr>
              <a:t>​</a:t>
            </a:r>
            <a:endParaRPr lang="en-US"/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zh-TW" altLang="en-US" sz="210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一次存5000個A序列的PACF，搜索全部的B序列，避免過多重複計算的PACF</a:t>
            </a: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endParaRPr lang="zh-TW" altLang="en-US" sz="2100">
              <a:solidFill>
                <a:srgbClr val="333333"/>
              </a:solidFill>
              <a:latin typeface="Noto Sans TC"/>
              <a:ea typeface="Arial"/>
              <a:cs typeface="Arial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40960AD-FEED-D079-0F86-B19F8B26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62" y="2231756"/>
            <a:ext cx="5959647" cy="1188630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5DD70193-52B4-A80E-278D-686A533F6F1C}"/>
              </a:ext>
            </a:extLst>
          </p:cNvPr>
          <p:cNvGrpSpPr/>
          <p:nvPr/>
        </p:nvGrpSpPr>
        <p:grpSpPr>
          <a:xfrm>
            <a:off x="369296" y="3622597"/>
            <a:ext cx="6370623" cy="3088677"/>
            <a:chOff x="369296" y="3622597"/>
            <a:chExt cx="6370623" cy="3088677"/>
          </a:xfrm>
        </p:grpSpPr>
        <p:pic>
          <p:nvPicPr>
            <p:cNvPr id="5" name="圖片 4" descr="image.png">
              <a:extLst>
                <a:ext uri="{FF2B5EF4-FFF2-40B4-BE49-F238E27FC236}">
                  <a16:creationId xmlns:a16="http://schemas.microsoft.com/office/drawing/2014/main" id="{AA499205-3883-9EAA-C9F9-04C4F9180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9296" y="3622597"/>
              <a:ext cx="6370623" cy="3088677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9FEF855E-00E2-C6CE-5A31-6CCC31796483}"/>
                </a:ext>
              </a:extLst>
            </p:cNvPr>
            <p:cNvSpPr txBox="1"/>
            <p:nvPr/>
          </p:nvSpPr>
          <p:spPr>
            <a:xfrm>
              <a:off x="511715" y="4018624"/>
              <a:ext cx="6096000" cy="249299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b="1" err="1">
                  <a:solidFill>
                    <a:srgbClr val="ECF0F1"/>
                  </a:solidFill>
                  <a:latin typeface="JetBrains Mono"/>
                  <a:ea typeface="JetBrains Mono"/>
                  <a:cs typeface="JetBrains Mono"/>
                </a:rPr>
                <a:t>目標：A</a:t>
              </a:r>
              <a:r>
                <a:rPr lang="zh-TW" altLang="en-US" sz="1600" b="1">
                  <a:solidFill>
                    <a:srgbClr val="ECF0F1"/>
                  </a:solidFill>
                  <a:latin typeface="JetBrains Mono"/>
                  <a:ea typeface="JetBrains Mono"/>
                  <a:cs typeface="JetBrains Mono"/>
                </a:rPr>
                <a:t>有36個-1、B有31個-1</a:t>
              </a:r>
              <a:endParaRPr lang="en-US" sz="1600">
                <a:solidFill>
                  <a:srgbClr val="ECF0F1"/>
                </a:solidFill>
                <a:latin typeface="JetBrains Mono"/>
                <a:ea typeface="微軟正黑體"/>
                <a:cs typeface="JetBrains Mono"/>
              </a:endParaRPr>
            </a:p>
            <a:p>
              <a:br>
                <a:rPr lang="en-US" sz="1400"/>
              </a:br>
              <a:r>
                <a:rPr lang="en-US" sz="1600" b="1">
                  <a:solidFill>
                    <a:srgbClr val="ECF0F1"/>
                  </a:solidFill>
                  <a:latin typeface="Times New Roman"/>
                  <a:cs typeface="Times New Roman"/>
                </a:rPr>
                <a:t>A</a:t>
              </a:r>
              <a:r>
                <a:rPr lang="en-US" sz="1600" b="1">
                  <a:solidFill>
                    <a:srgbClr val="ECF0F1"/>
                  </a:solidFill>
                  <a:latin typeface="JetBrains Mono"/>
                  <a:ea typeface="JetBrains Mono"/>
                  <a:cs typeface="JetBrains Mono"/>
                </a:rPr>
                <a:t> (orbit order = 3)：</a:t>
              </a:r>
              <a:r>
                <a:rPr lang="zh-TW" altLang="en-US" sz="1600" b="1">
                  <a:solidFill>
                    <a:srgbClr val="ECF0F1"/>
                  </a:solidFill>
                  <a:latin typeface="JetBrains Mono"/>
                  <a:ea typeface="JetBrains Mono"/>
                  <a:cs typeface="JetBrains Mono"/>
                </a:rPr>
                <a:t>總共選取12個 3 elements orbits</a:t>
              </a:r>
              <a:endParaRPr lang="en-US" altLang="zh-TW" sz="1600">
                <a:solidFill>
                  <a:srgbClr val="ECF0F1"/>
                </a:solidFill>
                <a:latin typeface="JetBrains Mono"/>
                <a:ea typeface="微軟正黑體"/>
                <a:cs typeface="JetBrains Mono"/>
              </a:endParaRPr>
            </a:p>
            <a:p>
              <a:r>
                <a:rPr lang="en-US" sz="1600">
                  <a:latin typeface="JetBrains Mono"/>
                  <a:cs typeface="Times New Roman"/>
                </a:rPr>
                <a:t>A</a:t>
              </a:r>
              <a:r>
                <a:rPr lang="zh-TW" altLang="en-US" sz="1600" b="1">
                  <a:latin typeface="JetBrains Mono"/>
                  <a:ea typeface="微軟正黑體"/>
                  <a:cs typeface="Times New Roman"/>
                </a:rPr>
                <a:t>序列組合數共C24取12個 = 2704156</a:t>
              </a:r>
              <a:br>
                <a:rPr lang="en-US" sz="1600" b="1">
                  <a:latin typeface="JetBrains Mono"/>
                </a:rPr>
              </a:br>
              <a:endParaRPr lang="en-US" sz="1400">
                <a:solidFill>
                  <a:srgbClr val="ECF0F1"/>
                </a:solidFill>
                <a:latin typeface="JetBrains Mono"/>
                <a:ea typeface="微軟正黑體"/>
                <a:cs typeface="JetBrains Mono"/>
              </a:endParaRPr>
            </a:p>
            <a:p>
              <a:br>
                <a:rPr lang="en-US" sz="1400"/>
              </a:br>
              <a:r>
                <a:rPr lang="en-US" altLang="zh-TW" sz="1600" b="1">
                  <a:solidFill>
                    <a:srgbClr val="ECF0F1"/>
                  </a:solidFill>
                  <a:latin typeface="Times New Roman"/>
                  <a:ea typeface="+mn-lt"/>
                  <a:cs typeface="+mn-lt"/>
                </a:rPr>
                <a:t>B </a:t>
              </a:r>
              <a:r>
                <a:rPr lang="en-US" sz="1600" b="1">
                  <a:solidFill>
                    <a:srgbClr val="ECF0F1"/>
                  </a:solidFill>
                  <a:latin typeface="Times New Roman"/>
                  <a:ea typeface="+mn-lt"/>
                  <a:cs typeface="+mn-lt"/>
                </a:rPr>
                <a:t>(orbit order = 3)</a:t>
              </a:r>
              <a:r>
                <a:rPr lang="en-US" sz="1600" b="1">
                  <a:solidFill>
                    <a:srgbClr val="ECF0F1"/>
                  </a:solidFill>
                  <a:latin typeface="Times New Roman"/>
                  <a:ea typeface="微軟正黑體"/>
                  <a:cs typeface="Times New Roman"/>
                </a:rPr>
                <a:t>：</a:t>
              </a:r>
              <a:r>
                <a:rPr lang="zh-TW" altLang="en-US" sz="1600" b="1">
                  <a:solidFill>
                    <a:srgbClr val="ECF0F1"/>
                  </a:solidFill>
                  <a:ea typeface="+mn-lt"/>
                  <a:cs typeface="+mn-lt"/>
                </a:rPr>
                <a:t>選取</a:t>
              </a:r>
              <a:r>
                <a:rPr lang="en-US" altLang="zh-TW" sz="1600" b="1">
                  <a:solidFill>
                    <a:srgbClr val="ECF0F1"/>
                  </a:solidFill>
                  <a:ea typeface="+mn-lt"/>
                  <a:cs typeface="+mn-lt"/>
                </a:rPr>
                <a:t>10</a:t>
              </a:r>
              <a:r>
                <a:rPr lang="zh-TW" altLang="en-US" sz="1600" b="1">
                  <a:solidFill>
                    <a:srgbClr val="ECF0F1"/>
                  </a:solidFill>
                  <a:ea typeface="+mn-lt"/>
                  <a:cs typeface="+mn-lt"/>
                </a:rPr>
                <a:t>個 </a:t>
              </a:r>
              <a:r>
                <a:rPr lang="en-US" altLang="zh-TW" sz="1600" b="1">
                  <a:solidFill>
                    <a:srgbClr val="ECF0F1"/>
                  </a:solidFill>
                  <a:ea typeface="+mn-lt"/>
                  <a:cs typeface="+mn-lt"/>
                </a:rPr>
                <a:t>3</a:t>
              </a:r>
              <a:r>
                <a:rPr lang="zh-TW" altLang="en-US" sz="1600" b="1">
                  <a:solidFill>
                    <a:srgbClr val="ECF0F1"/>
                  </a:solidFill>
                  <a:ea typeface="+mn-lt"/>
                  <a:cs typeface="+mn-lt"/>
                </a:rPr>
                <a:t> </a:t>
              </a:r>
              <a:r>
                <a:rPr lang="en-US" altLang="zh-TW" sz="1600" b="1">
                  <a:solidFill>
                    <a:srgbClr val="ECF0F1"/>
                  </a:solidFill>
                  <a:ea typeface="+mn-lt"/>
                  <a:cs typeface="+mn-lt"/>
                </a:rPr>
                <a:t>elements</a:t>
              </a:r>
              <a:r>
                <a:rPr lang="zh-TW" altLang="en-US" sz="1600" b="1">
                  <a:solidFill>
                    <a:srgbClr val="ECF0F1"/>
                  </a:solidFill>
                  <a:ea typeface="+mn-lt"/>
                  <a:cs typeface="+mn-lt"/>
                </a:rPr>
                <a:t> </a:t>
              </a:r>
              <a:r>
                <a:rPr lang="en-US" altLang="zh-TW" sz="1600" b="1">
                  <a:solidFill>
                    <a:srgbClr val="ECF0F1"/>
                  </a:solidFill>
                  <a:ea typeface="+mn-lt"/>
                  <a:cs typeface="+mn-lt"/>
                </a:rPr>
                <a:t>orbits + 1 nontrivial</a:t>
              </a:r>
              <a:br>
                <a:rPr lang="en-US" sz="1600">
                  <a:latin typeface="Times New Roman"/>
                </a:rPr>
              </a:br>
              <a:r>
                <a:rPr lang="zh-TW" altLang="en-US" sz="1600" b="1">
                  <a:solidFill>
                    <a:srgbClr val="FFFFFF"/>
                  </a:solidFill>
                  <a:ea typeface="+mn-lt"/>
                  <a:cs typeface="+mn-lt"/>
                </a:rPr>
                <a:t>B序列組合數共</a:t>
              </a:r>
              <a:r>
                <a:rPr lang="en-US" altLang="zh-TW" sz="1600" b="1">
                  <a:solidFill>
                    <a:srgbClr val="FFFFFF"/>
                  </a:solidFill>
                  <a:ea typeface="+mn-lt"/>
                  <a:cs typeface="+mn-lt"/>
                </a:rPr>
                <a:t>C(24,</a:t>
              </a:r>
              <a:r>
                <a:rPr lang="zh-TW" altLang="en-US" sz="1600" b="1">
                  <a:solidFill>
                    <a:srgbClr val="FFFFFF"/>
                  </a:solidFill>
                  <a:ea typeface="+mn-lt"/>
                  <a:cs typeface="+mn-lt"/>
                </a:rPr>
                <a:t>10)*C(2,1) = 3922512</a:t>
              </a:r>
              <a:br>
                <a:rPr lang="zh-TW" altLang="en-US" sz="1600" b="1">
                  <a:ea typeface="+mn-lt"/>
                  <a:cs typeface="+mn-lt"/>
                </a:rPr>
              </a:br>
              <a:endParaRPr lang="en-US" sz="1600">
                <a:solidFill>
                  <a:srgbClr val="000000"/>
                </a:solidFill>
                <a:ea typeface="+mn-lt"/>
                <a:cs typeface="+mn-lt"/>
              </a:endParaRPr>
            </a:p>
            <a:p>
              <a:pPr algn="ctr"/>
              <a:endParaRPr lang="zh-TW" altLang="en-US"/>
            </a:p>
          </p:txBody>
        </p:sp>
      </p:grp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D56C703-576F-4AAD-1C28-6C32FF4E8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356457"/>
              </p:ext>
            </p:extLst>
          </p:nvPr>
        </p:nvGraphicFramePr>
        <p:xfrm>
          <a:off x="7327726" y="2233808"/>
          <a:ext cx="4264515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21505">
                  <a:extLst>
                    <a:ext uri="{9D8B030D-6E8A-4147-A177-3AD203B41FA5}">
                      <a16:colId xmlns:a16="http://schemas.microsoft.com/office/drawing/2014/main" val="2630632971"/>
                    </a:ext>
                  </a:extLst>
                </a:gridCol>
                <a:gridCol w="1421505">
                  <a:extLst>
                    <a:ext uri="{9D8B030D-6E8A-4147-A177-3AD203B41FA5}">
                      <a16:colId xmlns:a16="http://schemas.microsoft.com/office/drawing/2014/main" val="3745024081"/>
                    </a:ext>
                  </a:extLst>
                </a:gridCol>
                <a:gridCol w="1421505">
                  <a:extLst>
                    <a:ext uri="{9D8B030D-6E8A-4147-A177-3AD203B41FA5}">
                      <a16:colId xmlns:a16="http://schemas.microsoft.com/office/drawing/2014/main" val="1507056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# of 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# of 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0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latin typeface="Noto Sans TC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576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latin typeface="Noto Sans TC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51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822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21091-67A9-29F8-07CA-01FA2E0F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599EE-BD2C-4657-4908-AA424F022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4" y="-525428"/>
            <a:ext cx="6376844" cy="1506126"/>
          </a:xfrm>
        </p:spPr>
        <p:txBody>
          <a:bodyPr>
            <a:normAutofit/>
          </a:bodyPr>
          <a:lstStyle/>
          <a:p>
            <a:r>
              <a:rPr lang="en-US" altLang="zh-TW" sz="40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Construction</a:t>
            </a:r>
            <a:r>
              <a:rPr lang="en-US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(L=74)</a:t>
            </a:r>
            <a:endParaRPr lang="en-US" sz="4400">
              <a:solidFill>
                <a:schemeClr val="bg1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F05EB1-ED06-4DDF-0D7C-99471EECC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04724D-E1B5-6773-7FD2-4B3EDFF3A8CC}"/>
                  </a:ext>
                </a:extLst>
              </p:cNvPr>
              <p:cNvSpPr txBox="1"/>
              <p:nvPr/>
            </p:nvSpPr>
            <p:spPr>
              <a:xfrm>
                <a:off x="368085" y="1065508"/>
                <a:ext cx="3056682" cy="5193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100" b="1">
                    <a:solidFill>
                      <a:srgbClr val="333333"/>
                    </a:solidFill>
                    <a:latin typeface="Noto Sans TC"/>
                    <a:ea typeface="Arial"/>
                    <a:cs typeface="Arial"/>
                  </a:rPr>
                  <a:t>Step 1. </a:t>
                </a:r>
                <a:r>
                  <a:rPr lang="zh-TW" altLang="en-US" sz="2100" b="1">
                    <a:solidFill>
                      <a:srgbClr val="333333"/>
                    </a:solidFill>
                    <a:latin typeface="Noto Sans TC"/>
                    <a:ea typeface="Arial"/>
                    <a:cs typeface="Arial"/>
                  </a:rPr>
                  <a:t> </a:t>
                </a:r>
                <a:r>
                  <a:rPr lang="zh-TW" altLang="en-US" sz="2100" b="1">
                    <a:solidFill>
                      <a:srgbClr val="333333"/>
                    </a:solidFill>
                    <a:latin typeface="Noto Sans TC"/>
                    <a:cs typeface="Arial"/>
                  </a:rPr>
                  <a:t>計算 </a:t>
                </a:r>
                <a14:m>
                  <m:oMath xmlns:m="http://schemas.openxmlformats.org/officeDocument/2006/math">
                    <m:r>
                      <a:rPr lang="zh-TW" altLang="en-US" sz="2100" b="1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04724D-E1B5-6773-7FD2-4B3EDFF3A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85" y="1065508"/>
                <a:ext cx="3056682" cy="519309"/>
              </a:xfrm>
              <a:prstGeom prst="rect">
                <a:avLst/>
              </a:prstGeom>
              <a:blipFill>
                <a:blip r:embed="rId2"/>
                <a:stretch>
                  <a:fillRect l="-2390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圖片 12">
            <a:extLst>
              <a:ext uri="{FF2B5EF4-FFF2-40B4-BE49-F238E27FC236}">
                <a16:creationId xmlns:a16="http://schemas.microsoft.com/office/drawing/2014/main" id="{3B4CD168-27B6-EFD3-C89E-62FF065BC5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274"/>
          <a:stretch>
            <a:fillRect/>
          </a:stretch>
        </p:blipFill>
        <p:spPr>
          <a:xfrm>
            <a:off x="3424766" y="1325162"/>
            <a:ext cx="2886478" cy="1857634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E1018322-2017-00E5-6A58-A232F3B51888}"/>
              </a:ext>
            </a:extLst>
          </p:cNvPr>
          <p:cNvSpPr txBox="1"/>
          <p:nvPr/>
        </p:nvSpPr>
        <p:spPr>
          <a:xfrm>
            <a:off x="368085" y="3287252"/>
            <a:ext cx="5943160" cy="519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Step </a:t>
            </a:r>
            <a:r>
              <a:rPr lang="en-US" altLang="zh-TW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2</a:t>
            </a: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. </a:t>
            </a:r>
            <a:r>
              <a:rPr lang="zh-TW" alt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 </a:t>
            </a:r>
            <a:r>
              <a:rPr lang="zh-TW" altLang="en-US" sz="2100" b="1">
                <a:solidFill>
                  <a:srgbClr val="333333"/>
                </a:solidFill>
                <a:latin typeface="Noto Sans TC"/>
                <a:cs typeface="Arial"/>
              </a:rPr>
              <a:t>計算 </a:t>
            </a:r>
            <a:r>
              <a:rPr lang="en-US" altLang="zh-TW" sz="2100" b="1">
                <a:solidFill>
                  <a:srgbClr val="333333"/>
                </a:solidFill>
                <a:latin typeface="Noto Sans TC"/>
                <a:cs typeface="Arial"/>
              </a:rPr>
              <a:t>order</a:t>
            </a:r>
            <a:endParaRPr 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4EBC138-B533-5B07-0975-DEEE4432C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766" y="3911017"/>
            <a:ext cx="2886478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2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D58B4-B3A5-1FD3-6D17-C459A8881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E5286E-A12C-ABFE-72B1-E241CB8E0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4" y="-525428"/>
            <a:ext cx="6376844" cy="1506126"/>
          </a:xfrm>
        </p:spPr>
        <p:txBody>
          <a:bodyPr>
            <a:normAutofit/>
          </a:bodyPr>
          <a:lstStyle/>
          <a:p>
            <a:r>
              <a:rPr lang="en-US" altLang="zh-TW" sz="40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Construction</a:t>
            </a:r>
            <a:r>
              <a:rPr lang="en-US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(L=74)</a:t>
            </a:r>
            <a:endParaRPr lang="en-US" sz="4400">
              <a:solidFill>
                <a:schemeClr val="bg1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DB22F297-C476-C691-D363-34CD994A4564}"/>
              </a:ext>
            </a:extLst>
          </p:cNvPr>
          <p:cNvSpPr txBox="1"/>
          <p:nvPr/>
        </p:nvSpPr>
        <p:spPr>
          <a:xfrm>
            <a:off x="236344" y="1173562"/>
            <a:ext cx="3056682" cy="519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Step </a:t>
            </a:r>
            <a:r>
              <a:rPr lang="en-US" altLang="zh-TW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3</a:t>
            </a: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. </a:t>
            </a:r>
            <a:r>
              <a:rPr lang="zh-TW" alt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 找出</a:t>
            </a:r>
            <a:r>
              <a:rPr lang="en-US" altLang="zh-TW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n</a:t>
            </a:r>
            <a:r>
              <a:rPr lang="zh-TW" alt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的因數</a:t>
            </a:r>
            <a:endParaRPr 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04FAE3E6-9792-E7F9-A2D6-4D63BE30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44" y="1885735"/>
            <a:ext cx="4296375" cy="1543265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B4BF96A6-9363-2526-9BBD-9377CCE1C67B}"/>
              </a:ext>
            </a:extLst>
          </p:cNvPr>
          <p:cNvSpPr txBox="1"/>
          <p:nvPr/>
        </p:nvSpPr>
        <p:spPr>
          <a:xfrm>
            <a:off x="5084847" y="1173561"/>
            <a:ext cx="3056682" cy="519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Step </a:t>
            </a:r>
            <a:r>
              <a:rPr lang="en-US" altLang="zh-TW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4</a:t>
            </a: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. </a:t>
            </a:r>
            <a:r>
              <a:rPr lang="zh-TW" alt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 尋找軌道</a:t>
            </a:r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7C63C50-46D2-2B08-58F2-5C61C4E916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752"/>
          <a:stretch>
            <a:fillRect/>
          </a:stretch>
        </p:blipFill>
        <p:spPr>
          <a:xfrm>
            <a:off x="8022233" y="1433215"/>
            <a:ext cx="3822234" cy="516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1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AEF2-1F30-29CA-B21B-55C70CD6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13F050-6CD1-C867-BF4B-7310E5FF2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4" y="-525428"/>
            <a:ext cx="6376844" cy="1506126"/>
          </a:xfrm>
        </p:spPr>
        <p:txBody>
          <a:bodyPr>
            <a:normAutofit/>
          </a:bodyPr>
          <a:lstStyle/>
          <a:p>
            <a:r>
              <a:rPr lang="en-US" altLang="zh-TW" sz="40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Construction</a:t>
            </a:r>
            <a:r>
              <a:rPr lang="en-US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(L=74)</a:t>
            </a:r>
            <a:endParaRPr lang="en-US" sz="4400">
              <a:solidFill>
                <a:schemeClr val="bg1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B47F6CA1-7A62-0E7E-2264-700DBD0F4143}"/>
              </a:ext>
            </a:extLst>
          </p:cNvPr>
          <p:cNvSpPr txBox="1"/>
          <p:nvPr/>
        </p:nvSpPr>
        <p:spPr>
          <a:xfrm>
            <a:off x="236344" y="1173562"/>
            <a:ext cx="3056682" cy="519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Step 5. </a:t>
            </a:r>
            <a:r>
              <a:rPr lang="zh-TW" alt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 找出</a:t>
            </a:r>
            <a:r>
              <a:rPr lang="en-US" altLang="zh-TW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Orbit</a:t>
            </a:r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CFF07BD-12E4-A376-B474-FCAC7C52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408" y="1433216"/>
            <a:ext cx="4801270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88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607D3-BC91-1422-D490-C32B617F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9430F-E008-09BC-6716-8E7A2DAE3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Orbit(L=74)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872EA4-8592-1BE7-A9AD-9F4876FC1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ABF2B32B-5EDB-8F6D-198F-3EC039F2A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43" y="1020477"/>
            <a:ext cx="3595279" cy="266401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9BEF7A63-67E9-5420-A9A9-3C9D31264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365" y="1020475"/>
            <a:ext cx="3032834" cy="4220217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9DD313B-16FD-42E2-BE75-19B4516070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644" y="1020475"/>
            <a:ext cx="3629558" cy="42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03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90E16-91ED-6EA7-DEBB-C2E7FCCC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95050D-F277-1A4A-F55F-D698D78DB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Orbit(L=74)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3A4F3DD-D3FF-B931-DCF6-1EDDD8220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BF6617B5-E232-A114-DD9F-129FC6531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04" y="2755138"/>
            <a:ext cx="5967461" cy="3453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B2CB03-0B81-69C9-09F5-11A0C0393D30}"/>
              </a:ext>
            </a:extLst>
          </p:cNvPr>
          <p:cNvSpPr txBox="1"/>
          <p:nvPr/>
        </p:nvSpPr>
        <p:spPr>
          <a:xfrm>
            <a:off x="368084" y="1065508"/>
            <a:ext cx="6096000" cy="1981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Total orbits</a:t>
            </a:r>
            <a:r>
              <a:rPr lang="en-US" sz="2100" b="1" i="0" u="none" strike="noStrike" baseline="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：</a:t>
            </a:r>
            <a:r>
              <a:rPr lang="en-US" sz="2100" b="0" i="0" u="none" strike="noStrike" baseline="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 </a:t>
            </a:r>
            <a:r>
              <a:rPr lang="en-US" sz="2100" b="0" i="0">
                <a:solidFill>
                  <a:srgbClr val="FFFFFF"/>
                </a:solidFill>
                <a:latin typeface="Noto Sans TC"/>
                <a:ea typeface="Arial"/>
                <a:cs typeface="Arial"/>
              </a:rPr>
              <a:t>​</a:t>
            </a:r>
            <a:endParaRPr lang="en-US"/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Trivial orbits: {0}, {37}  </a:t>
            </a:r>
            <a:r>
              <a:rPr lang="zh-TW" altLang="en-US" sz="210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共2個orbits</a:t>
            </a:r>
            <a:endParaRPr lang="en-US" sz="2100">
              <a:solidFill>
                <a:srgbClr val="000000"/>
              </a:solidFill>
              <a:latin typeface="Noto Sans TC"/>
              <a:ea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Nontrivial orbits: below </a:t>
            </a:r>
            <a:r>
              <a:rPr lang="zh-TW" altLang="en-US" sz="210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共24個orbits</a:t>
            </a:r>
            <a:endParaRPr lang="en-US" sz="2100">
              <a:solidFill>
                <a:srgbClr val="000000"/>
              </a:solidFill>
              <a:latin typeface="Noto Sans TC"/>
              <a:ea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endParaRPr lang="en-US" sz="2100" b="0" i="0">
              <a:solidFill>
                <a:srgbClr val="333333"/>
              </a:solidFill>
              <a:latin typeface="Noto Sans TC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049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B7257-8DA5-5B34-3A0A-A742C533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17FB7-72B2-C8AD-F699-D75F474A7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5219377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Construction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6A30249-FDA6-3811-4942-7AAE31128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DB94F-9E63-A988-2F0B-560AB28A9F72}"/>
              </a:ext>
            </a:extLst>
          </p:cNvPr>
          <p:cNvSpPr txBox="1"/>
          <p:nvPr/>
        </p:nvSpPr>
        <p:spPr>
          <a:xfrm>
            <a:off x="368084" y="1065508"/>
            <a:ext cx="6096000" cy="14965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Calculation of PACF</a:t>
            </a:r>
            <a:r>
              <a:rPr lang="en-US" sz="2100" b="1" i="0" u="none" strike="noStrike" baseline="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：</a:t>
            </a:r>
            <a:r>
              <a:rPr lang="en-US" sz="2100" b="0" i="0" u="none" strike="noStrike" baseline="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 </a:t>
            </a:r>
            <a:r>
              <a:rPr lang="en-US" sz="2100" b="0" i="0">
                <a:solidFill>
                  <a:srgbClr val="FFFFFF"/>
                </a:solidFill>
                <a:latin typeface="Noto Sans TC"/>
                <a:ea typeface="Arial"/>
                <a:cs typeface="Arial"/>
              </a:rPr>
              <a:t>​</a:t>
            </a:r>
            <a:endParaRPr lang="en-US"/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zh-TW" altLang="en-US" sz="210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計算PACF，利用判斷式取代乘法運算</a:t>
            </a:r>
            <a:endParaRPr lang="en-US" sz="2100">
              <a:solidFill>
                <a:srgbClr val="333333"/>
              </a:solidFill>
              <a:latin typeface="Noto Sans TC"/>
              <a:ea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endParaRPr lang="en-US" sz="2100">
              <a:solidFill>
                <a:srgbClr val="333333"/>
              </a:solidFill>
              <a:latin typeface="Noto Sans TC"/>
              <a:ea typeface="Arial"/>
              <a:cs typeface="Arial"/>
            </a:endParaRPr>
          </a:p>
        </p:txBody>
      </p:sp>
      <p:pic>
        <p:nvPicPr>
          <p:cNvPr id="4" name="Picture 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F42F2C46-83E4-05B3-E252-FD37564D0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25" y="2205614"/>
            <a:ext cx="5935402" cy="24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92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C8A7-40E4-B620-4C1C-D8647481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A3BAD9-E1E2-9F2F-1C36-775A0E52A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5219377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Construction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A415C6-CB0A-5981-F20D-8B0B943EB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D3ED1-A64A-FDCB-C465-8FC73B839C2F}"/>
              </a:ext>
            </a:extLst>
          </p:cNvPr>
          <p:cNvSpPr txBox="1"/>
          <p:nvPr/>
        </p:nvSpPr>
        <p:spPr>
          <a:xfrm>
            <a:off x="368084" y="1065508"/>
            <a:ext cx="6096000" cy="14965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 b="1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Calculation of next combination</a:t>
            </a:r>
            <a:r>
              <a:rPr lang="en-US" sz="2100" b="1" i="0" u="none" strike="noStrike" baseline="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：</a:t>
            </a:r>
            <a:r>
              <a:rPr lang="en-US" sz="2100" b="0" i="0" u="none" strike="noStrike" baseline="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 </a:t>
            </a:r>
            <a:r>
              <a:rPr lang="en-US" sz="2100" b="0" i="0">
                <a:solidFill>
                  <a:srgbClr val="FFFFFF"/>
                </a:solidFill>
                <a:latin typeface="Noto Sans TC"/>
                <a:ea typeface="Arial"/>
                <a:cs typeface="Arial"/>
              </a:rPr>
              <a:t>​</a:t>
            </a:r>
            <a:endParaRPr lang="en-US"/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zh-TW" altLang="en-US" sz="2100">
                <a:solidFill>
                  <a:srgbClr val="333333"/>
                </a:solidFill>
                <a:latin typeface="Noto Sans TC"/>
                <a:ea typeface="Arial"/>
                <a:cs typeface="Arial"/>
              </a:rPr>
              <a:t>搜索下一個組合</a:t>
            </a:r>
            <a:endParaRPr lang="en-US" sz="2100">
              <a:solidFill>
                <a:srgbClr val="333333"/>
              </a:solidFill>
              <a:latin typeface="Noto Sans TC"/>
              <a:ea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endParaRPr lang="en-US" sz="2100">
              <a:solidFill>
                <a:srgbClr val="333333"/>
              </a:solidFill>
              <a:latin typeface="Noto Sans TC"/>
              <a:ea typeface="Arial"/>
              <a:cs typeface="Arial"/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6D1103E-EC07-C73B-817A-8E45B676F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00" y="2313445"/>
            <a:ext cx="4566512" cy="3006026"/>
          </a:xfrm>
          <a:prstGeom prst="rect">
            <a:avLst/>
          </a:prstGeom>
        </p:spPr>
      </p:pic>
      <p:pic>
        <p:nvPicPr>
          <p:cNvPr id="7" name="圖片 6" descr="image.png">
            <a:extLst>
              <a:ext uri="{FF2B5EF4-FFF2-40B4-BE49-F238E27FC236}">
                <a16:creationId xmlns:a16="http://schemas.microsoft.com/office/drawing/2014/main" id="{0B7039FD-670F-26E3-4522-1E677C11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749" y="2311289"/>
            <a:ext cx="6898162" cy="335570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A322B03-03C3-8969-CC89-9C7836B2F10E}"/>
              </a:ext>
            </a:extLst>
          </p:cNvPr>
          <p:cNvSpPr txBox="1"/>
          <p:nvPr/>
        </p:nvSpPr>
        <p:spPr>
          <a:xfrm>
            <a:off x="5388189" y="2311289"/>
            <a:ext cx="6493282" cy="3367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i="0" u="none" strike="noStrike" baseline="0" dirty="0">
              <a:solidFill>
                <a:srgbClr val="ECF0F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b="1" i="0" u="none" strike="noStrike" baseline="0" dirty="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目標</a:t>
            </a:r>
            <a:r>
              <a:rPr lang="en-US" b="1" i="0" u="none" strike="noStrike" baseline="0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計算下一個組合  NUM_ORBITS=24    KA=12    KB=10</a:t>
            </a:r>
            <a:endParaRPr lang="en-US" altLang="zh-TW" b="1" dirty="0">
              <a:solidFill>
                <a:srgbClr val="ECF0F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​</a:t>
            </a:r>
            <a:r>
              <a:rPr lang="ja-JP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1:將所有orbit order = 3進行編號0~23</a:t>
            </a:r>
            <a:endParaRPr lang="en-US" b="1" i="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​</a:t>
            </a:r>
            <a: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   </a:t>
            </a:r>
            <a:r>
              <a:rPr lang="en-US" b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idx</a:t>
            </a:r>
            <a:r>
              <a:rPr 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[12] = </a:t>
            </a:r>
            <a:r>
              <a:rPr lang="ja-JP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存取被選取的編號(以A序列為例)</a:t>
            </a:r>
            <a:br>
              <a:rPr lang="en-US" b="0" i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2:</a:t>
            </a:r>
            <a:r>
              <a:rPr lang="ja-JP" altLang="en-US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逐步生成下一個組合</a:t>
            </a:r>
            <a:endParaRPr lang="en-US" altLang="zh-TW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ja-JP" altLang="en-US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第一組: { 0, 1, 2,…, 9, 10, </a:t>
            </a:r>
            <a:r>
              <a:rPr lang="en-US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​11}</a:t>
            </a:r>
          </a:p>
          <a:p>
            <a:pPr>
              <a:lnSpc>
                <a:spcPct val="150000"/>
              </a:lnSpc>
            </a:pPr>
            <a:r>
              <a:rPr lang="ja-JP" altLang="en-US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第二組: { </a:t>
            </a:r>
            <a:r>
              <a:rPr lang="ja-JP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0, 1, 2,…, 9, 10, </a:t>
            </a:r>
            <a:r>
              <a:rPr lang="en-US" altLang="ja-JP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12}</a:t>
            </a:r>
            <a:endParaRPr lang="en-US" b="1" dirty="0">
              <a:solidFill>
                <a:srgbClr val="ECF0F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ja-JP" altLang="en-US" b="1" dirty="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最後一組:{ 12, 13, 14, ... , 21, 22, 23} </a:t>
            </a:r>
            <a:endParaRPr lang="en-US" b="1" dirty="0">
              <a:solidFill>
                <a:srgbClr val="ECF0F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974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2ADF7-D288-B8A9-AAF5-805C3391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04FEFF3C-1440-8E59-A73E-B571F545847F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7959737" cy="11010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Unique PCP for L=74</a:t>
            </a:r>
            <a:r>
              <a:rPr lang="en-US" altLang="zh-TW">
                <a:latin typeface="Times New Roman"/>
                <a:ea typeface="微軟正黑體"/>
                <a:cs typeface="Times New Roman"/>
              </a:rPr>
              <a:t> </a:t>
            </a:r>
            <a:r>
              <a:rPr lang="en-US" altLang="zh-TW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(共</a:t>
            </a:r>
            <a:r>
              <a:rPr lang="en-US" altLang="zh-TW" dirty="0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793</a:t>
            </a:r>
            <a:r>
              <a:rPr lang="en-US" altLang="zh-TW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組)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B57EE51-8A68-BB70-F9E6-0B2074B49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547" y="1143000"/>
            <a:ext cx="9200029" cy="552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89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7D615743-18FC-67D0-88E1-D047CB3376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889" y="1621366"/>
                <a:ext cx="11936222" cy="361526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b="1"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Min PAPR: </a:t>
                </a:r>
                <a:r>
                  <a:rPr lang="en-US" altLang="zh-TW" b="1" dirty="0"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2.5419 </a:t>
                </a:r>
                <a:r>
                  <a:rPr lang="en-US" altLang="zh-TW" b="1"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(</a:t>
                </a:r>
                <a:r>
                  <a:rPr lang="en-US" altLang="zh-TW" b="1" dirty="0"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4.0516</a:t>
                </a:r>
                <a:r>
                  <a:rPr lang="zh-TW" b="1" dirty="0"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r>
                  <a:rPr lang="zh-TW" b="1"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dB</a:t>
                </a:r>
                <a:r>
                  <a:rPr lang="en-US" altLang="zh-TW" b="1"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)</a:t>
                </a:r>
                <a:r>
                  <a:rPr lang="zh-TW" b="1"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</a:t>
                </a:r>
                <a:endParaRPr lang="zh-TW" altLang="en-US" b="1">
                  <a:latin typeface="Times New Roman" panose="02020603050405020304" pitchFamily="18" charset="0"/>
                  <a:ea typeface="微軟正黑體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ClrTx/>
                  <a:buFont typeface="Arial" panose="05040102010807070707" pitchFamily="18" charset="2"/>
                  <a:buChar char="•"/>
                </a:pPr>
                <a:r>
                  <a:rPr lang="en-US" altLang="zh-TW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SEQ </a:t>
                </a:r>
                <a:r>
                  <a:rPr lang="zh-TW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A </a:t>
                </a:r>
                <a:r>
                  <a:rPr lang="zh-TW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(PAPR=</a:t>
                </a:r>
                <a:r>
                  <a:rPr lang="en-US" altLang="zh-TW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2.5419</a:t>
                </a:r>
                <a:r>
                  <a:rPr lang="zh-TW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)</a:t>
                </a:r>
                <a:r>
                  <a:rPr 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:</a:t>
                </a:r>
                <a:endParaRPr lang="zh-TW" dirty="0">
                  <a:solidFill>
                    <a:schemeClr val="bg1"/>
                  </a:solidFill>
                  <a:latin typeface="Times New Roman" panose="02020603050405020304" pitchFamily="18" charset="0"/>
                  <a:ea typeface="微軟正黑體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FFFFFF"/>
                  </a:buClr>
                  <a:buNone/>
                </a:pPr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   </a:t>
                </a:r>
                <a:r>
                  <a:rPr 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{</a:t>
                </a:r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lt"/>
                        <a:cs typeface="Times New Roman" panose="02020603050405020304" pitchFamily="18" charset="0"/>
                      </a:rPr>
                      <m:t>++−−−+−−−−−+++−+++++−++−++−+−+−++−−+++−+−−+−−−+++−++−−+−++−+−−−+++−−−−−−++</m:t>
                    </m:r>
                  </m:oMath>
                </a14:m>
                <a:r>
                  <a:rPr lang="zh-TW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}</a:t>
                </a:r>
                <a:endParaRPr lang="zh-TW">
                  <a:solidFill>
                    <a:schemeClr val="bg1"/>
                  </a:solidFill>
                  <a:latin typeface="Times New Roman" panose="02020603050405020304" pitchFamily="18" charset="0"/>
                  <a:ea typeface="微軟正黑體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ClrTx/>
                  <a:buFont typeface="Arial" panose="05040102010807070707" pitchFamily="18" charset="2"/>
                  <a:buChar char="•"/>
                </a:pPr>
                <a:r>
                  <a:rPr lang="en-US" altLang="zh-TW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SEQ </a:t>
                </a:r>
                <a:r>
                  <a:rPr lang="zh-TW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B (</a:t>
                </a:r>
                <a:r>
                  <a:rPr 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PAPR=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2.4539</a:t>
                </a:r>
                <a:r>
                  <a:rPr 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):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FFFFFF"/>
                  </a:buClr>
                  <a:buNone/>
                </a:pPr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    </a:t>
                </a:r>
                <a:r>
                  <a:rPr 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{</a:t>
                </a:r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lt"/>
                        <a:cs typeface="Times New Roman" panose="02020603050405020304" pitchFamily="18" charset="0"/>
                      </a:rPr>
                      <m:t>−+++−+−+−−++−++−−−+++++−++++−+−++++−−++−−++−+−−+−−+++−+−+−−−−−−+−++++−++++</m:t>
                    </m:r>
                  </m:oMath>
                </a14:m>
                <a:r>
                  <a:rPr lang="zh-TW">
                    <a:solidFill>
                      <a:schemeClr val="bg1"/>
                    </a:solidFill>
                    <a:latin typeface="Times New Roman" panose="02020603050405020304" pitchFamily="18" charset="0"/>
                    <a:ea typeface="+mn-lt"/>
                    <a:cs typeface="Times New Roman" panose="02020603050405020304" pitchFamily="18" charset="0"/>
                  </a:rPr>
                  <a:t>}</a:t>
                </a:r>
                <a:endParaRPr lang="zh-TW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FFFFFF"/>
                  </a:buClr>
                  <a:buFont typeface="Arial" panose="05040102010807070707" pitchFamily="18" charset="2"/>
                  <a:buChar char="•"/>
                </a:pPr>
                <a:endParaRPr lang="zh-TW" altLang="en-US">
                  <a:latin typeface="Times New Roman" panose="02020603050405020304" pitchFamily="18" charset="0"/>
                  <a:ea typeface="微軟正黑體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7D615743-18FC-67D0-88E1-D047CB3376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889" y="1621366"/>
                <a:ext cx="11936222" cy="3615267"/>
              </a:xfrm>
              <a:blipFill>
                <a:blip r:embed="rId3"/>
                <a:stretch>
                  <a:fillRect l="-511" t="-3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039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8242B-9D88-D008-0726-40F59FB5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BB5185-B76E-B3B6-C6C6-0B7C2B61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3" y="516294"/>
            <a:ext cx="3514564" cy="1101012"/>
          </a:xfrm>
        </p:spPr>
        <p:txBody>
          <a:bodyPr>
            <a:normAutofit fontScale="90000"/>
          </a:bodyPr>
          <a:lstStyle/>
          <a:p>
            <a:r>
              <a:rPr lang="en-US" altLang="zh-TW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Orbit(L=82)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4A8E52-AC73-F617-C898-1DE2E47AE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D0E0E-2BDE-6A77-7798-8802F2E93F0D}"/>
              </a:ext>
            </a:extLst>
          </p:cNvPr>
          <p:cNvSpPr txBox="1"/>
          <p:nvPr/>
        </p:nvSpPr>
        <p:spPr>
          <a:xfrm>
            <a:off x="368084" y="1065508"/>
            <a:ext cx="6096000" cy="1981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Total orbits</a:t>
            </a:r>
            <a:r>
              <a:rPr lang="en-US" sz="2100" i="0" u="none" strike="noStrike" baseline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 </a:t>
            </a:r>
            <a:r>
              <a:rPr lang="en-US" sz="2100" b="0" i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​</a:t>
            </a:r>
            <a:endParaRPr 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Trivial orbits: {0}, {41}  </a:t>
            </a:r>
            <a:r>
              <a:rPr lang="zh-TW" altLang="en-US" sz="210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共2個orbits</a:t>
            </a:r>
            <a:endParaRPr lang="en-US" sz="21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en-US" sz="210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Nontrivial orbits: below </a:t>
            </a:r>
            <a:r>
              <a:rPr lang="zh-TW" altLang="en-US" sz="210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共16個orbits</a:t>
            </a:r>
            <a:endParaRPr lang="en-US" sz="210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endParaRPr lang="en-US" sz="2100" b="0" i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2E56248-100B-8DB1-975F-4D6198FA5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27" y="2787487"/>
            <a:ext cx="2499986" cy="3901179"/>
          </a:xfrm>
          <a:prstGeom prst="rect">
            <a:avLst/>
          </a:prstGeom>
        </p:spPr>
      </p:pic>
      <p:pic>
        <p:nvPicPr>
          <p:cNvPr id="8" name="Picture 7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7299BB14-3863-777B-F7A0-21F085C8E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896" y="2782031"/>
            <a:ext cx="2684260" cy="121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67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A9D65-B6EE-6477-D345-48D323DA7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33D298-C92C-D9D6-A6BB-5A3B650A2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344" y="-525428"/>
            <a:ext cx="6376844" cy="1506126"/>
          </a:xfrm>
        </p:spPr>
        <p:txBody>
          <a:bodyPr>
            <a:normAutofit/>
          </a:bodyPr>
          <a:lstStyle/>
          <a:p>
            <a:r>
              <a:rPr lang="en-US" altLang="zh-TW" sz="40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Construction</a:t>
            </a:r>
            <a:r>
              <a:rPr lang="en-US" sz="440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(L=82)</a:t>
            </a:r>
            <a:endParaRPr lang="en-US" sz="4400">
              <a:solidFill>
                <a:schemeClr val="bg1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4F80FF2-5873-3666-415A-08D0EE20A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343" y="1173756"/>
            <a:ext cx="11147003" cy="5292357"/>
          </a:xfrm>
        </p:spPr>
        <p:txBody>
          <a:bodyPr>
            <a:normAutofit/>
          </a:bodyPr>
          <a:lstStyle/>
          <a:p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534D3-DE13-EACB-8C14-9BE674AE7285}"/>
              </a:ext>
            </a:extLst>
          </p:cNvPr>
          <p:cNvSpPr txBox="1"/>
          <p:nvPr/>
        </p:nvSpPr>
        <p:spPr>
          <a:xfrm>
            <a:off x="368084" y="1065508"/>
            <a:ext cx="10774101" cy="14965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TOTAL_A_COMBOS 11440</a:t>
            </a:r>
            <a:r>
              <a:rPr lang="en-US" sz="2100" b="1" i="0" u="none" strike="noStrike" baseline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sz="2100" b="0" i="0" u="none" strike="noStrike" baseline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2100" b="0" i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​</a:t>
            </a:r>
            <a:endParaRPr 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r>
              <a:rPr lang="zh-TW" altLang="en-US" sz="210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一次存5000個A序列的PACF，搜索全部的B序列，避免過多重複計算的PACF</a:t>
            </a:r>
          </a:p>
          <a:p>
            <a:pPr marL="342900" indent="-342900">
              <a:lnSpc>
                <a:spcPct val="150000"/>
              </a:lnSpc>
              <a:buFont typeface="Wingdings,Sans-Serif"/>
              <a:buChar char="Ø"/>
            </a:pPr>
            <a:endParaRPr lang="zh-TW" altLang="en-US" sz="210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BB58204A-5DA5-C161-CC27-017C92F52F96}"/>
              </a:ext>
            </a:extLst>
          </p:cNvPr>
          <p:cNvGrpSpPr/>
          <p:nvPr/>
        </p:nvGrpSpPr>
        <p:grpSpPr>
          <a:xfrm>
            <a:off x="369296" y="3559860"/>
            <a:ext cx="6370623" cy="3088677"/>
            <a:chOff x="369296" y="3492341"/>
            <a:chExt cx="6370623" cy="3088677"/>
          </a:xfrm>
        </p:grpSpPr>
        <p:pic>
          <p:nvPicPr>
            <p:cNvPr id="5" name="圖片 4" descr="image.png">
              <a:extLst>
                <a:ext uri="{FF2B5EF4-FFF2-40B4-BE49-F238E27FC236}">
                  <a16:creationId xmlns:a16="http://schemas.microsoft.com/office/drawing/2014/main" id="{118A9AA9-A45F-FC9F-06E3-5BCB4B2D6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9296" y="3492341"/>
              <a:ext cx="6370623" cy="3088677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CE47281-B23F-9BEE-6FF3-AAC7A3E9E895}"/>
                </a:ext>
              </a:extLst>
            </p:cNvPr>
            <p:cNvSpPr txBox="1"/>
            <p:nvPr/>
          </p:nvSpPr>
          <p:spPr>
            <a:xfrm>
              <a:off x="511715" y="3888368"/>
              <a:ext cx="6096000" cy="249299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b="1" err="1">
                  <a:solidFill>
                    <a:srgbClr val="ECF0F1"/>
                  </a:solidFill>
                  <a:latin typeface="JetBrains Mono"/>
                  <a:ea typeface="JetBrains Mono"/>
                  <a:cs typeface="JetBrains Mono"/>
                </a:rPr>
                <a:t>目標：A</a:t>
              </a:r>
              <a:r>
                <a:rPr lang="zh-TW" altLang="en-US" sz="1600" b="1">
                  <a:solidFill>
                    <a:srgbClr val="ECF0F1"/>
                  </a:solidFill>
                  <a:latin typeface="JetBrains Mono"/>
                  <a:ea typeface="JetBrains Mono"/>
                  <a:cs typeface="JetBrains Mono"/>
                </a:rPr>
                <a:t>有45個-1、B有36個-1</a:t>
              </a:r>
              <a:endParaRPr lang="en-US" sz="1600">
                <a:solidFill>
                  <a:srgbClr val="ECF0F1"/>
                </a:solidFill>
                <a:latin typeface="JetBrains Mono"/>
                <a:ea typeface="微軟正黑體"/>
                <a:cs typeface="JetBrains Mono"/>
              </a:endParaRPr>
            </a:p>
            <a:p>
              <a:br>
                <a:rPr lang="en-US" sz="1400"/>
              </a:br>
              <a:r>
                <a:rPr lang="en-US" sz="1600" b="1">
                  <a:solidFill>
                    <a:srgbClr val="ECF0F1"/>
                  </a:solidFill>
                  <a:latin typeface="Times New Roman"/>
                  <a:cs typeface="Times New Roman"/>
                </a:rPr>
                <a:t>A</a:t>
              </a:r>
              <a:r>
                <a:rPr lang="en-US" sz="1600" b="1">
                  <a:solidFill>
                    <a:srgbClr val="ECF0F1"/>
                  </a:solidFill>
                  <a:latin typeface="JetBrains Mono"/>
                  <a:ea typeface="JetBrains Mono"/>
                  <a:cs typeface="JetBrains Mono"/>
                </a:rPr>
                <a:t> (orbit order = 5)：</a:t>
              </a:r>
              <a:r>
                <a:rPr lang="zh-TW" altLang="en-US" sz="1600" b="1">
                  <a:solidFill>
                    <a:srgbClr val="ECF0F1"/>
                  </a:solidFill>
                  <a:latin typeface="JetBrains Mono"/>
                  <a:ea typeface="JetBrains Mono"/>
                  <a:cs typeface="JetBrains Mono"/>
                </a:rPr>
                <a:t>總共選取9個 5's element orbits</a:t>
              </a:r>
              <a:endParaRPr lang="en-US" altLang="zh-TW" sz="1600">
                <a:solidFill>
                  <a:srgbClr val="ECF0F1"/>
                </a:solidFill>
                <a:latin typeface="JetBrains Mono"/>
                <a:ea typeface="微軟正黑體"/>
                <a:cs typeface="JetBrains Mono"/>
              </a:endParaRPr>
            </a:p>
            <a:p>
              <a:r>
                <a:rPr lang="en-US" sz="1600">
                  <a:latin typeface="JetBrains Mono"/>
                  <a:cs typeface="Times New Roman"/>
                </a:rPr>
                <a:t>A</a:t>
              </a:r>
              <a:r>
                <a:rPr lang="zh-TW" altLang="en-US" sz="1600" b="1">
                  <a:latin typeface="JetBrains Mono"/>
                  <a:ea typeface="微軟正黑體"/>
                  <a:cs typeface="Times New Roman"/>
                </a:rPr>
                <a:t>序列組合數共C16取9個 = 11440</a:t>
              </a:r>
              <a:br>
                <a:rPr lang="en-US" sz="1600" b="1">
                  <a:latin typeface="JetBrains Mono"/>
                </a:rPr>
              </a:br>
              <a:endParaRPr lang="en-US" sz="1400">
                <a:solidFill>
                  <a:srgbClr val="ECF0F1"/>
                </a:solidFill>
                <a:latin typeface="JetBrains Mono"/>
                <a:ea typeface="微軟正黑體"/>
                <a:cs typeface="JetBrains Mono"/>
              </a:endParaRPr>
            </a:p>
            <a:p>
              <a:br>
                <a:rPr lang="en-US" sz="1400"/>
              </a:br>
              <a:r>
                <a:rPr lang="en-US" altLang="zh-TW" sz="1600" b="1">
                  <a:solidFill>
                    <a:srgbClr val="ECF0F1"/>
                  </a:solidFill>
                  <a:latin typeface="Times New Roman"/>
                  <a:ea typeface="+mn-lt"/>
                  <a:cs typeface="+mn-lt"/>
                </a:rPr>
                <a:t>B </a:t>
              </a:r>
              <a:r>
                <a:rPr lang="en-US" sz="1600" b="1">
                  <a:solidFill>
                    <a:srgbClr val="ECF0F1"/>
                  </a:solidFill>
                  <a:latin typeface="Times New Roman"/>
                  <a:ea typeface="+mn-lt"/>
                  <a:cs typeface="+mn-lt"/>
                </a:rPr>
                <a:t>(orbit order = 5)</a:t>
              </a:r>
              <a:r>
                <a:rPr lang="en-US" sz="1600" b="1">
                  <a:solidFill>
                    <a:srgbClr val="ECF0F1"/>
                  </a:solidFill>
                  <a:latin typeface="Times New Roman"/>
                  <a:ea typeface="微軟正黑體"/>
                  <a:cs typeface="Times New Roman"/>
                </a:rPr>
                <a:t>：</a:t>
              </a:r>
              <a:r>
                <a:rPr lang="zh-TW" altLang="en-US" sz="1600" b="1">
                  <a:solidFill>
                    <a:srgbClr val="ECF0F1"/>
                  </a:solidFill>
                  <a:ea typeface="+mn-lt"/>
                  <a:cs typeface="+mn-lt"/>
                </a:rPr>
                <a:t>選取7個 5's</a:t>
              </a:r>
              <a:r>
                <a:rPr lang="en-US" altLang="zh-TW" sz="1600" b="1">
                  <a:solidFill>
                    <a:srgbClr val="ECF0F1"/>
                  </a:solidFill>
                  <a:ea typeface="+mn-lt"/>
                  <a:cs typeface="+mn-lt"/>
                </a:rPr>
                <a:t> elements</a:t>
              </a:r>
              <a:r>
                <a:rPr lang="zh-TW" altLang="en-US" sz="1600" b="1">
                  <a:solidFill>
                    <a:srgbClr val="ECF0F1"/>
                  </a:solidFill>
                  <a:ea typeface="+mn-lt"/>
                  <a:cs typeface="+mn-lt"/>
                </a:rPr>
                <a:t> </a:t>
              </a:r>
              <a:r>
                <a:rPr lang="en-US" altLang="zh-TW" sz="1600" b="1">
                  <a:solidFill>
                    <a:srgbClr val="ECF0F1"/>
                  </a:solidFill>
                  <a:ea typeface="+mn-lt"/>
                  <a:cs typeface="+mn-lt"/>
                </a:rPr>
                <a:t>orbits + 1 nontrivial</a:t>
              </a:r>
              <a:br>
                <a:rPr lang="en-US" sz="1600">
                  <a:latin typeface="Times New Roman"/>
                </a:rPr>
              </a:br>
              <a:r>
                <a:rPr lang="zh-TW" altLang="en-US" sz="1600" b="1">
                  <a:solidFill>
                    <a:srgbClr val="FFFFFF"/>
                  </a:solidFill>
                  <a:ea typeface="+mn-lt"/>
                  <a:cs typeface="+mn-lt"/>
                </a:rPr>
                <a:t>B序列組合數共</a:t>
              </a:r>
              <a:r>
                <a:rPr lang="en-US" altLang="zh-TW" sz="1600" b="1">
                  <a:solidFill>
                    <a:srgbClr val="FFFFFF"/>
                  </a:solidFill>
                  <a:ea typeface="+mn-lt"/>
                  <a:cs typeface="+mn-lt"/>
                </a:rPr>
                <a:t>C(16,7</a:t>
              </a:r>
              <a:r>
                <a:rPr lang="zh-TW" altLang="en-US" sz="1600" b="1">
                  <a:solidFill>
                    <a:srgbClr val="FFFFFF"/>
                  </a:solidFill>
                  <a:ea typeface="+mn-lt"/>
                  <a:cs typeface="+mn-lt"/>
                </a:rPr>
                <a:t>)*C(2,1) = 22880</a:t>
              </a:r>
              <a:br>
                <a:rPr lang="zh-TW" altLang="en-US" sz="1600" b="1">
                  <a:ea typeface="+mn-lt"/>
                  <a:cs typeface="+mn-lt"/>
                </a:rPr>
              </a:br>
              <a:endParaRPr lang="en-US" sz="1600">
                <a:solidFill>
                  <a:srgbClr val="000000"/>
                </a:solidFill>
                <a:ea typeface="+mn-lt"/>
                <a:cs typeface="+mn-lt"/>
              </a:endParaRPr>
            </a:p>
            <a:p>
              <a:pPr algn="ctr"/>
              <a:endParaRPr lang="zh-TW" altLang="en-US"/>
            </a:p>
          </p:txBody>
        </p:sp>
      </p:grp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41E29-136B-DF38-41DB-E332E42E1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927163"/>
              </p:ext>
            </p:extLst>
          </p:nvPr>
        </p:nvGraphicFramePr>
        <p:xfrm>
          <a:off x="7327726" y="2233808"/>
          <a:ext cx="4264515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21505">
                  <a:extLst>
                    <a:ext uri="{9D8B030D-6E8A-4147-A177-3AD203B41FA5}">
                      <a16:colId xmlns:a16="http://schemas.microsoft.com/office/drawing/2014/main" val="2630632971"/>
                    </a:ext>
                  </a:extLst>
                </a:gridCol>
                <a:gridCol w="1421505">
                  <a:extLst>
                    <a:ext uri="{9D8B030D-6E8A-4147-A177-3AD203B41FA5}">
                      <a16:colId xmlns:a16="http://schemas.microsoft.com/office/drawing/2014/main" val="3745024081"/>
                    </a:ext>
                  </a:extLst>
                </a:gridCol>
                <a:gridCol w="1421505">
                  <a:extLst>
                    <a:ext uri="{9D8B030D-6E8A-4147-A177-3AD203B41FA5}">
                      <a16:colId xmlns:a16="http://schemas.microsoft.com/office/drawing/2014/main" val="1507056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# of 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# of 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0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latin typeface="Noto Sans TC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576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>
                          <a:latin typeface="Noto Sans TC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51510"/>
                  </a:ext>
                </a:extLst>
              </a:tr>
            </a:tbl>
          </a:graphicData>
        </a:graphic>
      </p:graphicFrame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727FB6D-D877-B610-C060-FFF8C4AA3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31" y="2234983"/>
            <a:ext cx="6766821" cy="11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217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2B18A365-58DB-01B6-569F-A2C0EA7CCB0E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7396066" cy="11010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Unique PCP for L=82</a:t>
            </a:r>
            <a:r>
              <a:rPr lang="en-US" altLang="zh-TW">
                <a:latin typeface="Times New Roman"/>
                <a:ea typeface="微軟正黑體"/>
                <a:cs typeface="Times New Roman"/>
              </a:rPr>
              <a:t> </a:t>
            </a:r>
            <a:r>
              <a:rPr lang="en-US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(</a:t>
            </a:r>
            <a:r>
              <a:rPr lang="zh-TW" altLang="en-US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共</a:t>
            </a:r>
            <a:r>
              <a:rPr lang="en-US" altLang="zh-TW" dirty="0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85</a:t>
            </a:r>
            <a:r>
              <a:rPr lang="zh-TW" altLang="en-US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組</a:t>
            </a:r>
            <a:r>
              <a:rPr lang="en-US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)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0FC5A06-2A9D-CEAB-16C6-54D5108C3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877" y="1147483"/>
            <a:ext cx="9173135" cy="55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22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810A-D920-78EC-5161-046EB5128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2FE1D1C-D86C-456C-F6D5-179A7821AA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1117" y="1621366"/>
                <a:ext cx="11789766" cy="361526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Min PAPR: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3.0201 </a:t>
                </a:r>
                <a:r>
                  <a:rPr lang="zh-TW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r>
                  <a:rPr lang="en-US" altLang="en-US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(4.8002</a:t>
                </a:r>
                <a:r>
                  <a:rPr 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dB)</a:t>
                </a:r>
                <a:endParaRPr lang="zh-TW" altLang="en-US" sz="22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ClrTx/>
                  <a:buFont typeface="Arial" panose="05040102010807070707" pitchFamily="18" charset="2"/>
                  <a:buChar char="•"/>
                </a:pPr>
                <a:r>
                  <a:rPr lang="en-US" alt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SEQ </a:t>
                </a:r>
                <a:r>
                  <a:rPr 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 </a:t>
                </a:r>
                <a:r>
                  <a:rPr lang="zh-TW" sz="2200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(PAPR=</a:t>
                </a:r>
                <a:r>
                  <a:rPr lang="zh-TW" altLang="en-US" sz="2200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3.0201</a:t>
                </a:r>
                <a:r>
                  <a:rPr lang="zh-TW" sz="2200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endParaRPr lang="zh-TW" altLang="en-US" sz="22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FFFFFF"/>
                  </a:buClr>
                  <a:buNone/>
                </a:pPr>
                <a:r>
                  <a:rPr lang="zh-TW" altLang="en-US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 </a:t>
                </a:r>
                <a:r>
                  <a:rPr 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{</a:t>
                </a:r>
                <a:r>
                  <a:rPr lang="zh-TW" altLang="en-US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+−−−+−−−−−++−−−++−+−−−−+−+−+−−++−+−+−−−−++++++−−+−−−−++−−−−−−+−++++−−++−++−+−+++−+</m:t>
                    </m:r>
                  </m:oMath>
                </a14:m>
                <a:r>
                  <a:rPr 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}</a:t>
                </a:r>
              </a:p>
              <a:p>
                <a:pPr marL="342900" indent="-342900">
                  <a:lnSpc>
                    <a:spcPct val="150000"/>
                  </a:lnSpc>
                  <a:buClrTx/>
                  <a:buFont typeface="Arial" panose="05040102010807070707" pitchFamily="18" charset="2"/>
                  <a:buChar char="•"/>
                </a:pPr>
                <a:r>
                  <a:rPr lang="en-US" alt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SEQ </a:t>
                </a:r>
                <a:r>
                  <a:rPr 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 (PAPR=</a:t>
                </a:r>
                <a:r>
                  <a:rPr lang="zh-TW" altLang="en-US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2.8949</a:t>
                </a:r>
                <a:r>
                  <a:rPr 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): </a:t>
                </a:r>
                <a:endParaRPr lang="zh-TW" altLang="en-US" sz="22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FFFFFF"/>
                  </a:buClr>
                  <a:buNone/>
                </a:pPr>
                <a:r>
                  <a:rPr lang="zh-TW" altLang="en-US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</a:t>
                </a:r>
                <a:r>
                  <a:rPr 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{</a:t>
                </a:r>
                <a:r>
                  <a:rPr lang="zh-TW" altLang="en-US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 </a:t>
                </a:r>
                <a14:m>
                  <m:oMath xmlns:m="http://schemas.openxmlformats.org/officeDocument/2006/math">
                    <m:r>
                      <a:rPr lang="en-US" altLang="zh-TW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++−++−−++−−+−+−+−−−−−−++++−+−+++−−−+−+−−+−−−+++−+−++−++−++−+−−+++++−+++++−−++−−+++</m:t>
                    </m:r>
                  </m:oMath>
                </a14:m>
                <a:r>
                  <a:rPr lang="zh-TW" sz="2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}</a:t>
                </a:r>
              </a:p>
              <a:p>
                <a:pPr>
                  <a:lnSpc>
                    <a:spcPct val="150000"/>
                  </a:lnSpc>
                  <a:buClr>
                    <a:srgbClr val="FFFFFF"/>
                  </a:buClr>
                  <a:buFont typeface="Arial" panose="05040102010807070707" pitchFamily="18" charset="2"/>
                  <a:buChar char="•"/>
                </a:pP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2FE1D1C-D86C-456C-F6D5-179A7821AA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117" y="1621366"/>
                <a:ext cx="11789766" cy="3615267"/>
              </a:xfrm>
              <a:blipFill>
                <a:blip r:embed="rId2"/>
                <a:stretch>
                  <a:fillRect l="-569" t="-3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426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B2B3-8F71-AF4C-8568-D21B8A3B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3CEC7C0-9585-EEEC-D4AC-A91C51266184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8268478" cy="11278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序列壓縮法</a:t>
            </a:r>
            <a:r>
              <a:rPr 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>
                <a:solidFill>
                  <a:schemeClr val="bg2">
                    <a:lumMod val="76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(Ex. L=90)</a:t>
            </a:r>
            <a:b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B09E390-713C-D790-D414-9901E2B9260F}"/>
              </a:ext>
            </a:extLst>
          </p:cNvPr>
          <p:cNvSpPr txBox="1"/>
          <p:nvPr/>
        </p:nvSpPr>
        <p:spPr>
          <a:xfrm>
            <a:off x="237067" y="1662289"/>
            <a:ext cx="8963377" cy="42437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>
                <a:solidFill>
                  <a:srgbClr val="1A527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為何不使用</a:t>
            </a:r>
            <a:r>
              <a:rPr lang="en-US" sz="2200" b="1" dirty="0">
                <a:solidFill>
                  <a:srgbClr val="1A527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SDS</a:t>
            </a:r>
            <a:r>
              <a:rPr lang="zh-TW" altLang="en-US" sz="2200" b="1" dirty="0">
                <a:solidFill>
                  <a:srgbClr val="1A527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建構</a:t>
            </a:r>
            <a:r>
              <a:rPr lang="en-US" sz="2200" b="1" dirty="0">
                <a:solidFill>
                  <a:srgbClr val="1A527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SDS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利用循環群結構進行代數構造，通常依賴特定的存在性定理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對於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Ｌ=90 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這種長度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尚未找到有效的代數構造公式，</a:t>
            </a:r>
            <a:r>
              <a:rPr 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理論推導遇瓶頸。</a:t>
            </a:r>
            <a:endParaRPr lang="zh-TW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sz="20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200" b="1" dirty="0">
                <a:solidFill>
                  <a:schemeClr val="accent5">
                    <a:lumMod val="76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序列壓縮搜尋法 </a:t>
            </a:r>
            <a:r>
              <a:rPr lang="en-US" altLang="zh-TW" sz="2200" b="1" dirty="0">
                <a:solidFill>
                  <a:schemeClr val="accent5">
                    <a:lumMod val="76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200" b="1" dirty="0">
                <a:solidFill>
                  <a:schemeClr val="accent5">
                    <a:lumMod val="76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本研究採用</a:t>
            </a:r>
            <a:r>
              <a:rPr lang="en-US" altLang="zh-TW" sz="2200" b="1" dirty="0">
                <a:solidFill>
                  <a:schemeClr val="accent5">
                    <a:lumMod val="76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sz="2200" dirty="0">
              <a:solidFill>
                <a:schemeClr val="accent5">
                  <a:lumMod val="76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原理：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將長序列摺疊成短序列，搜尋短序列後再還原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優勢：L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=90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擁有豐富的因數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(2, 3, 5)。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這非常適合</a:t>
            </a: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多層級壓縮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，能將大問題拆解為多個小問題</a:t>
            </a:r>
            <a:endParaRPr 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889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image.png">
            <a:extLst>
              <a:ext uri="{FF2B5EF4-FFF2-40B4-BE49-F238E27FC236}">
                <a16:creationId xmlns:a16="http://schemas.microsoft.com/office/drawing/2014/main" id="{407111A2-C973-50D3-C480-E47A80DA9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613" y="1250068"/>
            <a:ext cx="5591175" cy="2625019"/>
          </a:xfrm>
          <a:prstGeom prst="rect">
            <a:avLst/>
          </a:prstGeom>
        </p:spPr>
      </p:pic>
      <p:pic>
        <p:nvPicPr>
          <p:cNvPr id="5" name="圖片 4" descr="image.png">
            <a:extLst>
              <a:ext uri="{FF2B5EF4-FFF2-40B4-BE49-F238E27FC236}">
                <a16:creationId xmlns:a16="http://schemas.microsoft.com/office/drawing/2014/main" id="{6A300419-1483-A4A8-6B65-756DE11CC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46" y="1247784"/>
            <a:ext cx="5764796" cy="26505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D7C1FFA-504B-81F6-1248-DA74C8BA2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2" y="541865"/>
            <a:ext cx="8534400" cy="626534"/>
          </a:xfrm>
        </p:spPr>
        <p:txBody>
          <a:bodyPr/>
          <a:lstStyle/>
          <a:p>
            <a:r>
              <a:rPr lang="zh-TW" sz="3200" b="1">
                <a:solidFill>
                  <a:srgbClr val="2C3E5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壓縮與有序生成</a:t>
            </a:r>
            <a:endParaRPr lang="zh-TW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A0E15B-4BF6-6209-077E-EB717AF2D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2" y="1425223"/>
            <a:ext cx="8534400" cy="3615267"/>
          </a:xfrm>
        </p:spPr>
        <p:txBody>
          <a:bodyPr/>
          <a:lstStyle/>
          <a:p>
            <a:pPr marL="0" indent="0">
              <a:buNone/>
            </a:pPr>
            <a:endParaRPr lang="zh-TW" altLang="en-US"/>
          </a:p>
          <a:p>
            <a:pPr marL="0" indent="0">
              <a:buNone/>
            </a:pPr>
            <a:endParaRPr lang="en-US" altLang="zh-TW" b="1">
              <a:solidFill>
                <a:srgbClr val="2980B9"/>
              </a:solidFill>
              <a:latin typeface="Century Gothic"/>
              <a:ea typeface="微軟正黑體"/>
              <a:cs typeface="Arial"/>
            </a:endParaRPr>
          </a:p>
          <a:p>
            <a:pPr marL="0" indent="0">
              <a:buNone/>
            </a:pPr>
            <a:endParaRPr lang="en-US" altLang="zh-TW" b="1">
              <a:solidFill>
                <a:srgbClr val="2980B9"/>
              </a:solidFill>
              <a:latin typeface="Century Gothic"/>
              <a:ea typeface="微軟正黑體"/>
              <a:cs typeface="Arial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274D7F1-8A73-727B-7DDA-DDDF8C47CF32}"/>
              </a:ext>
            </a:extLst>
          </p:cNvPr>
          <p:cNvSpPr txBox="1"/>
          <p:nvPr/>
        </p:nvSpPr>
        <p:spPr>
          <a:xfrm>
            <a:off x="575733" y="1487311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2980B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序列壓縮</a:t>
            </a:r>
            <a:r>
              <a:rPr lang="en-US" sz="2400" b="1">
                <a:solidFill>
                  <a:srgbClr val="2980B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(Sequence Compression)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738A5C8-A550-54C2-B583-CDE0315B73CC}"/>
                  </a:ext>
                </a:extLst>
              </p:cNvPr>
              <p:cNvSpPr txBox="1"/>
              <p:nvPr/>
            </p:nvSpPr>
            <p:spPr>
              <a:xfrm>
                <a:off x="575733" y="2153356"/>
                <a:ext cx="6096000" cy="16794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err="1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將長度</a:t>
                </a:r>
                <a:r>
                  <a:rPr lang="en-US" sz="1600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sz="1600" err="1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L的序列壓縮為長度</a:t>
                </a:r>
                <a:r>
                  <a:rPr lang="en-US" sz="1600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sz="1600" b="1" i="1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</a:t>
                </a:r>
                <a:r>
                  <a:rPr lang="en-US" sz="1600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sz="1600" err="1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的短序列（</a:t>
                </a:r>
                <a14:m>
                  <m:oMath xmlns:m="http://schemas.openxmlformats.org/officeDocument/2006/math">
                    <m:r>
                      <a:rPr lang="zh-TW" altLang="en-US" sz="1600" b="0" i="1" dirty="0" smtClean="0">
                        <a:solidFill>
                          <a:srgbClr val="34495E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sz="1600" b="0" i="1" dirty="0" err="1">
                        <a:solidFill>
                          <a:srgbClr val="34495E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i="1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600" i="1" dirty="0" smtClean="0">
                            <a:solidFill>
                              <a:srgbClr val="34495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600" b="0" i="1" dirty="0" smtClean="0">
                            <a:solidFill>
                              <a:srgbClr val="34495E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zh-TW" altLang="en-US" sz="1600" b="0" i="1" dirty="0" smtClean="0">
                            <a:solidFill>
                              <a:srgbClr val="34495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1600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</a:t>
                </a:r>
                <a:endParaRPr lang="zh-TW" sz="160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sz="16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優點</a:t>
                </a:r>
                <a:r>
                  <a:rPr lang="zh-TW" sz="1600" b="1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sz="1600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大幅縮減搜尋長度，將問題簡化。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sz="16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代價</a:t>
                </a:r>
                <a:r>
                  <a:rPr lang="zh-TW" sz="1600" b="1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sz="1600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壓縮後的序列元素不再只是 +1/-1，而是整數的和。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sz="1600" b="1">
                    <a:solidFill>
                      <a:schemeClr val="bg2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策略</a:t>
                </a:r>
                <a:r>
                  <a:rPr lang="zh-TW" sz="1600" b="1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sz="1600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先搜尋短的壓縮序列，再「解壓縮」回原長度</a:t>
                </a:r>
                <a:r>
                  <a:rPr lang="zh-TW" sz="1500">
                    <a:solidFill>
                      <a:srgbClr val="34495E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zh-TW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738A5C8-A550-54C2-B583-CDE0315B7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33" y="2153356"/>
                <a:ext cx="6096000" cy="1679499"/>
              </a:xfrm>
              <a:prstGeom prst="rect">
                <a:avLst/>
              </a:prstGeom>
              <a:blipFill>
                <a:blip r:embed="rId4"/>
                <a:stretch>
                  <a:fillRect l="-500" b="-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B256B87D-256A-A0FE-A2C5-2EE430478B67}"/>
              </a:ext>
            </a:extLst>
          </p:cNvPr>
          <p:cNvSpPr txBox="1"/>
          <p:nvPr/>
        </p:nvSpPr>
        <p:spPr>
          <a:xfrm>
            <a:off x="6671733" y="1487962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2980B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有序生成</a:t>
            </a:r>
            <a:r>
              <a:rPr lang="en-US" sz="2400" b="1">
                <a:solidFill>
                  <a:srgbClr val="2980B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(Orderly Generation)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EA6917-F05F-7F20-773A-14A6ED11B856}"/>
              </a:ext>
            </a:extLst>
          </p:cNvPr>
          <p:cNvSpPr txBox="1"/>
          <p:nvPr/>
        </p:nvSpPr>
        <p:spPr>
          <a:xfrm>
            <a:off x="6423378" y="2164645"/>
            <a:ext cx="6096000" cy="26308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一種「無同構」的生成演算法</a:t>
            </a:r>
            <a:r>
              <a:rPr lang="en-US" sz="16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1600" b="1" err="1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原理</a:t>
            </a:r>
            <a:r>
              <a:rPr lang="en-US" altLang="zh-TW" sz="1600" b="1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6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在生成過程中，僅保留「字典序最小」的代表序列</a:t>
            </a:r>
            <a:r>
              <a:rPr lang="en-US" altLang="zh-TW" sz="16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1600" b="1" err="1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效果</a:t>
            </a:r>
            <a:r>
              <a:rPr lang="en-US" altLang="zh-TW" sz="1600" b="1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6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直接剔除旋轉、反轉等對稱變體，避免重複計算</a:t>
            </a:r>
            <a:r>
              <a:rPr lang="en-US" altLang="zh-TW" sz="16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16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這對於</a:t>
            </a:r>
            <a:r>
              <a:rPr lang="en-US" altLang="zh-TW" sz="16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L=90 </a:t>
            </a:r>
            <a:r>
              <a:rPr lang="en-US" altLang="zh-TW" sz="16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的巨大空間是必要的剪枝手段</a:t>
            </a:r>
            <a:r>
              <a:rPr lang="en-US" altLang="zh-TW" sz="16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1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1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TW" altLang="en-US" sz="1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 descr="image.png">
            <a:extLst>
              <a:ext uri="{FF2B5EF4-FFF2-40B4-BE49-F238E27FC236}">
                <a16:creationId xmlns:a16="http://schemas.microsoft.com/office/drawing/2014/main" id="{8EA6C3E9-C811-5AF8-732D-909374E0E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83" y="1572330"/>
            <a:ext cx="167923" cy="236362"/>
          </a:xfrm>
          <a:prstGeom prst="rect">
            <a:avLst/>
          </a:prstGeom>
        </p:spPr>
      </p:pic>
      <p:pic>
        <p:nvPicPr>
          <p:cNvPr id="14" name="圖片 13" descr="image.png">
            <a:extLst>
              <a:ext uri="{FF2B5EF4-FFF2-40B4-BE49-F238E27FC236}">
                <a16:creationId xmlns:a16="http://schemas.microsoft.com/office/drawing/2014/main" id="{F494CE78-797A-BF3B-7C7A-96F61D1D8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528" y="1589915"/>
            <a:ext cx="190500" cy="24765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AFFE4633-58B0-F233-0AEC-CC945FC6FC75}"/>
              </a:ext>
            </a:extLst>
          </p:cNvPr>
          <p:cNvSpPr txBox="1"/>
          <p:nvPr/>
        </p:nvSpPr>
        <p:spPr>
          <a:xfrm>
            <a:off x="327378" y="4196645"/>
            <a:ext cx="3292474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err="1">
                <a:solidFill>
                  <a:schemeClr val="accent1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解壓縮是如何運作的</a:t>
            </a:r>
            <a:r>
              <a:rPr lang="en-US" sz="1950" b="1">
                <a:solidFill>
                  <a:schemeClr val="accent1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？</a:t>
            </a:r>
          </a:p>
          <a:p>
            <a:r>
              <a:rPr lang="en-US" sz="1950" b="1">
                <a:solidFill>
                  <a:schemeClr val="accent1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(</a:t>
            </a:r>
            <a:r>
              <a:rPr lang="en-US" sz="1950" b="1" err="1">
                <a:solidFill>
                  <a:schemeClr val="accent1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範例</a:t>
            </a:r>
            <a:r>
              <a:rPr lang="en-US" sz="1950" b="1">
                <a:solidFill>
                  <a:schemeClr val="accent1">
                    <a:lumMod val="60000"/>
                    <a:lumOff val="4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/>
              </a:rPr>
              <a:t>)</a:t>
            </a:r>
            <a:endParaRPr lang="en-US" altLang="zh-TW">
              <a:solidFill>
                <a:schemeClr val="accent1">
                  <a:lumMod val="60000"/>
                  <a:lumOff val="4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7" name="圖片 16" descr="image.png">
            <a:extLst>
              <a:ext uri="{FF2B5EF4-FFF2-40B4-BE49-F238E27FC236}">
                <a16:creationId xmlns:a16="http://schemas.microsoft.com/office/drawing/2014/main" id="{743BF1CB-7BBE-D0F6-A54F-8D79EDB7C8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852" y="3998775"/>
            <a:ext cx="6370623" cy="2828247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FBFA7F1D-499E-B8FC-96B2-0E12740DBB9A}"/>
              </a:ext>
            </a:extLst>
          </p:cNvPr>
          <p:cNvSpPr txBox="1"/>
          <p:nvPr/>
        </p:nvSpPr>
        <p:spPr>
          <a:xfrm>
            <a:off x="3714044" y="3999333"/>
            <a:ext cx="609600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假設：</a:t>
            </a:r>
            <a:r>
              <a:rPr lang="en-US" sz="140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我們有一個長度為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2 </a:t>
            </a:r>
            <a:r>
              <a:rPr lang="en-US" sz="140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的壓縮序列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400">
                <a:solidFill>
                  <a:srgbClr val="F1C40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[2, 0]</a:t>
            </a:r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400" b="1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目標：</a:t>
            </a:r>
            <a:r>
              <a:rPr lang="en-US" sz="140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解壓縮為長度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4 (</a:t>
            </a:r>
            <a:r>
              <a:rPr lang="en-US" sz="140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壓縮因子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m=2)</a:t>
            </a:r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400" b="1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步驟</a:t>
            </a:r>
            <a:r>
              <a:rPr lang="en-US" sz="1400" b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 (</a:t>
            </a:r>
            <a:r>
              <a:rPr lang="en-US" sz="1400" b="1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解析數值</a:t>
            </a:r>
            <a:r>
              <a:rPr lang="en-US" sz="1400" b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2)：</a:t>
            </a:r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400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// </a:t>
            </a:r>
            <a:r>
              <a:rPr lang="en-US" sz="1400" err="1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數值</a:t>
            </a:r>
            <a:r>
              <a:rPr lang="en-US" sz="1400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2 </a:t>
            </a:r>
            <a:r>
              <a:rPr lang="en-US" sz="1400" err="1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來自兩個位置的和</a:t>
            </a:r>
            <a:r>
              <a:rPr lang="en-US" sz="1400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(pos 0 + pos 2) </a:t>
            </a:r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40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可能組合：只有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400" b="1">
                <a:solidFill>
                  <a:srgbClr val="E74C3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+ 1 = 2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40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一種可能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sz="140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確定原序列第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1, 3 </a:t>
            </a:r>
            <a:r>
              <a:rPr lang="en-US" sz="1400" err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位為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+1)</a:t>
            </a:r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1400" b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步驟</a:t>
            </a:r>
            <a:r>
              <a:rPr lang="en-US" sz="1400" b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2 (</a:t>
            </a:r>
            <a:r>
              <a:rPr lang="zh-TW" altLang="en-US" sz="1400" b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解析數值</a:t>
            </a:r>
            <a:r>
              <a:rPr lang="en-US" sz="1400" b="1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0)：</a:t>
            </a:r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400" i="1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sz="1400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 </a:t>
            </a:r>
            <a:r>
              <a:rPr lang="zh-TW" altLang="en-US" sz="1400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數值</a:t>
            </a:r>
            <a:r>
              <a:rPr lang="en-US" altLang="zh-TW" sz="1400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 </a:t>
            </a:r>
            <a:r>
              <a:rPr lang="zh-TW" altLang="en-US" sz="1400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來自兩個位置的和</a:t>
            </a:r>
            <a:r>
              <a:rPr lang="en-US" altLang="zh-TW" sz="1400">
                <a:solidFill>
                  <a:srgbClr val="95A5A6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(pos 1 + pos 3) </a:t>
            </a:r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可能組合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sz="1400" b="1">
                <a:solidFill>
                  <a:srgbClr val="E74C3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+ (-1)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400" b="1">
                <a:solidFill>
                  <a:srgbClr val="E74C3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(-1) + 1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產生分支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這就是為什麼解壓縮需要搜尋</a:t>
            </a:r>
            <a:r>
              <a:rPr lang="en-US" sz="1400">
                <a:solidFill>
                  <a:srgbClr val="ECF0F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483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0700-7C24-DD70-5339-BD2D9C67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image.png">
            <a:extLst>
              <a:ext uri="{FF2B5EF4-FFF2-40B4-BE49-F238E27FC236}">
                <a16:creationId xmlns:a16="http://schemas.microsoft.com/office/drawing/2014/main" id="{58874D3E-06F6-BAB7-D44E-C45AAF674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57" y="2536293"/>
            <a:ext cx="6412092" cy="3811768"/>
          </a:xfrm>
          <a:prstGeom prst="rect">
            <a:avLst/>
          </a:prstGeom>
        </p:spPr>
      </p:pic>
      <p:pic>
        <p:nvPicPr>
          <p:cNvPr id="4" name="圖片 3" descr="image.png">
            <a:extLst>
              <a:ext uri="{FF2B5EF4-FFF2-40B4-BE49-F238E27FC236}">
                <a16:creationId xmlns:a16="http://schemas.microsoft.com/office/drawing/2014/main" id="{DEB571E2-526D-7090-D52E-68D376951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17" y="421219"/>
            <a:ext cx="11135078" cy="1934633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7F2FBCD6-EA5B-71BD-D0B7-89CBA02962F8}"/>
              </a:ext>
            </a:extLst>
          </p:cNvPr>
          <p:cNvSpPr txBox="1">
            <a:spLocks/>
          </p:cNvSpPr>
          <p:nvPr/>
        </p:nvSpPr>
        <p:spPr>
          <a:xfrm>
            <a:off x="236343" y="-302150"/>
            <a:ext cx="8268478" cy="11278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F4B05B6-11F4-2EE7-0130-A8C4C29BF818}"/>
              </a:ext>
            </a:extLst>
          </p:cNvPr>
          <p:cNvSpPr txBox="1"/>
          <p:nvPr/>
        </p:nvSpPr>
        <p:spPr>
          <a:xfrm>
            <a:off x="705558" y="-451989"/>
            <a:ext cx="10803464" cy="44283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b="1" dirty="0">
                <a:solidFill>
                  <a:srgbClr val="C0392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現象描述</a:t>
            </a:r>
            <a:endParaRPr 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我們在較小長度（如</a:t>
            </a:r>
            <a:r>
              <a:rPr 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L=34, 50</a:t>
            </a:r>
            <a:r>
              <a:rPr lang="zh-TW" alt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）的窮盡搜尋中發現了一個模式</a:t>
            </a:r>
            <a:r>
              <a:rPr 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許多有效的PCP對，在經過高度壓縮後（例如壓縮到極短長度），其壓縮序列的</a:t>
            </a:r>
            <a:r>
              <a:rPr lang="zh-TW" altLang="en-US" sz="1600" b="1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週期性自相關函數</a:t>
            </a:r>
            <a:r>
              <a:rPr lang="en-US" sz="1600" b="1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(PAF)</a:t>
            </a:r>
            <a:r>
              <a:rPr lang="en-US" altLang="zh-TW" sz="1600" b="1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b="1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值全部為零，</a:t>
            </a:r>
            <a:r>
              <a:rPr lang="zh-TW" alt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通常這意味著壓縮後的序列由大量的</a:t>
            </a:r>
            <a:r>
              <a:rPr 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組成</a:t>
            </a:r>
            <a:endParaRPr 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啟發式策略：</a:t>
            </a:r>
            <a:r>
              <a:rPr lang="en-US" altLang="zh-TW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與其搜尋所有可能的壓縮序列，不如直接鎖定那些「具有全零</a:t>
            </a:r>
            <a:r>
              <a:rPr 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PAF</a:t>
            </a:r>
            <a:r>
              <a:rPr lang="en-US" altLang="zh-TW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特性」的稀疏序列作為起點（種子）</a:t>
            </a:r>
            <a:endParaRPr lang="en-US" sz="1600" dirty="0">
              <a:solidFill>
                <a:schemeClr val="bg2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b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 descr="image.png">
            <a:extLst>
              <a:ext uri="{FF2B5EF4-FFF2-40B4-BE49-F238E27FC236}">
                <a16:creationId xmlns:a16="http://schemas.microsoft.com/office/drawing/2014/main" id="{EC7C400B-3536-73A9-E477-50E94C86C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47" y="570861"/>
            <a:ext cx="175331" cy="19473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0046A19-635B-4159-5244-3076B8D9108B}"/>
              </a:ext>
            </a:extLst>
          </p:cNvPr>
          <p:cNvSpPr txBox="1"/>
          <p:nvPr/>
        </p:nvSpPr>
        <p:spPr>
          <a:xfrm>
            <a:off x="682978" y="2439486"/>
            <a:ext cx="5559560" cy="15660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err="1">
                <a:solidFill>
                  <a:srgbClr val="2980B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實際應用：L</a:t>
            </a:r>
            <a:r>
              <a:rPr lang="en-US" b="1">
                <a:solidFill>
                  <a:srgbClr val="2980B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=90 </a:t>
            </a:r>
            <a:r>
              <a:rPr lang="en-US" b="1" err="1">
                <a:solidFill>
                  <a:srgbClr val="2980B9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的多層級路徑</a:t>
            </a:r>
            <a:br>
              <a:rPr lang="en-US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4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利用定理：</a:t>
            </a:r>
            <a:r>
              <a:rPr lang="en-US" sz="1400" b="1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sz="14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-壓縮的</a:t>
            </a:r>
            <a:r>
              <a:rPr lang="en-US" sz="14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400" b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sz="14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sz="14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壓縮等同於</a:t>
            </a:r>
            <a:r>
              <a:rPr lang="en-US" sz="14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1400" b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</a:t>
            </a:r>
            <a:r>
              <a:rPr lang="en-US" sz="14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sz="1400" err="1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壓縮</a:t>
            </a:r>
            <a:r>
              <a:rPr lang="en-US" sz="14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4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且</a:t>
            </a:r>
            <a:r>
              <a:rPr lang="zh-TW" altLang="en-US" sz="15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直接從長度</a:t>
            </a:r>
            <a:r>
              <a:rPr lang="en-US" sz="15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5 </a:t>
            </a:r>
            <a:r>
              <a:rPr lang="zh-TW" altLang="en-US" sz="15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解壓縮到</a:t>
            </a:r>
            <a:r>
              <a:rPr lang="en-US" sz="15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90 </a:t>
            </a:r>
            <a:r>
              <a:rPr lang="zh-TW" altLang="en-US" sz="15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是不可能的，</a:t>
            </a:r>
            <a:r>
              <a:rPr lang="zh-TW" altLang="en-US" sz="14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我們採取分步驟</a:t>
            </a:r>
            <a:r>
              <a:rPr lang="en-US" sz="140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zh-TW" altLang="en-US" sz="1500">
              <a:solidFill>
                <a:srgbClr val="34495E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4" name="圖片 13" descr="image.png">
            <a:extLst>
              <a:ext uri="{FF2B5EF4-FFF2-40B4-BE49-F238E27FC236}">
                <a16:creationId xmlns:a16="http://schemas.microsoft.com/office/drawing/2014/main" id="{484CC50B-BC67-0AFA-4359-24709989B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73" y="3708400"/>
            <a:ext cx="114300" cy="152400"/>
          </a:xfrm>
          <a:prstGeom prst="rect">
            <a:avLst/>
          </a:prstGeom>
        </p:spPr>
      </p:pic>
      <p:pic>
        <p:nvPicPr>
          <p:cNvPr id="15" name="圖片 14" descr="image.png">
            <a:extLst>
              <a:ext uri="{FF2B5EF4-FFF2-40B4-BE49-F238E27FC236}">
                <a16:creationId xmlns:a16="http://schemas.microsoft.com/office/drawing/2014/main" id="{5FDFDAA5-35F1-A9CA-9E7B-0D214A8C3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094" y="5057423"/>
            <a:ext cx="114300" cy="152400"/>
          </a:xfrm>
          <a:prstGeom prst="rect">
            <a:avLst/>
          </a:prstGeom>
        </p:spPr>
      </p:pic>
      <p:pic>
        <p:nvPicPr>
          <p:cNvPr id="16" name="圖片 15" descr="image.png">
            <a:extLst>
              <a:ext uri="{FF2B5EF4-FFF2-40B4-BE49-F238E27FC236}">
                <a16:creationId xmlns:a16="http://schemas.microsoft.com/office/drawing/2014/main" id="{8456B3E0-47A7-5512-D3EA-979484446C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587727" y="5740400"/>
            <a:ext cx="105834" cy="158044"/>
          </a:xfrm>
          <a:prstGeom prst="rect">
            <a:avLst/>
          </a:prstGeom>
        </p:spPr>
      </p:pic>
      <p:pic>
        <p:nvPicPr>
          <p:cNvPr id="17" name="圖片 16" descr="image.png">
            <a:extLst>
              <a:ext uri="{FF2B5EF4-FFF2-40B4-BE49-F238E27FC236}">
                <a16:creationId xmlns:a16="http://schemas.microsoft.com/office/drawing/2014/main" id="{9BDCED2A-AC4C-BB0E-B371-B0A4D36CCA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094" y="4397023"/>
            <a:ext cx="114300" cy="1524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1747C7F-7C1B-46A9-3370-32F610DFEB35}"/>
              </a:ext>
            </a:extLst>
          </p:cNvPr>
          <p:cNvSpPr txBox="1"/>
          <p:nvPr/>
        </p:nvSpPr>
        <p:spPr>
          <a:xfrm>
            <a:off x="797277" y="5618908"/>
            <a:ext cx="4897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最終目標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en-US" altLang="zh-TW" sz="14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90)</a:t>
            </a:r>
          </a:p>
          <a:p>
            <a:r>
              <a:rPr lang="en-US" altLang="zh-TW" sz="14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解壓縮因子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0948EC-2516-86EE-9C60-517F1C610FBE}"/>
              </a:ext>
            </a:extLst>
          </p:cNvPr>
          <p:cNvSpPr txBox="1"/>
          <p:nvPr/>
        </p:nvSpPr>
        <p:spPr>
          <a:xfrm>
            <a:off x="797277" y="3586350"/>
            <a:ext cx="555955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初始種子</a:t>
            </a:r>
            <a:r>
              <a:rPr lang="en-US" altLang="zh-TW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en-US" altLang="zh-TW" sz="1400" dirty="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</a:t>
            </a:r>
            <a:r>
              <a:rPr lang="en-US" altLang="zh-TW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5) </a:t>
            </a:r>
            <a:r>
              <a:rPr lang="zh-TW" altLang="en-US" sz="14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使用種子</a:t>
            </a:r>
            <a:r>
              <a:rPr lang="en-US" altLang="zh-TW" sz="14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[0,0,0,0,6] </a:t>
            </a:r>
            <a:r>
              <a:rPr lang="zh-TW" altLang="en-US" sz="14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solidFill>
                  <a:schemeClr val="bg2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[0,0,0,0,12]</a:t>
            </a:r>
            <a:r>
              <a:rPr lang="en-US" altLang="zh-TW" sz="14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TW" sz="1400" dirty="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壓縮因子</a:t>
            </a:r>
            <a:r>
              <a:rPr lang="en-US" altLang="zh-TW" sz="1400" dirty="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18</a:t>
            </a:r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BFEE1E-CAAD-77BB-6375-8D426B8C4F18}"/>
              </a:ext>
            </a:extLst>
          </p:cNvPr>
          <p:cNvSpPr txBox="1"/>
          <p:nvPr/>
        </p:nvSpPr>
        <p:spPr>
          <a:xfrm>
            <a:off x="797277" y="4284441"/>
            <a:ext cx="4536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階段</a:t>
            </a:r>
            <a:r>
              <a:rPr lang="en-US" altLang="zh-TW" sz="1400" b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 </a:t>
            </a:r>
            <a:r>
              <a:rPr lang="en-US" altLang="zh-TW" sz="1400" b="1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en-US" altLang="zh-TW" sz="14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15)     </a:t>
            </a:r>
          </a:p>
          <a:p>
            <a:r>
              <a:rPr lang="en-US" altLang="zh-TW" sz="14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解壓縮因子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3</a:t>
            </a:r>
          </a:p>
          <a:p>
            <a:endParaRPr lang="zh-TW" altLang="en-US" sz="1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EE3B890-46FE-7F59-838D-7261F4490DBE}"/>
              </a:ext>
            </a:extLst>
          </p:cNvPr>
          <p:cNvSpPr txBox="1"/>
          <p:nvPr/>
        </p:nvSpPr>
        <p:spPr>
          <a:xfrm>
            <a:off x="797277" y="4946919"/>
            <a:ext cx="18293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階段</a:t>
            </a:r>
            <a:r>
              <a:rPr lang="en-US" altLang="zh-TW" sz="1400" b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2 </a:t>
            </a:r>
            <a:r>
              <a:rPr lang="en-US" altLang="zh-TW" sz="1400" b="1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en-US" altLang="zh-TW" sz="14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45)</a:t>
            </a:r>
          </a:p>
          <a:p>
            <a:r>
              <a:rPr lang="en-US" altLang="zh-TW" sz="14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解壓縮因子</a:t>
            </a:r>
            <a:r>
              <a:rPr lang="en-US" altLang="zh-TW" sz="14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3</a:t>
            </a:r>
            <a:br>
              <a:rPr lang="en-US" altLang="zh-TW" sz="1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1400">
              <a:solidFill>
                <a:schemeClr val="bg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894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B99A-AA6F-E517-E918-8F719B08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image.png">
            <a:extLst>
              <a:ext uri="{FF2B5EF4-FFF2-40B4-BE49-F238E27FC236}">
                <a16:creationId xmlns:a16="http://schemas.microsoft.com/office/drawing/2014/main" id="{6B9A8653-CD90-5561-E8C9-C08E016C8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4" y="180245"/>
            <a:ext cx="11135078" cy="1934633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20BC5849-0F45-9F94-1760-97FA37C8D402}"/>
              </a:ext>
            </a:extLst>
          </p:cNvPr>
          <p:cNvSpPr txBox="1">
            <a:spLocks/>
          </p:cNvSpPr>
          <p:nvPr/>
        </p:nvSpPr>
        <p:spPr>
          <a:xfrm>
            <a:off x="236343" y="-302150"/>
            <a:ext cx="8268478" cy="11278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769FD2B-6807-F36D-5015-C9C7D71BBA0A}"/>
              </a:ext>
            </a:extLst>
          </p:cNvPr>
          <p:cNvSpPr txBox="1"/>
          <p:nvPr/>
        </p:nvSpPr>
        <p:spPr>
          <a:xfrm>
            <a:off x="689946" y="-299903"/>
            <a:ext cx="1080346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altLang="zh-TW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sz="1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600" b="1">
                <a:solidFill>
                  <a:srgbClr val="C0392B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 = 90多層級壓縮&amp;解壓縮實例</a:t>
            </a:r>
            <a:endParaRPr lang="en-US" altLang="zh-TW" sz="1600">
              <a:solidFill>
                <a:schemeClr val="bg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br>
              <a:rPr lang="en-US" altLang="zh-TW" sz="160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sz="160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br>
              <a:rPr lang="en-US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sz="1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zh-TW" altLang="en-US" sz="1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 descr="image.png">
            <a:extLst>
              <a:ext uri="{FF2B5EF4-FFF2-40B4-BE49-F238E27FC236}">
                <a16:creationId xmlns:a16="http://schemas.microsoft.com/office/drawing/2014/main" id="{CCE196E6-A046-1247-6702-3961117EE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91" y="258427"/>
            <a:ext cx="175331" cy="19473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2B04246-39B2-17FE-E71C-BF41B776A948}"/>
              </a:ext>
            </a:extLst>
          </p:cNvPr>
          <p:cNvSpPr txBox="1"/>
          <p:nvPr/>
        </p:nvSpPr>
        <p:spPr>
          <a:xfrm>
            <a:off x="689592" y="574956"/>
            <a:ext cx="5226755" cy="15260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初始種子</a:t>
            </a:r>
            <a:r>
              <a:rPr lang="en-US" sz="16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 (</a:t>
            </a:r>
            <a:r>
              <a:rPr lang="en-US" sz="16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長度</a:t>
            </a:r>
            <a:r>
              <a:rPr lang="en-US" sz="16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 5) </a:t>
            </a:r>
            <a:r>
              <a:rPr lang="zh-TW" altLang="en-US" sz="1600">
                <a:solidFill>
                  <a:schemeClr val="bg2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lang="en-US" sz="1600">
                <a:solidFill>
                  <a:schemeClr val="bg2"/>
                </a:solidFill>
                <a:latin typeface="Times New Roman"/>
                <a:ea typeface="標楷體"/>
                <a:cs typeface="Times New Roman"/>
              </a:rPr>
              <a:t> [0,0,0,0,6] </a:t>
            </a:r>
            <a:r>
              <a:rPr lang="zh-TW" altLang="en-US" sz="1600">
                <a:solidFill>
                  <a:schemeClr val="bg2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lang="en-US" sz="1600">
                <a:solidFill>
                  <a:schemeClr val="bg2"/>
                </a:solidFill>
                <a:latin typeface="Times New Roman"/>
                <a:ea typeface="標楷體"/>
                <a:cs typeface="Times New Roman"/>
              </a:rPr>
              <a:t> [0,0,0,0,12]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標楷體"/>
                <a:cs typeface="Times New Roman"/>
              </a:rPr>
              <a:t>。</a:t>
            </a:r>
            <a:br>
              <a:rPr lang="en-US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6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壓縮因子</a:t>
            </a:r>
            <a:r>
              <a:rPr lang="en-US" sz="16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 18</a:t>
            </a:r>
            <a:endParaRPr lang="en-US" altLang="zh-TW" sz="1600">
              <a:solidFill>
                <a:schemeClr val="bg1">
                  <a:lumMod val="65000"/>
                  <a:lumOff val="35000"/>
                </a:schemeClr>
              </a:solidFill>
              <a:latin typeface="Times New Roman"/>
              <a:ea typeface="標楷體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b="1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階段</a:t>
            </a:r>
            <a:r>
              <a:rPr lang="en-US" sz="1600" b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 1 </a:t>
            </a:r>
            <a:r>
              <a:rPr lang="en-US" sz="1600" b="1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解壓</a:t>
            </a:r>
            <a:r>
              <a:rPr lang="en-US" sz="16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 (</a:t>
            </a:r>
            <a:r>
              <a:rPr lang="en-US" sz="16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長度</a:t>
            </a:r>
            <a:r>
              <a:rPr lang="en-US" sz="16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 15)</a:t>
            </a:r>
            <a:br>
              <a:rPr lang="en-US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sz="1600" err="1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解壓縮因子</a:t>
            </a:r>
            <a:r>
              <a:rPr lang="en-US" sz="1600">
                <a:solidFill>
                  <a:schemeClr val="bg1">
                    <a:lumMod val="65000"/>
                    <a:lumOff val="35000"/>
                  </a:schemeClr>
                </a:solidFill>
                <a:latin typeface="Times New Roman"/>
                <a:ea typeface="標楷體"/>
                <a:cs typeface="Times New Roman"/>
              </a:rPr>
              <a:t> 3</a:t>
            </a:r>
            <a:endParaRPr lang="en-US" altLang="zh-TW" sz="1600">
              <a:solidFill>
                <a:schemeClr val="bg1">
                  <a:lumMod val="65000"/>
                  <a:lumOff val="35000"/>
                </a:schemeClr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0858E10-577F-87FC-4326-7C1D028BA7BD}"/>
              </a:ext>
            </a:extLst>
          </p:cNvPr>
          <p:cNvSpPr txBox="1"/>
          <p:nvPr/>
        </p:nvSpPr>
        <p:spPr>
          <a:xfrm>
            <a:off x="689592" y="2116388"/>
            <a:ext cx="4508339" cy="41927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Let sequence x = { 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0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, 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, 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, 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3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,…,x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89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compress: d=18, L=5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a = [a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0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, a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, a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, a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3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, a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4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0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 = 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0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5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10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+…+x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85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= 0</a:t>
            </a:r>
            <a:endParaRPr lang="zh-TW" sz="2000" dirty="0">
              <a:solidFill>
                <a:schemeClr val="bg1"/>
              </a:solidFill>
              <a:latin typeface="Times New Roman"/>
              <a:ea typeface="標楷體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 = 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6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11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+…+x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86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= 0</a:t>
            </a:r>
            <a:endParaRPr lang="zh-TW" altLang="en-US" sz="2000" dirty="0">
              <a:solidFill>
                <a:schemeClr val="bg1"/>
              </a:solidFill>
              <a:latin typeface="Times New Roman"/>
              <a:ea typeface="標楷體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= x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7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</a:t>
            </a:r>
            <a:r>
              <a:rPr 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+…+x</a:t>
            </a:r>
            <a:r>
              <a:rPr 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8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7</a:t>
            </a: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=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0</a:t>
            </a:r>
            <a:endParaRPr lang="zh-TW" sz="2000" dirty="0">
              <a:solidFill>
                <a:schemeClr val="bg1"/>
              </a:solidFill>
              <a:latin typeface="Times New Roman"/>
              <a:ea typeface="標楷體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3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= x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3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8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</a:t>
            </a:r>
            <a:r>
              <a:rPr 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3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+…+x</a:t>
            </a:r>
            <a:r>
              <a:rPr 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8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8</a:t>
            </a: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=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0</a:t>
            </a:r>
            <a:endParaRPr lang="zh-TW" sz="2000" dirty="0">
              <a:solidFill>
                <a:schemeClr val="bg1"/>
              </a:solidFill>
              <a:latin typeface="Times New Roman"/>
              <a:ea typeface="標楷體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4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= 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4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+x9+x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14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+…+x</a:t>
            </a:r>
            <a:r>
              <a:rPr lang="zh-TW" altLang="en-US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89</a:t>
            </a:r>
            <a:r>
              <a:rPr lang="zh-TW" altLang="en-US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= </a:t>
            </a: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6</a:t>
            </a:r>
            <a:endParaRPr lang="zh-TW" altLang="en-US" sz="2000" dirty="0">
              <a:solidFill>
                <a:schemeClr val="bg1"/>
              </a:solidFill>
              <a:latin typeface="Times New Roman"/>
              <a:ea typeface="標楷體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0</a:t>
            </a: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~a</a:t>
            </a:r>
            <a:r>
              <a:rPr lang="en-US" altLang="zh-TW" sz="2000" baseline="-25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4</a:t>
            </a:r>
            <a:r>
              <a:rPr lang="en-US" altLang="zh-TW" sz="200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的可能值為-18~+18，共19種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FADF6E8-64D1-3E3E-FC01-5BE36A1E7B7B}"/>
                  </a:ext>
                </a:extLst>
              </p:cNvPr>
              <p:cNvSpPr txBox="1"/>
              <p:nvPr/>
            </p:nvSpPr>
            <p:spPr>
              <a:xfrm>
                <a:off x="5584095" y="2116388"/>
                <a:ext cx="4508339" cy="419198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decompress: d=6, L=15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 = [b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0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, 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, 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2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, 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3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,…,b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14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]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a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0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= 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0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+b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5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+b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10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= 0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a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= b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+b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6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+b</a:t>
                </a:r>
                <a:r>
                  <a:rPr lang="zh-TW" altLang="en-US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= 0</a:t>
                </a:r>
                <a:endParaRPr lang="zh-TW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2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2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7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</a:t>
                </a:r>
                <a:r>
                  <a:rPr 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=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0</a:t>
                </a:r>
                <a:endParaRPr 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a3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3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8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3 =</a:t>
                </a: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0</a:t>
                </a:r>
                <a:endParaRPr lang="zh-TW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a4 = b4+b9+b14 </a:t>
                </a:r>
                <a:r>
                  <a:rPr 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6</a:t>
                </a:r>
                <a:endParaRPr lang="zh-TW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b0~b14的可能值為-6~+6，共7種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b0~b14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/>
                        <a:cs typeface="Times New Roman"/>
                      </a:rPr>
                      <m:t>∈</m:t>
                    </m:r>
                  </m:oMath>
                </a14:m>
                <a:r>
                  <a:rPr lang="zh-TW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/>
                    <a:cs typeface="Times New Roman" panose="02020603050405020304" pitchFamily="18" charset="0"/>
                  </a:rPr>
                  <a:t>{-6, -4, -2, 0, 2, 4, 6}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FADF6E8-64D1-3E3E-FC01-5BE36A1E7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095" y="2116388"/>
                <a:ext cx="4508339" cy="4191981"/>
              </a:xfrm>
              <a:prstGeom prst="rect">
                <a:avLst/>
              </a:prstGeom>
              <a:blipFill>
                <a:blip r:embed="rId5"/>
                <a:stretch>
                  <a:fillRect l="-1351" b="-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AC354B-3EDD-27A5-7E58-04FC258B92C0}"/>
                  </a:ext>
                </a:extLst>
              </p:cNvPr>
              <p:cNvSpPr txBox="1"/>
              <p:nvPr/>
            </p:nvSpPr>
            <p:spPr>
              <a:xfrm>
                <a:off x="9450543" y="4552902"/>
                <a:ext cx="2743200" cy="230832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ja-JP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可能的</a:t>
                </a:r>
                <a14:m>
                  <m:oMath xmlns:m="http://schemas.openxmlformats.org/officeDocument/2006/math">
                    <m:r>
                      <a:rPr lang="ja-JP" alt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ja-JP" altLang="en-US" sz="12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ja-JP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ja-JP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ja-JP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組法:</a:t>
                </a:r>
                <a:endParaRPr lang="en-US" altLang="ja-JP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ja-JP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(6,0,0)</a:t>
                </a:r>
              </a:p>
              <a:p>
                <a:r>
                  <a:rPr lang="ja-JP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(2,2,2)</a:t>
                </a:r>
              </a:p>
              <a:p>
                <a:r>
                  <a:rPr lang="ja-JP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(2,4,0)</a:t>
                </a:r>
              </a:p>
              <a:p>
                <a:r>
                  <a:rPr 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4,4,-2</a:t>
                </a:r>
                <a:r>
                  <a:rPr 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6,4,-4</a:t>
                </a:r>
                <a:r>
                  <a:rPr 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6,6,-6</a:t>
                </a:r>
                <a:r>
                  <a:rPr 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6,2,-2</a:t>
                </a:r>
                <a:r>
                  <a:rPr 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AC354B-3EDD-27A5-7E58-04FC258B9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543" y="4552902"/>
                <a:ext cx="2743200" cy="2308324"/>
              </a:xfrm>
              <a:prstGeom prst="rect">
                <a:avLst/>
              </a:prstGeom>
              <a:blipFill>
                <a:blip r:embed="rId6"/>
                <a:stretch>
                  <a:fillRect l="-1778" t="-1583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0CD0AC-EF6F-36F4-07D8-6887BBFA1C62}"/>
                  </a:ext>
                </a:extLst>
              </p:cNvPr>
              <p:cNvSpPr txBox="1"/>
              <p:nvPr/>
            </p:nvSpPr>
            <p:spPr>
              <a:xfrm>
                <a:off x="9450103" y="2211104"/>
                <a:ext cx="2325077" cy="22365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 rtl="0">
                  <a:lnSpc>
                    <a:spcPts val="1575"/>
                  </a:lnSpc>
                </a:pPr>
                <a:r>
                  <a:rPr lang="ja-JP" altLang="en-US" sz="1800" b="0" i="0" u="none" strike="noStrike" baseline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可</a:t>
                </a:r>
                <a:r>
                  <a:rPr lang="ja-JP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能的</a:t>
                </a:r>
                <a14:m>
                  <m:oMath xmlns:m="http://schemas.openxmlformats.org/officeDocument/2006/math">
                    <m:r>
                      <a:rPr lang="en-US" altLang="ja-JP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ja-JP" sz="12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ja-JP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ja-JP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ja-JP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組法</a:t>
                </a:r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(0,0,0)</a:t>
                </a:r>
              </a:p>
              <a:p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(2,-2,0)</a:t>
                </a:r>
              </a:p>
              <a:p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(4,-4,0)</a:t>
                </a:r>
              </a:p>
              <a:p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(6,-6,0)</a:t>
                </a:r>
              </a:p>
              <a:p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(2,4,-6)</a:t>
                </a:r>
              </a:p>
              <a:p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(-2,-4,6)</a:t>
                </a:r>
              </a:p>
              <a:p>
                <a:r>
                  <a:rPr lang="en-US" altLang="ja-JP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(6,2,-2)</a:t>
                </a:r>
                <a:endParaRPr lang="ja-JP" altLang="en-US" dirty="0">
                  <a:solidFill>
                    <a:srgbClr val="FFFF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0CD0AC-EF6F-36F4-07D8-6887BBFA1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103" y="2211104"/>
                <a:ext cx="2325077" cy="2236510"/>
              </a:xfrm>
              <a:prstGeom prst="rect">
                <a:avLst/>
              </a:prstGeom>
              <a:blipFill>
                <a:blip r:embed="rId7"/>
                <a:stretch>
                  <a:fillRect l="-2094" t="-4632" b="-3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387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8EED4D14-9CC5-C21C-EBDA-7BC31C9FC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81887"/>
            <a:ext cx="5855447" cy="317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AAB8469-B17C-12CB-9CAA-0876D4417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4" y="3481887"/>
            <a:ext cx="5191125" cy="317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1E58BFC-2BC5-1AD1-0CAE-0DFD29DF5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1759606"/>
            <a:ext cx="8001000" cy="252486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TW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頻譜抽樣定理</a:t>
            </a:r>
            <a:b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這背後的數學原理是：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時域上的壓縮 </a:t>
            </a:r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疊加</a:t>
            </a:r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，等同於頻域上的抽樣 </a:t>
            </a:r>
            <a:r>
              <a:rPr lang="en-US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(Subsampling)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b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50D748C-FE5F-820A-6E2C-367EE4EDE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471291"/>
            <a:ext cx="7124047" cy="961398"/>
          </a:xfrm>
        </p:spPr>
        <p:txBody>
          <a:bodyPr>
            <a:normAutofit/>
          </a:bodyPr>
          <a:lstStyle/>
          <a:p>
            <a:r>
              <a:rPr lang="zh-TW" altLang="en-US" sz="3200" b="1"/>
              <a:t>檢查壓縮序列</a:t>
            </a:r>
            <a:endParaRPr lang="zh-TW" altLang="en-US" sz="32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4C5C81-BECA-08EC-AC55-1BF8C6D1A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87" y="2471653"/>
            <a:ext cx="51911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A9F99EC-0466-1E84-3252-F19AACF12B45}"/>
              </a:ext>
            </a:extLst>
          </p:cNvPr>
          <p:cNvSpPr txBox="1"/>
          <p:nvPr/>
        </p:nvSpPr>
        <p:spPr>
          <a:xfrm>
            <a:off x="893902" y="3165723"/>
            <a:ext cx="509998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zh-TW" altLang="en-US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altLang="zh-TW" sz="2000" b="1" i="0" u="none" strike="noStrike" dirty="0">
                <a:solidFill>
                  <a:srgbClr val="27AE6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 </a:t>
            </a:r>
            <a:r>
              <a:rPr lang="zh-TW" altLang="en-US" sz="2000" b="1" i="0" u="none" strike="noStrike" dirty="0">
                <a:solidFill>
                  <a:srgbClr val="27AE6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能量恆等式 </a:t>
            </a:r>
            <a:r>
              <a:rPr lang="en-US" altLang="zh-TW" sz="2000" b="1" i="0" u="none" strike="noStrike" dirty="0">
                <a:solidFill>
                  <a:srgbClr val="27AE6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(Equation)</a:t>
            </a: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zh-TW" altLang="en-US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zh-TW" altLang="en-US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b="1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由來 </a:t>
            </a:r>
            <a:r>
              <a:rPr lang="en-US" altLang="zh-TW" sz="1800" b="1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(Wiener-</a:t>
            </a:r>
            <a:r>
              <a:rPr lang="en-US" altLang="zh-TW" sz="1800" b="1" i="0" u="none" strike="noStrike" dirty="0" err="1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Khinchin</a:t>
            </a:r>
            <a:r>
              <a:rPr lang="en-US" altLang="zh-TW" sz="1800" b="1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b="1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定理</a:t>
            </a:r>
            <a:r>
              <a:rPr lang="en-US" altLang="zh-TW" sz="1800" b="1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800" b="1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br>
              <a:rPr lang="zh-TW" alt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PCP 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定義要求自相關函數 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(PAF) 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之和為 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（除了零點）。對 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PAF 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做傅立葉變換，時域的 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PAF 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變成頻域的 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PSD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PAF 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在頻域上會變成常數</a:t>
            </a:r>
            <a:r>
              <a:rPr lang="en-US" altLang="zh-TW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2L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zh-TW" altLang="en-US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83166B1-058A-C364-55A0-4E831FBEB44D}"/>
              </a:ext>
            </a:extLst>
          </p:cNvPr>
          <p:cNvSpPr txBox="1"/>
          <p:nvPr/>
        </p:nvSpPr>
        <p:spPr>
          <a:xfrm>
            <a:off x="6209088" y="3687901"/>
            <a:ext cx="610496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sz="2000" b="1" i="0" u="none" strike="noStrike" dirty="0">
                <a:solidFill>
                  <a:srgbClr val="27AE6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 </a:t>
            </a:r>
            <a:r>
              <a:rPr lang="zh-TW" altLang="en-US" sz="2000" b="1" i="0" u="none" strike="noStrike" dirty="0">
                <a:solidFill>
                  <a:srgbClr val="27AE6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能量上限 </a:t>
            </a:r>
            <a:r>
              <a:rPr lang="en-US" altLang="zh-TW" sz="2000" b="1" i="0" u="none" strike="noStrike" dirty="0">
                <a:solidFill>
                  <a:srgbClr val="27AE6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(Inequality) - </a:t>
            </a:r>
            <a:r>
              <a:rPr lang="zh-TW" altLang="en-US" sz="2000" b="1" i="0" u="none" strike="noStrike" dirty="0">
                <a:solidFill>
                  <a:srgbClr val="27AE6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最強篩子</a:t>
            </a: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zh-TW" altLang="en-US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b="1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證明：</a:t>
            </a:r>
            <a:br>
              <a:rPr lang="zh-TW" alt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因為 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PSD 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是絕對值的平方，必定大於等於 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。既然 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PSD(A)+PSD(B)=2L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。因為 </a:t>
            </a:r>
            <a:r>
              <a:rPr lang="en-US" altLang="zh-TW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PSD(A)</a:t>
            </a:r>
            <a:r>
              <a:rPr lang="zh-TW" altLang="en-US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PSD(B)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不可能是負</a:t>
            </a:r>
            <a:endParaRPr lang="en-US" altLang="zh-TW" sz="1800" b="0" i="0" u="none" strike="noStrike" dirty="0">
              <a:solidFill>
                <a:srgbClr val="34495E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的，所以 </a:t>
            </a:r>
            <a:r>
              <a:rPr lang="en-US" altLang="zh-TW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PSD(A)</a:t>
            </a:r>
            <a:r>
              <a:rPr lang="en-US" altLang="zh-TW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絕對不能超過 </a:t>
            </a:r>
            <a:r>
              <a:rPr lang="en-US" altLang="zh-TW" dirty="0">
                <a:solidFill>
                  <a:srgbClr val="34495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2L</a:t>
            </a:r>
            <a:r>
              <a:rPr lang="zh-TW" altLang="en-US" sz="1800" b="0" i="0" u="none" strike="noStrike" dirty="0">
                <a:solidFill>
                  <a:srgbClr val="34495E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8B88C0F-06B2-764C-6708-2F488D1E77A2}"/>
              </a:ext>
            </a:extLst>
          </p:cNvPr>
          <p:cNvSpPr txBox="1"/>
          <p:nvPr/>
        </p:nvSpPr>
        <p:spPr>
          <a:xfrm>
            <a:off x="6209088" y="2558449"/>
            <a:ext cx="461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可知道壓縮序列的</a:t>
            </a:r>
            <a:r>
              <a:rPr lang="en-US" altLang="zh-TW" dirty="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PSD</a:t>
            </a:r>
            <a:r>
              <a:rPr lang="zh-TW" altLang="en-US" dirty="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會符合</a:t>
            </a:r>
            <a:r>
              <a:rPr lang="en-US" altLang="zh-TW" dirty="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dirty="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狀態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43F0FE4-6664-45D8-0A23-DD3994B7B11C}"/>
              </a:ext>
            </a:extLst>
          </p:cNvPr>
          <p:cNvSpPr txBox="1"/>
          <p:nvPr/>
        </p:nvSpPr>
        <p:spPr>
          <a:xfrm>
            <a:off x="1728592" y="4441128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PSD(A,s)+PSD(B,s)=2L</a:t>
            </a:r>
            <a:endParaRPr lang="zh-TW" altLang="en-US" dirty="0">
              <a:solidFill>
                <a:schemeClr val="bg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A2F8502-2BE1-9925-DCE9-C99836A8C5E3}"/>
                  </a:ext>
                </a:extLst>
              </p:cNvPr>
              <p:cNvSpPr txBox="1"/>
              <p:nvPr/>
            </p:nvSpPr>
            <p:spPr>
              <a:xfrm>
                <a:off x="7979335" y="4403388"/>
                <a:ext cx="20887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PSD(A,s)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dirty="0" smtClean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2L</a:t>
                </a:r>
                <a:endParaRPr lang="zh-TW" altLang="en-US" dirty="0">
                  <a:solidFill>
                    <a:schemeClr val="bg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A2F8502-2BE1-9925-DCE9-C99836A8C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335" y="4403388"/>
                <a:ext cx="2088776" cy="369332"/>
              </a:xfrm>
              <a:prstGeom prst="rect">
                <a:avLst/>
              </a:prstGeom>
              <a:blipFill>
                <a:blip r:embed="rId4"/>
                <a:stretch>
                  <a:fillRect l="-262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677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7065C-15F1-DB4A-3059-54D13EE64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F5251FAA-6345-834C-62DD-3A9366065B05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7563080" cy="11010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Unique PCP for L=90</a:t>
            </a:r>
            <a:r>
              <a:rPr lang="en-US" altLang="zh-TW">
                <a:latin typeface="Times New Roman"/>
                <a:ea typeface="微軟正黑體"/>
                <a:cs typeface="Times New Roman"/>
              </a:rPr>
              <a:t> </a:t>
            </a:r>
            <a:r>
              <a:rPr lang="en-US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(</a:t>
            </a:r>
            <a:r>
              <a:rPr lang="zh-TW" altLang="en-US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共2組</a:t>
            </a:r>
            <a:r>
              <a:rPr lang="en-US">
                <a:solidFill>
                  <a:schemeClr val="bg2">
                    <a:lumMod val="76000"/>
                  </a:schemeClr>
                </a:solidFill>
                <a:latin typeface="Times New Roman"/>
                <a:ea typeface="微軟正黑體"/>
                <a:cs typeface="Times New Roman"/>
              </a:rPr>
              <a:t>) 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713CCDA-CC01-78CB-42DF-C5D7FC5A4F41}"/>
                  </a:ext>
                </a:extLst>
              </p:cNvPr>
              <p:cNvSpPr txBox="1"/>
              <p:nvPr/>
            </p:nvSpPr>
            <p:spPr>
              <a:xfrm>
                <a:off x="268658" y="1504036"/>
                <a:ext cx="11647118" cy="668811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Pair #1 P</a:t>
                </a:r>
                <a:r>
                  <a:rPr lang="en-US" altLang="zh-TW" sz="16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APR:</a:t>
                </a:r>
                <a:r>
                  <a:rPr lang="zh-TW" altLang="en-US" sz="16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solidFill>
                      <a:schemeClr val="bg2">
                        <a:lumMod val="75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5.0602</a:t>
                </a:r>
                <a:r>
                  <a:rPr lang="en-US" sz="16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(7.041 dB)</a:t>
                </a:r>
                <a:r>
                  <a:rPr lang="en-US" sz="1600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endParaRPr lang="zh-TW" altLang="en-US" sz="1600" dirty="0">
                  <a:solidFill>
                    <a:schemeClr val="bg2">
                      <a:lumMod val="76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SEQ A (PAPR=4.1498):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{−−−−++−+−+−−++−++−+−−+++++−+++−+++−−−++−+++−−++−−−−−++++−−+++−+−−++−−+−+++−−++−+−+−−++−+−−}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SEQ B (PAPR=5.0602):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−−−+−−++++++++−−−−+−−++−−−−++++++++−−++−+−+−++−+−++++−+−++−++++−−++++−+−+++−+−−−−−+−−+−+−+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}</a:t>
                </a:r>
                <a:endParaRPr lang="en-US" sz="1600" dirty="0">
                  <a:solidFill>
                    <a:schemeClr val="bg2">
                      <a:lumMod val="76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Pair #2  PAPR: </a:t>
                </a:r>
                <a:r>
                  <a:rPr lang="en-US" altLang="zh-TW" sz="1600" dirty="0">
                    <a:solidFill>
                      <a:schemeClr val="bg2">
                        <a:lumMod val="75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3.8064</a:t>
                </a:r>
                <a:r>
                  <a:rPr lang="en-US" sz="1600" b="1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(5.805 dB)</a:t>
                </a:r>
                <a:r>
                  <a:rPr lang="en-US" sz="1600" dirty="0">
                    <a:solidFill>
                      <a:schemeClr val="bg2">
                        <a:lumMod val="76000"/>
                      </a:schemeClr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SEQ A (PAPR=2.9374):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−−−−+++−++−−+−−+++++−−−−+−+−+++−++−+−−+−+−−−+++++++−+++−+−−−−−++−−+−−+−+−−−+++−++++−+−−+++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SEQ B (PAPR=3.8064):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−−−+−−−+−+−−−+++−−++−−+−+−+−−++++−+−−+−++++−+++−−−−+−+++−−++−+++++++++++−−++−+−++−++−−+−++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}</a:t>
                </a:r>
              </a:p>
              <a:p>
                <a:pPr>
                  <a:lnSpc>
                    <a:spcPct val="150000"/>
                  </a:lnSpc>
                </a:pPr>
                <a:endParaRPr lang="en-US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TW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TW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713CCDA-CC01-78CB-42DF-C5D7FC5A4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58" y="1504036"/>
                <a:ext cx="11647118" cy="6688113"/>
              </a:xfrm>
              <a:prstGeom prst="rect">
                <a:avLst/>
              </a:prstGeom>
              <a:blipFill>
                <a:blip r:embed="rId2"/>
                <a:stretch>
                  <a:fillRect l="-2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504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EBB8E21-C540-322E-2A11-88BE4E8A9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264510"/>
              </p:ext>
            </p:extLst>
          </p:nvPr>
        </p:nvGraphicFramePr>
        <p:xfrm>
          <a:off x="1970742" y="2241176"/>
          <a:ext cx="8250516" cy="230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629">
                  <a:extLst>
                    <a:ext uri="{9D8B030D-6E8A-4147-A177-3AD203B41FA5}">
                      <a16:colId xmlns:a16="http://schemas.microsoft.com/office/drawing/2014/main" val="2764594757"/>
                    </a:ext>
                  </a:extLst>
                </a:gridCol>
                <a:gridCol w="2062629">
                  <a:extLst>
                    <a:ext uri="{9D8B030D-6E8A-4147-A177-3AD203B41FA5}">
                      <a16:colId xmlns:a16="http://schemas.microsoft.com/office/drawing/2014/main" val="1125727421"/>
                    </a:ext>
                  </a:extLst>
                </a:gridCol>
                <a:gridCol w="2062629">
                  <a:extLst>
                    <a:ext uri="{9D8B030D-6E8A-4147-A177-3AD203B41FA5}">
                      <a16:colId xmlns:a16="http://schemas.microsoft.com/office/drawing/2014/main" val="1471385544"/>
                    </a:ext>
                  </a:extLst>
                </a:gridCol>
                <a:gridCol w="2062629">
                  <a:extLst>
                    <a:ext uri="{9D8B030D-6E8A-4147-A177-3AD203B41FA5}">
                      <a16:colId xmlns:a16="http://schemas.microsoft.com/office/drawing/2014/main" val="3509106015"/>
                    </a:ext>
                  </a:extLst>
                </a:gridCol>
              </a:tblGrid>
              <a:tr h="769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L=74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L=82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L=90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88294"/>
                  </a:ext>
                </a:extLst>
              </a:tr>
              <a:tr h="769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Pairs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049126"/>
                  </a:ext>
                </a:extLst>
              </a:tr>
              <a:tr h="769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PAPR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lt"/>
                          <a:cs typeface="Times New Roman" panose="02020603050405020304" pitchFamily="18" charset="0"/>
                        </a:rPr>
                        <a:t>2.5419 (4.0516</a:t>
                      </a:r>
                      <a:r>
                        <a:rPr lang="zh-TW" altLang="zh-TW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lt"/>
                          <a:cs typeface="Times New Roman" panose="02020603050405020304" pitchFamily="18" charset="0"/>
                        </a:rPr>
                        <a:t> dB</a:t>
                      </a:r>
                      <a:r>
                        <a:rPr lang="en-US" altLang="zh-TW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lt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zh-TW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+mn-lt"/>
                          <a:cs typeface="Times New Roman" panose="02020603050405020304" pitchFamily="18" charset="0"/>
                        </a:rPr>
                        <a:t>  </a:t>
                      </a:r>
                      <a:endParaRPr lang="zh-TW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3.0201 </a:t>
                      </a:r>
                      <a:r>
                        <a:rPr lang="zh-TW" altLang="en-US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en-US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(4.8002</a:t>
                      </a:r>
                      <a:r>
                        <a:rPr lang="zh-TW" altLang="zh-TW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dB)</a:t>
                      </a:r>
                      <a:endParaRPr lang="zh-TW" altLang="en-US" sz="18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3.8064</a:t>
                      </a:r>
                      <a:r>
                        <a:rPr lang="en-US" altLang="zh-TW" sz="18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(5.805 dB)</a:t>
                      </a:r>
                      <a:r>
                        <a:rPr lang="en-US" altLang="zh-TW" sz="18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36794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335FF10-FB92-1FD5-AF9A-5FC9A36BFF24}"/>
              </a:ext>
            </a:extLst>
          </p:cNvPr>
          <p:cNvSpPr txBox="1"/>
          <p:nvPr/>
        </p:nvSpPr>
        <p:spPr>
          <a:xfrm>
            <a:off x="667871" y="671464"/>
            <a:ext cx="610496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RESULT</a:t>
            </a:r>
            <a:endParaRPr lang="zh-TW" altLang="en-US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046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04BD-4366-5F7E-DBEA-A65E3738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695FAD04-9E02-5F03-CCDA-93745E08B9E5}"/>
              </a:ext>
            </a:extLst>
          </p:cNvPr>
          <p:cNvSpPr txBox="1">
            <a:spLocks/>
          </p:cNvSpPr>
          <p:nvPr/>
        </p:nvSpPr>
        <p:spPr>
          <a:xfrm>
            <a:off x="236343" y="516294"/>
            <a:ext cx="7563080" cy="11010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參考文獻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8ECCBE-9F5F-ACE7-85E3-94C73EA30175}"/>
              </a:ext>
            </a:extLst>
          </p:cNvPr>
          <p:cNvSpPr txBox="1"/>
          <p:nvPr/>
        </p:nvSpPr>
        <p:spPr>
          <a:xfrm>
            <a:off x="240083" y="1513561"/>
            <a:ext cx="11647118" cy="1421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D. Z. </a:t>
            </a:r>
            <a:r>
              <a:rPr lang="en-US" altLang="zh-TW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Dokovi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ˇ c and I. S. </a:t>
            </a:r>
            <a:r>
              <a:rPr lang="en-US" altLang="zh-TW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Kotsireas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“Some new periodic Golay pairs,” ´ </a:t>
            </a:r>
            <a:r>
              <a:rPr lang="en-US" altLang="zh-TW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Algorithms, vol. 69, no. 3, pp. 523–530, Sep. 2015. 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T. Lumsden, I. </a:t>
            </a:r>
            <a:r>
              <a:rPr lang="en-US" altLang="zh-TW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Kotsireas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C. Bright, “New results on periodic Golay pairs,” Math. </a:t>
            </a:r>
            <a:r>
              <a:rPr lang="en-US" altLang="zh-TW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Apr. 2025.</a:t>
            </a:r>
            <a:endParaRPr lang="zh-TW" sz="2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235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A337-F073-2D5C-546D-23E3485F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0570DB1-1241-DFEF-0A2E-CCE0733436F6}"/>
              </a:ext>
            </a:extLst>
          </p:cNvPr>
          <p:cNvSpPr txBox="1">
            <a:spLocks/>
          </p:cNvSpPr>
          <p:nvPr/>
        </p:nvSpPr>
        <p:spPr>
          <a:xfrm>
            <a:off x="2314460" y="2878494"/>
            <a:ext cx="7563080" cy="11010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zh-TW" sz="4500" dirty="0" err="1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eND</a:t>
            </a:r>
            <a:r>
              <a:rPr lang="en-US" altLang="zh-TW" dirty="0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 </a:t>
            </a:r>
            <a:endParaRPr lang="zh-TW" altLang="en-US" dirty="0"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9150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198</TotalTime>
  <Words>4312</Words>
  <Application>Microsoft Office PowerPoint</Application>
  <PresentationFormat>寬螢幕</PresentationFormat>
  <Paragraphs>379</Paragraphs>
  <Slides>38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52" baseType="lpstr">
      <vt:lpstr>JetBrains Mono</vt:lpstr>
      <vt:lpstr>Noto Sans TC</vt:lpstr>
      <vt:lpstr>Wingdings,Sans-Serif</vt:lpstr>
      <vt:lpstr>新細明體-ExtB</vt:lpstr>
      <vt:lpstr>標楷體</vt:lpstr>
      <vt:lpstr>Arial</vt:lpstr>
      <vt:lpstr>Calibri</vt:lpstr>
      <vt:lpstr>Cambria Math</vt:lpstr>
      <vt:lpstr>Century Gothic</vt:lpstr>
      <vt:lpstr>Times</vt:lpstr>
      <vt:lpstr>Times New Roman</vt:lpstr>
      <vt:lpstr>Wingdings</vt:lpstr>
      <vt:lpstr>Wingdings 3</vt:lpstr>
      <vt:lpstr>Slice</vt:lpstr>
      <vt:lpstr>通訊序列設計 期中 project</vt:lpstr>
      <vt:lpstr>Table of contents</vt:lpstr>
      <vt:lpstr>PowerPoint 簡報</vt:lpstr>
      <vt:lpstr>PowerPoint 簡報</vt:lpstr>
      <vt:lpstr>PowerPoint 簡報</vt:lpstr>
      <vt:lpstr>PowerPoint 簡報</vt:lpstr>
      <vt:lpstr>PowerPoint 簡報</vt:lpstr>
      <vt:lpstr>Challenge </vt:lpstr>
      <vt:lpstr>Strategy Foundation </vt:lpstr>
      <vt:lpstr>SDS  </vt:lpstr>
      <vt:lpstr>SDS  </vt:lpstr>
      <vt:lpstr>Subgroup H </vt:lpstr>
      <vt:lpstr>Subgroup H </vt:lpstr>
      <vt:lpstr>Orbit </vt:lpstr>
      <vt:lpstr>Index set j </vt:lpstr>
      <vt:lpstr>Construction(L=74)</vt:lpstr>
      <vt:lpstr>Construction(L=74)</vt:lpstr>
      <vt:lpstr>Construction(L=74)</vt:lpstr>
      <vt:lpstr>Construction(L=74)</vt:lpstr>
      <vt:lpstr>Orbit(L=74) </vt:lpstr>
      <vt:lpstr>Orbit(L=74) </vt:lpstr>
      <vt:lpstr>Construction </vt:lpstr>
      <vt:lpstr>Construction </vt:lpstr>
      <vt:lpstr>PowerPoint 簡報</vt:lpstr>
      <vt:lpstr>PowerPoint 簡報</vt:lpstr>
      <vt:lpstr>Orbit(L=82) </vt:lpstr>
      <vt:lpstr>Construction(L=82)</vt:lpstr>
      <vt:lpstr>PowerPoint 簡報</vt:lpstr>
      <vt:lpstr>PowerPoint 簡報</vt:lpstr>
      <vt:lpstr>PowerPoint 簡報</vt:lpstr>
      <vt:lpstr>壓縮與有序生成</vt:lpstr>
      <vt:lpstr>PowerPoint 簡報</vt:lpstr>
      <vt:lpstr>PowerPoint 簡報</vt:lpstr>
      <vt:lpstr>頻譜抽樣定理 這背後的數學原理是：時域上的壓縮 (疊加)，等同於頻域上的抽樣 (Subsampling)。    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榆君 范</dc:creator>
  <cp:lastModifiedBy>榆君 范</cp:lastModifiedBy>
  <cp:revision>7</cp:revision>
  <cp:lastPrinted>2025-12-01T07:05:10Z</cp:lastPrinted>
  <dcterms:created xsi:type="dcterms:W3CDTF">2025-11-16T07:38:36Z</dcterms:created>
  <dcterms:modified xsi:type="dcterms:W3CDTF">2025-12-09T08:57:07Z</dcterms:modified>
</cp:coreProperties>
</file>